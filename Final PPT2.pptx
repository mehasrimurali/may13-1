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handoutMasterIdLst>
    <p:handoutMasterId r:id="rId17"/>
  </p:handoutMasterIdLst>
  <p:sldIdLst>
    <p:sldId id="258" r:id="rId2"/>
    <p:sldId id="259" r:id="rId3"/>
    <p:sldId id="272" r:id="rId4"/>
    <p:sldId id="273" r:id="rId5"/>
    <p:sldId id="274" r:id="rId6"/>
    <p:sldId id="275" r:id="rId7"/>
    <p:sldId id="260" r:id="rId8"/>
    <p:sldId id="262" r:id="rId9"/>
    <p:sldId id="264" r:id="rId10"/>
    <p:sldId id="266" r:id="rId11"/>
    <p:sldId id="268" r:id="rId12"/>
    <p:sldId id="270" r:id="rId13"/>
    <p:sldId id="277" r:id="rId14"/>
    <p:sldId id="276" r:id="rId15"/>
    <p:sldId id="271" r:id="rId16"/>
  </p:sldIdLst>
  <p:sldSz cx="12192000" cy="6858000"/>
  <p:notesSz cx="6761163" cy="99425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30525" cy="4984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29050" y="0"/>
            <a:ext cx="2930525" cy="498475"/>
          </a:xfrm>
          <a:prstGeom prst="rect">
            <a:avLst/>
          </a:prstGeom>
        </p:spPr>
        <p:txBody>
          <a:bodyPr vert="horz" lIns="91440" tIns="45720" rIns="91440" bIns="45720" rtlCol="0"/>
          <a:lstStyle>
            <a:lvl1pPr algn="r">
              <a:defRPr sz="1200"/>
            </a:lvl1pPr>
          </a:lstStyle>
          <a:p>
            <a:fld id="{2F4D2127-4816-41B4-ACAD-F5F8E9D5AE0C}" type="datetimeFigureOut">
              <a:rPr lang="en-US" smtClean="0"/>
              <a:t>9/2/2023</a:t>
            </a:fld>
            <a:endParaRPr lang="en-US"/>
          </a:p>
        </p:txBody>
      </p:sp>
      <p:sp>
        <p:nvSpPr>
          <p:cNvPr id="4" name="Footer Placeholder 3"/>
          <p:cNvSpPr>
            <a:spLocks noGrp="1"/>
          </p:cNvSpPr>
          <p:nvPr>
            <p:ph type="ftr" sz="quarter" idx="2"/>
          </p:nvPr>
        </p:nvSpPr>
        <p:spPr>
          <a:xfrm>
            <a:off x="0" y="9444038"/>
            <a:ext cx="2930525" cy="49847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29050" y="9444038"/>
            <a:ext cx="2930525" cy="498475"/>
          </a:xfrm>
          <a:prstGeom prst="rect">
            <a:avLst/>
          </a:prstGeom>
        </p:spPr>
        <p:txBody>
          <a:bodyPr vert="horz" lIns="91440" tIns="45720" rIns="91440" bIns="45720" rtlCol="0" anchor="b"/>
          <a:lstStyle>
            <a:lvl1pPr algn="r">
              <a:defRPr sz="1200"/>
            </a:lvl1pPr>
          </a:lstStyle>
          <a:p>
            <a:fld id="{E2226EE6-DA9E-4A24-B2A1-3D28E755ECD7}" type="slidenum">
              <a:rPr lang="en-US" smtClean="0"/>
              <a:t>‹#›</a:t>
            </a:fld>
            <a:endParaRPr lang="en-US"/>
          </a:p>
        </p:txBody>
      </p:sp>
    </p:spTree>
    <p:extLst>
      <p:ext uri="{BB962C8B-B14F-4D97-AF65-F5344CB8AC3E}">
        <p14:creationId xmlns:p14="http://schemas.microsoft.com/office/powerpoint/2010/main" val="1464589940"/>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E5FB5178-26A4-4353-911B-E9B023659323}" type="datetimeFigureOut">
              <a:rPr lang="en-IN" smtClean="0"/>
              <a:t>02-09-2023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50BF70D-97FC-4BDB-B906-5FD5E74B9F17}" type="slidenum">
              <a:rPr lang="en-IN" smtClean="0"/>
              <a:t>‹#›</a:t>
            </a:fld>
            <a:endParaRPr lang="en-IN"/>
          </a:p>
        </p:txBody>
      </p:sp>
    </p:spTree>
    <p:extLst>
      <p:ext uri="{BB962C8B-B14F-4D97-AF65-F5344CB8AC3E}">
        <p14:creationId xmlns:p14="http://schemas.microsoft.com/office/powerpoint/2010/main" val="18653110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E5FB5178-26A4-4353-911B-E9B023659323}" type="datetimeFigureOut">
              <a:rPr lang="en-IN" smtClean="0"/>
              <a:t>02-09-2023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50BF70D-97FC-4BDB-B906-5FD5E74B9F17}" type="slidenum">
              <a:rPr lang="en-IN" smtClean="0"/>
              <a:t>‹#›</a:t>
            </a:fld>
            <a:endParaRPr lang="en-IN"/>
          </a:p>
        </p:txBody>
      </p:sp>
    </p:spTree>
    <p:extLst>
      <p:ext uri="{BB962C8B-B14F-4D97-AF65-F5344CB8AC3E}">
        <p14:creationId xmlns:p14="http://schemas.microsoft.com/office/powerpoint/2010/main" val="33703227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5FB5178-26A4-4353-911B-E9B023659323}" type="datetimeFigureOut">
              <a:rPr lang="en-IN" smtClean="0"/>
              <a:t>02-09-2023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50BF70D-97FC-4BDB-B906-5FD5E74B9F17}" type="slidenum">
              <a:rPr lang="en-IN" smtClean="0"/>
              <a:t>‹#›</a:t>
            </a:fld>
            <a:endParaRPr lang="en-IN"/>
          </a:p>
        </p:txBody>
      </p:sp>
    </p:spTree>
    <p:extLst>
      <p:ext uri="{BB962C8B-B14F-4D97-AF65-F5344CB8AC3E}">
        <p14:creationId xmlns:p14="http://schemas.microsoft.com/office/powerpoint/2010/main" val="35575007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E5FB5178-26A4-4353-911B-E9B023659323}" type="datetimeFigureOut">
              <a:rPr lang="en-IN" smtClean="0"/>
              <a:t>02-09-2023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50BF70D-97FC-4BDB-B906-5FD5E74B9F17}" type="slidenum">
              <a:rPr lang="en-IN" smtClean="0"/>
              <a:t>‹#›</a:t>
            </a:fld>
            <a:endParaRPr lang="en-IN"/>
          </a:p>
        </p:txBody>
      </p:sp>
    </p:spTree>
    <p:extLst>
      <p:ext uri="{BB962C8B-B14F-4D97-AF65-F5344CB8AC3E}">
        <p14:creationId xmlns:p14="http://schemas.microsoft.com/office/powerpoint/2010/main" val="23063098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E5FB5178-26A4-4353-911B-E9B023659323}" type="datetimeFigureOut">
              <a:rPr lang="en-IN" smtClean="0"/>
              <a:t>02-09-2023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50BF70D-97FC-4BDB-B906-5FD5E74B9F17}" type="slidenum">
              <a:rPr lang="en-IN" smtClean="0"/>
              <a:t>‹#›</a:t>
            </a:fld>
            <a:endParaRPr lang="en-IN"/>
          </a:p>
        </p:txBody>
      </p:sp>
    </p:spTree>
    <p:extLst>
      <p:ext uri="{BB962C8B-B14F-4D97-AF65-F5344CB8AC3E}">
        <p14:creationId xmlns:p14="http://schemas.microsoft.com/office/powerpoint/2010/main" val="10756520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E5FB5178-26A4-4353-911B-E9B023659323}" type="datetimeFigureOut">
              <a:rPr lang="en-IN" smtClean="0"/>
              <a:t>02-09-2023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50BF70D-97FC-4BDB-B906-5FD5E74B9F17}" type="slidenum">
              <a:rPr lang="en-IN" smtClean="0"/>
              <a:t>‹#›</a:t>
            </a:fld>
            <a:endParaRPr lang="en-IN"/>
          </a:p>
        </p:txBody>
      </p:sp>
    </p:spTree>
    <p:extLst>
      <p:ext uri="{BB962C8B-B14F-4D97-AF65-F5344CB8AC3E}">
        <p14:creationId xmlns:p14="http://schemas.microsoft.com/office/powerpoint/2010/main" val="10827109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5FB5178-26A4-4353-911B-E9B023659323}" type="datetimeFigureOut">
              <a:rPr lang="en-IN" smtClean="0"/>
              <a:t>02-09-2023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50BF70D-97FC-4BDB-B906-5FD5E74B9F17}" type="slidenum">
              <a:rPr lang="en-IN" smtClean="0"/>
              <a:t>‹#›</a:t>
            </a:fld>
            <a:endParaRPr lang="en-IN"/>
          </a:p>
        </p:txBody>
      </p:sp>
    </p:spTree>
    <p:extLst>
      <p:ext uri="{BB962C8B-B14F-4D97-AF65-F5344CB8AC3E}">
        <p14:creationId xmlns:p14="http://schemas.microsoft.com/office/powerpoint/2010/main" val="8064136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5FB5178-26A4-4353-911B-E9B023659323}" type="datetimeFigureOut">
              <a:rPr lang="en-IN" smtClean="0"/>
              <a:t>02-09-2023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50BF70D-97FC-4BDB-B906-5FD5E74B9F17}" type="slidenum">
              <a:rPr lang="en-IN" smtClean="0"/>
              <a:t>‹#›</a:t>
            </a:fld>
            <a:endParaRPr lang="en-IN"/>
          </a:p>
        </p:txBody>
      </p:sp>
    </p:spTree>
    <p:extLst>
      <p:ext uri="{BB962C8B-B14F-4D97-AF65-F5344CB8AC3E}">
        <p14:creationId xmlns:p14="http://schemas.microsoft.com/office/powerpoint/2010/main" val="33527650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5FB5178-26A4-4353-911B-E9B023659323}" type="datetimeFigureOut">
              <a:rPr lang="en-IN" smtClean="0"/>
              <a:t>02-09-2023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50BF70D-97FC-4BDB-B906-5FD5E74B9F17}" type="slidenum">
              <a:rPr lang="en-IN" smtClean="0"/>
              <a:t>‹#›</a:t>
            </a:fld>
            <a:endParaRPr lang="en-IN"/>
          </a:p>
        </p:txBody>
      </p:sp>
    </p:spTree>
    <p:extLst>
      <p:ext uri="{BB962C8B-B14F-4D97-AF65-F5344CB8AC3E}">
        <p14:creationId xmlns:p14="http://schemas.microsoft.com/office/powerpoint/2010/main" val="506629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E5FB5178-26A4-4353-911B-E9B023659323}" type="datetimeFigureOut">
              <a:rPr lang="en-IN" smtClean="0"/>
              <a:t>02-09-2023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50BF70D-97FC-4BDB-B906-5FD5E74B9F17}" type="slidenum">
              <a:rPr lang="en-IN" smtClean="0"/>
              <a:t>‹#›</a:t>
            </a:fld>
            <a:endParaRPr lang="en-IN"/>
          </a:p>
        </p:txBody>
      </p:sp>
    </p:spTree>
    <p:extLst>
      <p:ext uri="{BB962C8B-B14F-4D97-AF65-F5344CB8AC3E}">
        <p14:creationId xmlns:p14="http://schemas.microsoft.com/office/powerpoint/2010/main" val="1752283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E5FB5178-26A4-4353-911B-E9B023659323}" type="datetimeFigureOut">
              <a:rPr lang="en-IN" smtClean="0"/>
              <a:t>02-09-2023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50BF70D-97FC-4BDB-B906-5FD5E74B9F17}" type="slidenum">
              <a:rPr lang="en-IN" smtClean="0"/>
              <a:t>‹#›</a:t>
            </a:fld>
            <a:endParaRPr lang="en-IN"/>
          </a:p>
        </p:txBody>
      </p:sp>
    </p:spTree>
    <p:extLst>
      <p:ext uri="{BB962C8B-B14F-4D97-AF65-F5344CB8AC3E}">
        <p14:creationId xmlns:p14="http://schemas.microsoft.com/office/powerpoint/2010/main" val="38630216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5FB5178-26A4-4353-911B-E9B023659323}" type="datetimeFigureOut">
              <a:rPr lang="en-IN" smtClean="0"/>
              <a:t>02-09-2023</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50BF70D-97FC-4BDB-B906-5FD5E74B9F17}" type="slidenum">
              <a:rPr lang="en-IN" smtClean="0"/>
              <a:t>‹#›</a:t>
            </a:fld>
            <a:endParaRPr lang="en-IN"/>
          </a:p>
        </p:txBody>
      </p:sp>
    </p:spTree>
    <p:extLst>
      <p:ext uri="{BB962C8B-B14F-4D97-AF65-F5344CB8AC3E}">
        <p14:creationId xmlns:p14="http://schemas.microsoft.com/office/powerpoint/2010/main" val="17077167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260620" y="4029273"/>
            <a:ext cx="9661795" cy="1016751"/>
          </a:xfrm>
          <a:prstGeom prst="rect">
            <a:avLst/>
          </a:prstGeom>
          <a:noFill/>
        </p:spPr>
        <p:txBody>
          <a:bodyPr wrap="square" lIns="92516" tIns="46259" rIns="92516" bIns="46259" rtlCol="0">
            <a:spAutoFit/>
          </a:bodyPr>
          <a:lstStyle/>
          <a:p>
            <a:pPr marL="289106" indent="-289106">
              <a:buFont typeface="Wingdings" pitchFamily="2" charset="2"/>
              <a:buChar char="Ø"/>
            </a:pPr>
            <a:r>
              <a:rPr lang="en-US" sz="2000" dirty="0">
                <a:latin typeface="Arial" panose="020B0604020202020204" pitchFamily="34" charset="0"/>
                <a:cs typeface="Arial" panose="020B0604020202020204" pitchFamily="34" charset="0"/>
              </a:rPr>
              <a:t>I assure that the Ideas which is not already exist </a:t>
            </a:r>
          </a:p>
          <a:p>
            <a:pPr marL="289106" indent="-289106">
              <a:buFont typeface="Wingdings" pitchFamily="2" charset="2"/>
              <a:buChar char="Ø"/>
            </a:pPr>
            <a:r>
              <a:rPr lang="en-US" sz="2000" dirty="0">
                <a:latin typeface="Arial" panose="020B0604020202020204" pitchFamily="34" charset="0"/>
                <a:cs typeface="Arial" panose="020B0604020202020204" pitchFamily="34" charset="0"/>
              </a:rPr>
              <a:t>I assure that the Ideas is not  infringement/theft </a:t>
            </a:r>
          </a:p>
          <a:p>
            <a:pPr marL="289106" indent="-289106">
              <a:buFont typeface="Wingdings" pitchFamily="2" charset="2"/>
              <a:buChar char="Ø"/>
            </a:pPr>
            <a:r>
              <a:rPr lang="en-US" sz="2000" dirty="0">
                <a:latin typeface="Arial" panose="020B0604020202020204" pitchFamily="34" charset="0"/>
                <a:cs typeface="Arial" panose="020B0604020202020204" pitchFamily="34" charset="0"/>
              </a:rPr>
              <a:t>I assure that the Ideas which are not against established scientific theories/norms</a:t>
            </a:r>
          </a:p>
        </p:txBody>
      </p:sp>
      <p:sp>
        <p:nvSpPr>
          <p:cNvPr id="2" name="TextBox 1"/>
          <p:cNvSpPr txBox="1"/>
          <p:nvPr/>
        </p:nvSpPr>
        <p:spPr>
          <a:xfrm>
            <a:off x="4730083" y="3506884"/>
            <a:ext cx="2722870" cy="401198"/>
          </a:xfrm>
          <a:prstGeom prst="rect">
            <a:avLst/>
          </a:prstGeom>
          <a:noFill/>
        </p:spPr>
        <p:txBody>
          <a:bodyPr wrap="square" lIns="92516" tIns="46259" rIns="92516" bIns="46259" rtlCol="0">
            <a:spAutoFit/>
          </a:bodyPr>
          <a:lstStyle/>
          <a:p>
            <a:pPr algn="ctr"/>
            <a:r>
              <a:rPr lang="en-US" sz="2000" b="1" u="sng" dirty="0">
                <a:latin typeface="Arial" panose="020B0604020202020204" pitchFamily="34" charset="0"/>
                <a:cs typeface="Arial" panose="020B0604020202020204" pitchFamily="34" charset="0"/>
              </a:rPr>
              <a:t>Assurance</a:t>
            </a:r>
          </a:p>
        </p:txBody>
      </p:sp>
      <p:sp>
        <p:nvSpPr>
          <p:cNvPr id="3" name="TextBox 2"/>
          <p:cNvSpPr txBox="1"/>
          <p:nvPr/>
        </p:nvSpPr>
        <p:spPr>
          <a:xfrm>
            <a:off x="9037358" y="5516716"/>
            <a:ext cx="1785632" cy="1016751"/>
          </a:xfrm>
          <a:prstGeom prst="rect">
            <a:avLst/>
          </a:prstGeom>
          <a:noFill/>
        </p:spPr>
        <p:txBody>
          <a:bodyPr wrap="square" lIns="92516" tIns="46259" rIns="92516" bIns="46259" rtlCol="0">
            <a:spAutoFit/>
          </a:bodyPr>
          <a:lstStyle/>
          <a:p>
            <a:r>
              <a:rPr lang="en-US" sz="2000" b="1" dirty="0">
                <a:latin typeface="Arial" panose="020B0604020202020204" pitchFamily="34" charset="0"/>
                <a:cs typeface="Arial" panose="020B0604020202020204" pitchFamily="34" charset="0"/>
              </a:rPr>
              <a:t>    SIGNATURE</a:t>
            </a:r>
          </a:p>
          <a:p>
            <a:r>
              <a:rPr lang="en-US" sz="2000" dirty="0">
                <a:latin typeface="Arial" panose="020B0604020202020204" pitchFamily="34" charset="0"/>
                <a:cs typeface="Arial" panose="020B0604020202020204" pitchFamily="34" charset="0"/>
              </a:rPr>
              <a:t>     Anisa F</a:t>
            </a:r>
          </a:p>
        </p:txBody>
      </p:sp>
      <p:sp>
        <p:nvSpPr>
          <p:cNvPr id="5" name="Rectangle 4"/>
          <p:cNvSpPr>
            <a:spLocks/>
          </p:cNvSpPr>
          <p:nvPr/>
        </p:nvSpPr>
        <p:spPr>
          <a:xfrm>
            <a:off x="349624" y="215153"/>
            <a:ext cx="11483788" cy="6348412"/>
          </a:xfrm>
          <a:prstGeom prst="rect">
            <a:avLst/>
          </a:prstGeom>
          <a:noFill/>
          <a:ln w="381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92516" tIns="46259" rIns="92516" bIns="46259" rtlCol="0" anchor="ctr"/>
          <a:lstStyle/>
          <a:p>
            <a:pPr algn="ctr"/>
            <a:endParaRPr lang="en-IN" sz="2000" dirty="0">
              <a:latin typeface="Arial" panose="020B0604020202020204" pitchFamily="34" charset="0"/>
              <a:cs typeface="Arial" panose="020B0604020202020204" pitchFamily="34" charset="0"/>
            </a:endParaRPr>
          </a:p>
        </p:txBody>
      </p:sp>
      <p:pic>
        <p:nvPicPr>
          <p:cNvPr id="7" name="Picture 6"/>
          <p:cNvPicPr>
            <a:picLocks noChangeAspect="1"/>
          </p:cNvPicPr>
          <p:nvPr/>
        </p:nvPicPr>
        <p:blipFill>
          <a:blip r:embed="rId2"/>
          <a:stretch>
            <a:fillRect/>
          </a:stretch>
        </p:blipFill>
        <p:spPr>
          <a:xfrm>
            <a:off x="1519518" y="537882"/>
            <a:ext cx="9278469" cy="2847811"/>
          </a:xfrm>
          <a:prstGeom prst="rect">
            <a:avLst/>
          </a:prstGeom>
        </p:spPr>
      </p:pic>
    </p:spTree>
    <p:extLst>
      <p:ext uri="{BB962C8B-B14F-4D97-AF65-F5344CB8AC3E}">
        <p14:creationId xmlns:p14="http://schemas.microsoft.com/office/powerpoint/2010/main" val="12272473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432130" y="1012869"/>
            <a:ext cx="3809697" cy="369332"/>
          </a:xfrm>
          <a:prstGeom prst="rect">
            <a:avLst/>
          </a:prstGeom>
        </p:spPr>
        <p:txBody>
          <a:bodyPr wrap="none">
            <a:spAutoFit/>
          </a:bodyPr>
          <a:lstStyle/>
          <a:p>
            <a:r>
              <a:rPr lang="en-IN" b="1" u="sng" dirty="0">
                <a:latin typeface="Arial" panose="020B0604020202020204" pitchFamily="34" charset="0"/>
                <a:cs typeface="Arial" panose="020B0604020202020204" pitchFamily="34" charset="0"/>
              </a:rPr>
              <a:t>Title of proposed idea/innovation</a:t>
            </a:r>
          </a:p>
        </p:txBody>
      </p:sp>
      <p:sp>
        <p:nvSpPr>
          <p:cNvPr id="3" name="TextBox 2"/>
          <p:cNvSpPr txBox="1"/>
          <p:nvPr/>
        </p:nvSpPr>
        <p:spPr>
          <a:xfrm>
            <a:off x="1091035" y="2105892"/>
            <a:ext cx="7079672" cy="1287532"/>
          </a:xfrm>
          <a:prstGeom prst="rect">
            <a:avLst/>
          </a:prstGeom>
          <a:noFill/>
        </p:spPr>
        <p:txBody>
          <a:bodyPr wrap="square" rtlCol="0">
            <a:spAutoFit/>
          </a:bodyPr>
          <a:lstStyle/>
          <a:p>
            <a:pPr>
              <a:lnSpc>
                <a:spcPct val="150000"/>
              </a:lnSpc>
            </a:pPr>
            <a:r>
              <a:rPr lang="en-US" b="1" dirty="0">
                <a:latin typeface="Arial" panose="020B0604020202020204" pitchFamily="34" charset="0"/>
                <a:cs typeface="Arial" panose="020B0604020202020204" pitchFamily="34" charset="0"/>
              </a:rPr>
              <a:t>Title: </a:t>
            </a:r>
            <a:r>
              <a:rPr lang="en-US" sz="1800" spc="25" dirty="0">
                <a:solidFill>
                  <a:srgbClr val="231F20"/>
                </a:solidFill>
                <a:latin typeface="Arial" panose="020B0604020202020204" pitchFamily="34" charset="0"/>
                <a:cs typeface="Arial" panose="020B0604020202020204" pitchFamily="34" charset="0"/>
              </a:rPr>
              <a:t>Treasure Traders : Journey through India</a:t>
            </a:r>
            <a:endParaRPr lang="en-US" dirty="0">
              <a:latin typeface="Arial" panose="020B0604020202020204" pitchFamily="34" charset="0"/>
              <a:cs typeface="Arial" panose="020B0604020202020204" pitchFamily="34" charset="0"/>
            </a:endParaRPr>
          </a:p>
          <a:p>
            <a:pPr>
              <a:lnSpc>
                <a:spcPct val="150000"/>
              </a:lnSpc>
            </a:pPr>
            <a:r>
              <a:rPr lang="en-US" b="1" dirty="0">
                <a:latin typeface="Arial" panose="020B0604020202020204" pitchFamily="34" charset="0"/>
                <a:cs typeface="Arial" panose="020B0604020202020204" pitchFamily="34" charset="0"/>
              </a:rPr>
              <a:t>Team Leader Name: </a:t>
            </a:r>
            <a:r>
              <a:rPr lang="en-US" dirty="0">
                <a:latin typeface="Arial" panose="020B0604020202020204" pitchFamily="34" charset="0"/>
                <a:cs typeface="Arial" panose="020B0604020202020204" pitchFamily="34" charset="0"/>
              </a:rPr>
              <a:t>Anisa F</a:t>
            </a:r>
          </a:p>
          <a:p>
            <a:pPr>
              <a:lnSpc>
                <a:spcPct val="150000"/>
              </a:lnSpc>
            </a:pPr>
            <a:r>
              <a:rPr lang="en-US" b="1" dirty="0">
                <a:latin typeface="Arial" panose="020B0604020202020204" pitchFamily="34" charset="0"/>
                <a:cs typeface="Arial" panose="020B0604020202020204" pitchFamily="34" charset="0"/>
              </a:rPr>
              <a:t>Ref No.	</a:t>
            </a:r>
            <a:r>
              <a:rPr lang="en-US" b="1">
                <a:latin typeface="Arial" panose="020B0604020202020204" pitchFamily="34" charset="0"/>
                <a:cs typeface="Arial" panose="020B0604020202020204" pitchFamily="34" charset="0"/>
              </a:rPr>
              <a:t>:  </a:t>
            </a:r>
            <a:r>
              <a:rPr lang="en-US">
                <a:latin typeface="Arial" panose="020B0604020202020204" pitchFamily="34" charset="0"/>
                <a:cs typeface="Arial" panose="020B0604020202020204" pitchFamily="34" charset="0"/>
              </a:rPr>
              <a:t>INC23CTN021728</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444638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17215" y="543338"/>
            <a:ext cx="10957569" cy="6140655"/>
          </a:xfrm>
          <a:prstGeom prst="rect">
            <a:avLst/>
          </a:prstGeom>
        </p:spPr>
        <p:txBody>
          <a:bodyPr wrap="square">
            <a:spAutoFit/>
          </a:bodyPr>
          <a:lstStyle/>
          <a:p>
            <a:r>
              <a:rPr lang="en-US" dirty="0">
                <a:latin typeface="Arial" panose="020B0604020202020204" pitchFamily="34" charset="0"/>
                <a:cs typeface="Arial" panose="020B0604020202020204" pitchFamily="34" charset="0"/>
              </a:rPr>
              <a:t>Summary of the idea. (</a:t>
            </a:r>
            <a:r>
              <a:rPr lang="en-US" b="1" dirty="0">
                <a:latin typeface="Arial" panose="020B0604020202020204" pitchFamily="34" charset="0"/>
                <a:cs typeface="Arial" panose="020B0604020202020204" pitchFamily="34" charset="0"/>
              </a:rPr>
              <a:t>Technical solution) :</a:t>
            </a:r>
          </a:p>
          <a:p>
            <a:endParaRPr lang="en-US" b="1" dirty="0">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en-US" sz="1600" b="1" dirty="0">
                <a:latin typeface="Arial" panose="020B0604020202020204" pitchFamily="34" charset="0"/>
                <a:cs typeface="Arial" panose="020B0604020202020204" pitchFamily="34" charset="0"/>
              </a:rPr>
              <a:t>Game Concept:</a:t>
            </a:r>
            <a:r>
              <a:rPr lang="en-US" sz="1600" dirty="0">
                <a:latin typeface="Arial" panose="020B0604020202020204" pitchFamily="34" charset="0"/>
                <a:cs typeface="Arial" panose="020B0604020202020204" pitchFamily="34" charset="0"/>
              </a:rPr>
              <a:t> Develop a skill-based board game called "</a:t>
            </a:r>
            <a:r>
              <a:rPr lang="en-US" sz="1600" spc="25" dirty="0">
                <a:solidFill>
                  <a:srgbClr val="231F20"/>
                </a:solidFill>
                <a:latin typeface="Arial" panose="020B0604020202020204" pitchFamily="34" charset="0"/>
                <a:cs typeface="Arial" panose="020B0604020202020204" pitchFamily="34" charset="0"/>
              </a:rPr>
              <a:t> Treasure Traders : Journey through India </a:t>
            </a:r>
            <a:r>
              <a:rPr lang="en-US" sz="1600" dirty="0">
                <a:latin typeface="Arial" panose="020B0604020202020204" pitchFamily="34" charset="0"/>
                <a:cs typeface="Arial" panose="020B0604020202020204" pitchFamily="34" charset="0"/>
              </a:rPr>
              <a:t>" that combines entertainment and education.</a:t>
            </a:r>
            <a:endParaRPr lang="en-US" sz="1600" dirty="0">
              <a:highlight>
                <a:srgbClr val="FFFF00"/>
              </a:highlight>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en-US" sz="1600" b="1" dirty="0">
                <a:latin typeface="Arial" panose="020B0604020202020204" pitchFamily="34" charset="0"/>
                <a:cs typeface="Arial" panose="020B0604020202020204" pitchFamily="34" charset="0"/>
              </a:rPr>
              <a:t>Cultural Immersion:</a:t>
            </a:r>
            <a:r>
              <a:rPr lang="en-US" sz="1600" dirty="0">
                <a:latin typeface="Arial" panose="020B0604020202020204" pitchFamily="34" charset="0"/>
                <a:cs typeface="Arial" panose="020B0604020202020204" pitchFamily="34" charset="0"/>
              </a:rPr>
              <a:t> Integrate diverse Indian cultures, traditions, and goods into gameplay for an authentic experience.</a:t>
            </a:r>
          </a:p>
          <a:p>
            <a:pPr marL="285750" indent="-285750">
              <a:lnSpc>
                <a:spcPct val="150000"/>
              </a:lnSpc>
              <a:buFont typeface="Arial" panose="020B0604020202020204" pitchFamily="34" charset="0"/>
              <a:buChar char="•"/>
            </a:pPr>
            <a:r>
              <a:rPr lang="en-US" sz="1600" b="1" dirty="0">
                <a:latin typeface="Arial" panose="020B0604020202020204" pitchFamily="34" charset="0"/>
                <a:cs typeface="Arial" panose="020B0604020202020204" pitchFamily="34" charset="0"/>
              </a:rPr>
              <a:t>Realistic Trading Mechanics: </a:t>
            </a:r>
            <a:r>
              <a:rPr lang="en-US" sz="1600" dirty="0">
                <a:latin typeface="Arial" panose="020B0604020202020204" pitchFamily="34" charset="0"/>
                <a:cs typeface="Arial" panose="020B0604020202020204" pitchFamily="34" charset="0"/>
              </a:rPr>
              <a:t>Simulate market dynamics and economic principles to provide strategic decision-making challenges.</a:t>
            </a:r>
          </a:p>
          <a:p>
            <a:pPr marL="285750" indent="-285750">
              <a:lnSpc>
                <a:spcPct val="150000"/>
              </a:lnSpc>
              <a:buFont typeface="Arial" panose="020B0604020202020204" pitchFamily="34" charset="0"/>
              <a:buChar char="•"/>
            </a:pPr>
            <a:r>
              <a:rPr lang="en-US" sz="1600" b="1" dirty="0">
                <a:latin typeface="Arial" panose="020B0604020202020204" pitchFamily="34" charset="0"/>
                <a:cs typeface="Arial" panose="020B0604020202020204" pitchFamily="34" charset="0"/>
              </a:rPr>
              <a:t>Interactive Learning:</a:t>
            </a:r>
            <a:r>
              <a:rPr lang="en-US" sz="1600" dirty="0">
                <a:latin typeface="Arial" panose="020B0604020202020204" pitchFamily="34" charset="0"/>
                <a:cs typeface="Arial" panose="020B0604020202020204" pitchFamily="34" charset="0"/>
              </a:rPr>
              <a:t> Promote critical thinking by educating players about Indian geography, culture, and trading practices.</a:t>
            </a:r>
          </a:p>
          <a:p>
            <a:pPr marL="285750" indent="-285750">
              <a:lnSpc>
                <a:spcPct val="150000"/>
              </a:lnSpc>
              <a:buFont typeface="Arial" panose="020B0604020202020204" pitchFamily="34" charset="0"/>
              <a:buChar char="•"/>
            </a:pPr>
            <a:r>
              <a:rPr lang="en-US" sz="1600" b="1" dirty="0">
                <a:latin typeface="Arial" panose="020B0604020202020204" pitchFamily="34" charset="0"/>
                <a:cs typeface="Arial" panose="020B0604020202020204" pitchFamily="34" charset="0"/>
              </a:rPr>
              <a:t>Customizable Gameplay:</a:t>
            </a:r>
            <a:r>
              <a:rPr lang="en-US" sz="1600" dirty="0">
                <a:latin typeface="Arial" panose="020B0604020202020204" pitchFamily="34" charset="0"/>
                <a:cs typeface="Arial" panose="020B0604020202020204" pitchFamily="34" charset="0"/>
              </a:rPr>
              <a:t> Adapt to different skill levels with adjustable difficulty and rule variations.</a:t>
            </a:r>
          </a:p>
          <a:p>
            <a:pPr marL="285750" indent="-285750">
              <a:lnSpc>
                <a:spcPct val="150000"/>
              </a:lnSpc>
              <a:buFont typeface="Arial" panose="020B0604020202020204" pitchFamily="34" charset="0"/>
              <a:buChar char="•"/>
            </a:pPr>
            <a:r>
              <a:rPr lang="en-US" sz="1600" b="1" dirty="0">
                <a:latin typeface="Arial" panose="020B0604020202020204" pitchFamily="34" charset="0"/>
                <a:cs typeface="Arial" panose="020B0604020202020204" pitchFamily="34" charset="0"/>
              </a:rPr>
              <a:t>Cross-Cultural Exchange:</a:t>
            </a:r>
            <a:r>
              <a:rPr lang="en-US" sz="1600" dirty="0">
                <a:latin typeface="Arial" panose="020B0604020202020204" pitchFamily="34" charset="0"/>
                <a:cs typeface="Arial" panose="020B0604020202020204" pitchFamily="34" charset="0"/>
              </a:rPr>
              <a:t> Encourage negotiation skills and appreciation for diverse perspectives.</a:t>
            </a:r>
          </a:p>
          <a:p>
            <a:pPr marL="285750" indent="-285750">
              <a:lnSpc>
                <a:spcPct val="150000"/>
              </a:lnSpc>
              <a:buFont typeface="Arial" panose="020B0604020202020204" pitchFamily="34" charset="0"/>
              <a:buChar char="•"/>
            </a:pPr>
            <a:r>
              <a:rPr lang="en-US" sz="1600" b="1" dirty="0">
                <a:latin typeface="Arial" panose="020B0604020202020204" pitchFamily="34" charset="0"/>
                <a:cs typeface="Arial" panose="020B0604020202020204" pitchFamily="34" charset="0"/>
              </a:rPr>
              <a:t>Replayability and Variety:</a:t>
            </a:r>
            <a:r>
              <a:rPr lang="en-US" sz="1600" dirty="0">
                <a:latin typeface="Arial" panose="020B0604020202020204" pitchFamily="34" charset="0"/>
                <a:cs typeface="Arial" panose="020B0604020202020204" pitchFamily="34" charset="0"/>
              </a:rPr>
              <a:t> Offer endless entertainment with numerous city cards and randomized gameplay.</a:t>
            </a:r>
          </a:p>
          <a:p>
            <a:pPr marL="285750" indent="-285750">
              <a:lnSpc>
                <a:spcPct val="150000"/>
              </a:lnSpc>
              <a:buFont typeface="Arial" panose="020B0604020202020204" pitchFamily="34" charset="0"/>
              <a:buChar char="•"/>
            </a:pPr>
            <a:r>
              <a:rPr lang="en-US" sz="1600" b="1" dirty="0">
                <a:latin typeface="Arial" panose="020B0604020202020204" pitchFamily="34" charset="0"/>
                <a:cs typeface="Arial" panose="020B0604020202020204" pitchFamily="34" charset="0"/>
              </a:rPr>
              <a:t>Market Potential:</a:t>
            </a:r>
            <a:r>
              <a:rPr lang="en-US" sz="1600" dirty="0">
                <a:latin typeface="Arial" panose="020B0604020202020204" pitchFamily="34" charset="0"/>
                <a:cs typeface="Arial" panose="020B0604020202020204" pitchFamily="34" charset="0"/>
              </a:rPr>
              <a:t> Target educational institutions, tourism, retail, and online platforms.</a:t>
            </a:r>
          </a:p>
          <a:p>
            <a:pPr marL="285750" indent="-285750">
              <a:lnSpc>
                <a:spcPct val="150000"/>
              </a:lnSpc>
              <a:buFont typeface="Arial" panose="020B0604020202020204" pitchFamily="34" charset="0"/>
              <a:buChar char="•"/>
            </a:pPr>
            <a:r>
              <a:rPr lang="en-US" sz="1600" b="1" dirty="0">
                <a:latin typeface="Arial" panose="020B0604020202020204" pitchFamily="34" charset="0"/>
                <a:cs typeface="Arial" panose="020B0604020202020204" pitchFamily="34" charset="0"/>
              </a:rPr>
              <a:t>Quality Production:</a:t>
            </a:r>
            <a:r>
              <a:rPr lang="en-US" sz="1600" dirty="0">
                <a:latin typeface="Arial" panose="020B0604020202020204" pitchFamily="34" charset="0"/>
                <a:cs typeface="Arial" panose="020B0604020202020204" pitchFamily="34" charset="0"/>
              </a:rPr>
              <a:t> Ensure high-quality components, artwork, and packaging even when we use recycled products.</a:t>
            </a:r>
            <a:endParaRPr lang="en-US" sz="1600" dirty="0">
              <a:highlight>
                <a:srgbClr val="FFFF00"/>
              </a:highlight>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en-US" sz="1600" b="1" dirty="0">
                <a:latin typeface="Arial" panose="020B0604020202020204" pitchFamily="34" charset="0"/>
                <a:cs typeface="Arial" panose="020B0604020202020204" pitchFamily="34" charset="0"/>
              </a:rPr>
              <a:t>Future Expansion:</a:t>
            </a:r>
            <a:r>
              <a:rPr lang="en-US" sz="1600" dirty="0">
                <a:latin typeface="Arial" panose="020B0604020202020204" pitchFamily="34" charset="0"/>
                <a:cs typeface="Arial" panose="020B0604020202020204" pitchFamily="34" charset="0"/>
              </a:rPr>
              <a:t> Plan for potential expansion packs, digital versions, and collaborations.</a:t>
            </a:r>
          </a:p>
        </p:txBody>
      </p:sp>
    </p:spTree>
    <p:extLst>
      <p:ext uri="{BB962C8B-B14F-4D97-AF65-F5344CB8AC3E}">
        <p14:creationId xmlns:p14="http://schemas.microsoft.com/office/powerpoint/2010/main" val="15089772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22777" y="750076"/>
            <a:ext cx="10947328" cy="3093667"/>
          </a:xfrm>
          <a:prstGeom prst="rect">
            <a:avLst/>
          </a:prstGeom>
        </p:spPr>
        <p:txBody>
          <a:bodyPr wrap="square">
            <a:spAutoFit/>
          </a:bodyPr>
          <a:lstStyle/>
          <a:p>
            <a:pPr algn="just">
              <a:lnSpc>
                <a:spcPct val="150000"/>
              </a:lnSpc>
            </a:pPr>
            <a:r>
              <a:rPr lang="en-US" b="1" dirty="0">
                <a:latin typeface="Arial" panose="020B0604020202020204" pitchFamily="34" charset="0"/>
                <a:cs typeface="Arial" panose="020B0604020202020204" pitchFamily="34" charset="0"/>
              </a:rPr>
              <a:t>Main Problem Being Addressed in the Project </a:t>
            </a:r>
            <a:r>
              <a:rPr lang="en-US" dirty="0">
                <a:latin typeface="Arial" panose="020B0604020202020204" pitchFamily="34" charset="0"/>
                <a:cs typeface="Arial" panose="020B0604020202020204" pitchFamily="34" charset="0"/>
              </a:rPr>
              <a:t>(</a:t>
            </a:r>
            <a:r>
              <a:rPr lang="en-US" b="1" dirty="0">
                <a:latin typeface="Arial" panose="020B0604020202020204" pitchFamily="34" charset="0"/>
                <a:cs typeface="Arial" panose="020B0604020202020204" pitchFamily="34" charset="0"/>
              </a:rPr>
              <a:t>Highlight the specific problem &amp; solution addresses</a:t>
            </a:r>
            <a:r>
              <a:rPr lang="en-US" dirty="0">
                <a:latin typeface="Arial" panose="020B0604020202020204" pitchFamily="34" charset="0"/>
                <a:cs typeface="Arial" panose="020B0604020202020204" pitchFamily="34" charset="0"/>
              </a:rPr>
              <a:t>)</a:t>
            </a:r>
          </a:p>
          <a:p>
            <a:pPr marL="285750" indent="-285750" algn="just">
              <a:lnSpc>
                <a:spcPct val="150000"/>
              </a:lnSpc>
              <a:buFont typeface="Arial" panose="020B0604020202020204" pitchFamily="34" charset="0"/>
              <a:buChar char="•"/>
            </a:pPr>
            <a:r>
              <a:rPr lang="en-US" sz="1600" b="1" dirty="0">
                <a:latin typeface="Arial" panose="020B0604020202020204" pitchFamily="34" charset="0"/>
                <a:cs typeface="Arial" panose="020B0604020202020204" pitchFamily="34" charset="0"/>
              </a:rPr>
              <a:t>Cultural Immersion:</a:t>
            </a:r>
            <a:r>
              <a:rPr lang="en-US" sz="1600" dirty="0">
                <a:latin typeface="Arial" panose="020B0604020202020204" pitchFamily="34" charset="0"/>
                <a:cs typeface="Arial" panose="020B0604020202020204" pitchFamily="34" charset="0"/>
              </a:rPr>
              <a:t> The game integrates diverse Indian cultures for an authentic experience.</a:t>
            </a:r>
          </a:p>
          <a:p>
            <a:pPr marL="285750" indent="-285750" algn="just">
              <a:lnSpc>
                <a:spcPct val="150000"/>
              </a:lnSpc>
              <a:buFont typeface="Arial" panose="020B0604020202020204" pitchFamily="34" charset="0"/>
              <a:buChar char="•"/>
            </a:pPr>
            <a:r>
              <a:rPr lang="en-US" sz="1600" b="1" dirty="0">
                <a:latin typeface="Arial" panose="020B0604020202020204" pitchFamily="34" charset="0"/>
                <a:cs typeface="Arial" panose="020B0604020202020204" pitchFamily="34" charset="0"/>
              </a:rPr>
              <a:t>Realistic Trading:</a:t>
            </a:r>
            <a:r>
              <a:rPr lang="en-US" sz="1600" dirty="0">
                <a:latin typeface="Arial" panose="020B0604020202020204" pitchFamily="34" charset="0"/>
                <a:cs typeface="Arial" panose="020B0604020202020204" pitchFamily="34" charset="0"/>
              </a:rPr>
              <a:t> Simulates market dynamics, aiding strategic decisions.</a:t>
            </a:r>
          </a:p>
          <a:p>
            <a:pPr marL="285750" indent="-285750" algn="just">
              <a:lnSpc>
                <a:spcPct val="150000"/>
              </a:lnSpc>
              <a:buFont typeface="Arial" panose="020B0604020202020204" pitchFamily="34" charset="0"/>
              <a:buChar char="•"/>
            </a:pPr>
            <a:r>
              <a:rPr lang="en-US" sz="1600" b="1" dirty="0">
                <a:latin typeface="Arial" panose="020B0604020202020204" pitchFamily="34" charset="0"/>
                <a:cs typeface="Arial" panose="020B0604020202020204" pitchFamily="34" charset="0"/>
              </a:rPr>
              <a:t>Interactive Learning:</a:t>
            </a:r>
            <a:r>
              <a:rPr lang="en-US" sz="1600" dirty="0">
                <a:latin typeface="Arial" panose="020B0604020202020204" pitchFamily="34" charset="0"/>
                <a:cs typeface="Arial" panose="020B0604020202020204" pitchFamily="34" charset="0"/>
              </a:rPr>
              <a:t> Fosters critical thinking via enjoyable gameplay about Indian culture and trading.</a:t>
            </a:r>
            <a:endParaRPr lang="en-US" sz="1600" b="1" dirty="0">
              <a:latin typeface="Arial" panose="020B0604020202020204" pitchFamily="34" charset="0"/>
              <a:cs typeface="Arial" panose="020B0604020202020204" pitchFamily="34" charset="0"/>
            </a:endParaRPr>
          </a:p>
          <a:p>
            <a:pPr marL="285750" indent="-285750" algn="just">
              <a:lnSpc>
                <a:spcPct val="150000"/>
              </a:lnSpc>
              <a:buFont typeface="Arial" panose="020B0604020202020204" pitchFamily="34" charset="0"/>
              <a:buChar char="•"/>
            </a:pPr>
            <a:r>
              <a:rPr lang="en-US" sz="1600" b="1" dirty="0">
                <a:latin typeface="Arial" panose="020B0604020202020204" pitchFamily="34" charset="0"/>
                <a:cs typeface="Arial" panose="020B0604020202020204" pitchFamily="34" charset="0"/>
              </a:rPr>
              <a:t>Customizable Gameplay:</a:t>
            </a:r>
            <a:r>
              <a:rPr lang="en-US" sz="1600" dirty="0">
                <a:latin typeface="Arial" panose="020B0604020202020204" pitchFamily="34" charset="0"/>
                <a:cs typeface="Arial" panose="020B0604020202020204" pitchFamily="34" charset="0"/>
              </a:rPr>
              <a:t> Adapts to skill levels with variable rules.</a:t>
            </a:r>
          </a:p>
          <a:p>
            <a:pPr marL="285750" indent="-285750" algn="just">
              <a:lnSpc>
                <a:spcPct val="150000"/>
              </a:lnSpc>
              <a:buFont typeface="Arial" panose="020B0604020202020204" pitchFamily="34" charset="0"/>
              <a:buChar char="•"/>
            </a:pPr>
            <a:r>
              <a:rPr lang="en-US" sz="1600" b="1" dirty="0">
                <a:latin typeface="Arial" panose="020B0604020202020204" pitchFamily="34" charset="0"/>
                <a:cs typeface="Arial" panose="020B0604020202020204" pitchFamily="34" charset="0"/>
              </a:rPr>
              <a:t>Cross-Cultural Exchange:</a:t>
            </a:r>
            <a:r>
              <a:rPr lang="en-US" sz="1600" dirty="0">
                <a:latin typeface="Arial" panose="020B0604020202020204" pitchFamily="34" charset="0"/>
                <a:cs typeface="Arial" panose="020B0604020202020204" pitchFamily="34" charset="0"/>
              </a:rPr>
              <a:t> Encourages communication, negotiation, and appreciation.</a:t>
            </a:r>
          </a:p>
          <a:p>
            <a:pPr marL="285750" indent="-285750" algn="just">
              <a:lnSpc>
                <a:spcPct val="150000"/>
              </a:lnSpc>
              <a:buFont typeface="Arial" panose="020B0604020202020204" pitchFamily="34" charset="0"/>
              <a:buChar char="•"/>
            </a:pPr>
            <a:r>
              <a:rPr lang="en-US" sz="1600" b="1" dirty="0">
                <a:latin typeface="Arial" panose="020B0604020202020204" pitchFamily="34" charset="0"/>
                <a:cs typeface="Arial" panose="020B0604020202020204" pitchFamily="34" charset="0"/>
              </a:rPr>
              <a:t>Replayability:</a:t>
            </a:r>
            <a:r>
              <a:rPr lang="en-US" sz="1600" dirty="0">
                <a:latin typeface="Arial" panose="020B0604020202020204" pitchFamily="34" charset="0"/>
                <a:cs typeface="Arial" panose="020B0604020202020204" pitchFamily="34" charset="0"/>
              </a:rPr>
              <a:t> Unique city cards and randomized play offer endless entertainment.</a:t>
            </a:r>
          </a:p>
        </p:txBody>
      </p:sp>
      <p:sp>
        <p:nvSpPr>
          <p:cNvPr id="3" name="Rectangle 2"/>
          <p:cNvSpPr/>
          <p:nvPr/>
        </p:nvSpPr>
        <p:spPr>
          <a:xfrm>
            <a:off x="522777" y="4371219"/>
            <a:ext cx="10947328" cy="1616340"/>
          </a:xfrm>
          <a:prstGeom prst="rect">
            <a:avLst/>
          </a:prstGeom>
        </p:spPr>
        <p:txBody>
          <a:bodyPr wrap="square">
            <a:spAutoFit/>
          </a:bodyPr>
          <a:lstStyle/>
          <a:p>
            <a:pPr>
              <a:lnSpc>
                <a:spcPct val="150000"/>
              </a:lnSpc>
            </a:pPr>
            <a:r>
              <a:rPr lang="en-US" b="1" dirty="0">
                <a:latin typeface="Arial" panose="020B0604020202020204" pitchFamily="34" charset="0"/>
                <a:cs typeface="Arial" panose="020B0604020202020204" pitchFamily="34" charset="0"/>
              </a:rPr>
              <a:t>How simple or complex will the idea’s execution or implementation be?</a:t>
            </a:r>
          </a:p>
          <a:p>
            <a:pPr>
              <a:lnSpc>
                <a:spcPct val="150000"/>
              </a:lnSpc>
            </a:pPr>
            <a:r>
              <a:rPr lang="en-US" b="1" dirty="0">
                <a:latin typeface="Arial" panose="020B0604020202020204" pitchFamily="34" charset="0"/>
                <a:cs typeface="Arial" panose="020B0604020202020204" pitchFamily="34" charset="0"/>
              </a:rPr>
              <a:t> 	</a:t>
            </a:r>
            <a:r>
              <a:rPr lang="en-US" sz="1600" dirty="0">
                <a:latin typeface="Arial" panose="020B0604020202020204" pitchFamily="34" charset="0"/>
                <a:cs typeface="Arial" panose="020B0604020202020204" pitchFamily="34" charset="0"/>
              </a:rPr>
              <a:t>Creating the "</a:t>
            </a:r>
            <a:r>
              <a:rPr lang="en-US" sz="1600" spc="25" dirty="0">
                <a:solidFill>
                  <a:srgbClr val="231F20"/>
                </a:solidFill>
                <a:latin typeface="Arial" panose="020B0604020202020204" pitchFamily="34" charset="0"/>
                <a:cs typeface="Arial" panose="020B0604020202020204" pitchFamily="34" charset="0"/>
              </a:rPr>
              <a:t> Treasure Traders : Journey through India </a:t>
            </a:r>
            <a:r>
              <a:rPr lang="en-US" sz="1600" dirty="0">
                <a:latin typeface="Arial" panose="020B0604020202020204" pitchFamily="34" charset="0"/>
                <a:cs typeface="Arial" panose="020B0604020202020204" pitchFamily="34" charset="0"/>
              </a:rPr>
              <a:t>" board game involves a moderate level of complexity. Balancing gameplay mechanics, creating authentic artwork, incorporating accurate educational content, playtesting, production, distribution, marketing, and potential expansions require careful planning and execution.</a:t>
            </a:r>
          </a:p>
        </p:txBody>
      </p:sp>
    </p:spTree>
    <p:extLst>
      <p:ext uri="{BB962C8B-B14F-4D97-AF65-F5344CB8AC3E}">
        <p14:creationId xmlns:p14="http://schemas.microsoft.com/office/powerpoint/2010/main" val="21317781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0368" y="688632"/>
            <a:ext cx="10518856" cy="2401170"/>
          </a:xfrm>
          <a:prstGeom prst="rect">
            <a:avLst/>
          </a:prstGeom>
        </p:spPr>
        <p:txBody>
          <a:bodyPr wrap="square">
            <a:spAutoFit/>
          </a:bodyPr>
          <a:lstStyle/>
          <a:p>
            <a:pPr>
              <a:lnSpc>
                <a:spcPct val="150000"/>
              </a:lnSpc>
            </a:pPr>
            <a:r>
              <a:rPr lang="en-US" b="1" dirty="0">
                <a:latin typeface="Arial" panose="020B0604020202020204" pitchFamily="34" charset="0"/>
                <a:cs typeface="Arial" panose="020B0604020202020204" pitchFamily="34" charset="0"/>
              </a:rPr>
              <a:t>What are the risk factors involved in executing the idea?</a:t>
            </a:r>
          </a:p>
          <a:p>
            <a:pPr>
              <a:lnSpc>
                <a:spcPct val="150000"/>
              </a:lnSpc>
            </a:pPr>
            <a:endParaRPr lang="en-US" b="1" dirty="0">
              <a:latin typeface="Arial" panose="020B0604020202020204" pitchFamily="34" charset="0"/>
              <a:cs typeface="Arial" panose="020B0604020202020204" pitchFamily="34" charset="0"/>
            </a:endParaRPr>
          </a:p>
          <a:p>
            <a:pPr>
              <a:lnSpc>
                <a:spcPct val="150000"/>
              </a:lnSpc>
            </a:pPr>
            <a:r>
              <a:rPr lang="en-US" b="1" dirty="0">
                <a:latin typeface="Arial" panose="020B0604020202020204" pitchFamily="34" charset="0"/>
                <a:cs typeface="Arial" panose="020B0604020202020204" pitchFamily="34" charset="0"/>
              </a:rPr>
              <a:t>	</a:t>
            </a:r>
            <a:r>
              <a:rPr lang="en-US" sz="1600" dirty="0">
                <a:latin typeface="Arial" panose="020B0604020202020204" pitchFamily="34" charset="0"/>
                <a:cs typeface="Arial" panose="020B0604020202020204" pitchFamily="34" charset="0"/>
              </a:rPr>
              <a:t>Executing the "</a:t>
            </a:r>
            <a:r>
              <a:rPr lang="en-US" sz="1600" spc="25" dirty="0">
                <a:solidFill>
                  <a:srgbClr val="231F20"/>
                </a:solidFill>
                <a:latin typeface="Arial" panose="020B0604020202020204" pitchFamily="34" charset="0"/>
                <a:cs typeface="Arial" panose="020B0604020202020204" pitchFamily="34" charset="0"/>
              </a:rPr>
              <a:t> Treasure Traders : Journey through India </a:t>
            </a:r>
            <a:r>
              <a:rPr lang="en-US" sz="1600" dirty="0">
                <a:latin typeface="Arial" panose="020B0604020202020204" pitchFamily="34" charset="0"/>
                <a:cs typeface="Arial" panose="020B0604020202020204" pitchFamily="34" charset="0"/>
              </a:rPr>
              <a:t>" idea involves risks such as cultural sensitivity, accurate educational content, game balance, competition, manufacturing delays, market acceptance, legal issues, production quality, logistics, and changing trends. To manage these risks, thorough research, expert collaboration, playtesting, and adaptability are essential.</a:t>
            </a:r>
            <a:endParaRPr lang="en-US" sz="1600" b="1" dirty="0">
              <a:latin typeface="Arial" panose="020B0604020202020204" pitchFamily="34" charset="0"/>
              <a:cs typeface="Arial" panose="020B0604020202020204" pitchFamily="34" charset="0"/>
            </a:endParaRPr>
          </a:p>
        </p:txBody>
      </p:sp>
      <p:sp>
        <p:nvSpPr>
          <p:cNvPr id="3" name="Rectangle 2"/>
          <p:cNvSpPr/>
          <p:nvPr/>
        </p:nvSpPr>
        <p:spPr>
          <a:xfrm>
            <a:off x="600367" y="3722824"/>
            <a:ext cx="10736867" cy="2534027"/>
          </a:xfrm>
          <a:prstGeom prst="rect">
            <a:avLst/>
          </a:prstGeom>
        </p:spPr>
        <p:txBody>
          <a:bodyPr wrap="square">
            <a:spAutoFit/>
          </a:bodyPr>
          <a:lstStyle/>
          <a:p>
            <a:pPr>
              <a:lnSpc>
                <a:spcPct val="150000"/>
              </a:lnSpc>
            </a:pPr>
            <a:r>
              <a:rPr lang="en-US" b="1" dirty="0">
                <a:latin typeface="Arial" panose="020B0604020202020204" pitchFamily="34" charset="0"/>
                <a:cs typeface="Arial" panose="020B0604020202020204" pitchFamily="34" charset="0"/>
              </a:rPr>
              <a:t>How soon could the idea be put into operation? (TRL of the prototype)</a:t>
            </a:r>
          </a:p>
          <a:p>
            <a:pPr>
              <a:lnSpc>
                <a:spcPct val="150000"/>
              </a:lnSpc>
            </a:pPr>
            <a:endParaRPr lang="en-US" b="1" dirty="0">
              <a:latin typeface="Arial" panose="020B0604020202020204" pitchFamily="34" charset="0"/>
              <a:cs typeface="Arial" panose="020B0604020202020204" pitchFamily="34" charset="0"/>
            </a:endParaRPr>
          </a:p>
          <a:p>
            <a:pPr>
              <a:lnSpc>
                <a:spcPct val="150000"/>
              </a:lnSpc>
            </a:pPr>
            <a:r>
              <a:rPr lang="en-US" b="1" dirty="0">
                <a:latin typeface="Arial" panose="020B0604020202020204" pitchFamily="34" charset="0"/>
                <a:cs typeface="Arial" panose="020B0604020202020204" pitchFamily="34" charset="0"/>
              </a:rPr>
              <a:t>	</a:t>
            </a:r>
            <a:r>
              <a:rPr lang="en-US" sz="1800" dirty="0">
                <a:latin typeface="Calibri (Body)"/>
                <a:cs typeface="Arial" panose="020B0604020202020204" pitchFamily="34" charset="0"/>
              </a:rPr>
              <a:t>	</a:t>
            </a:r>
            <a:r>
              <a:rPr lang="en-US" sz="1600" dirty="0">
                <a:latin typeface="Arial" panose="020B0604020202020204" pitchFamily="34" charset="0"/>
                <a:cs typeface="Arial" panose="020B0604020202020204" pitchFamily="34" charset="0"/>
              </a:rPr>
              <a:t> It has been conceptualized with a clear vision, but the execution process, including design, artwork, playtesting, production, and distribution, has not yet begun. Therefore, the Technology Readiness Level (TRL) of the prototype is TRL 2.</a:t>
            </a:r>
          </a:p>
          <a:p>
            <a:pPr>
              <a:lnSpc>
                <a:spcPct val="150000"/>
              </a:lnSpc>
            </a:pP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937185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69704" y="663471"/>
            <a:ext cx="10852592" cy="369332"/>
          </a:xfrm>
          <a:prstGeom prst="rect">
            <a:avLst/>
          </a:prstGeom>
        </p:spPr>
        <p:txBody>
          <a:bodyPr wrap="square">
            <a:spAutoFit/>
          </a:bodyPr>
          <a:lstStyle/>
          <a:p>
            <a:r>
              <a:rPr lang="en-US" b="1" dirty="0">
                <a:latin typeface="Arial" panose="020B0604020202020204" pitchFamily="34" charset="0"/>
                <a:cs typeface="Arial" panose="020B0604020202020204" pitchFamily="34" charset="0"/>
              </a:rPr>
              <a:t>How much investment would you need for prototyping the Idea?</a:t>
            </a:r>
          </a:p>
        </p:txBody>
      </p:sp>
      <p:sp>
        <p:nvSpPr>
          <p:cNvPr id="3" name="Rectangle 2"/>
          <p:cNvSpPr/>
          <p:nvPr/>
        </p:nvSpPr>
        <p:spPr>
          <a:xfrm>
            <a:off x="669704" y="2630308"/>
            <a:ext cx="11073116" cy="3662541"/>
          </a:xfrm>
          <a:prstGeom prst="rect">
            <a:avLst/>
          </a:prstGeom>
        </p:spPr>
        <p:txBody>
          <a:bodyPr wrap="square">
            <a:spAutoFit/>
          </a:bodyPr>
          <a:lstStyle/>
          <a:p>
            <a:pPr algn="just"/>
            <a:r>
              <a:rPr lang="en-US" b="1" dirty="0">
                <a:latin typeface="Arial" panose="020B0604020202020204" pitchFamily="34" charset="0"/>
                <a:cs typeface="Arial" panose="020B0604020202020204" pitchFamily="34" charset="0"/>
              </a:rPr>
              <a:t>How is this project made and used (how the innovation is implemented?) </a:t>
            </a:r>
          </a:p>
          <a:p>
            <a:pPr algn="just"/>
            <a:endParaRPr lang="en-US" b="1" dirty="0">
              <a:latin typeface="Arial" panose="020B0604020202020204" pitchFamily="34" charset="0"/>
              <a:cs typeface="Arial" panose="020B0604020202020204" pitchFamily="34" charset="0"/>
            </a:endParaRPr>
          </a:p>
          <a:p>
            <a:pPr algn="just"/>
            <a:r>
              <a:rPr lang="en-US" b="1" dirty="0">
                <a:latin typeface="Arial" panose="020B0604020202020204" pitchFamily="34" charset="0"/>
                <a:cs typeface="Arial" panose="020B0604020202020204" pitchFamily="34" charset="0"/>
              </a:rPr>
              <a:t>	</a:t>
            </a:r>
            <a:r>
              <a:rPr lang="en-US" sz="1600" dirty="0">
                <a:latin typeface="Arial" panose="020B0604020202020204" pitchFamily="34" charset="0"/>
                <a:cs typeface="Arial" panose="020B0604020202020204" pitchFamily="34" charset="0"/>
              </a:rPr>
              <a:t>The "</a:t>
            </a:r>
            <a:r>
              <a:rPr lang="en-US" sz="1600" spc="25" dirty="0">
                <a:solidFill>
                  <a:srgbClr val="231F20"/>
                </a:solidFill>
                <a:latin typeface="Arial" panose="020B0604020202020204" pitchFamily="34" charset="0"/>
                <a:cs typeface="Arial" panose="020B0604020202020204" pitchFamily="34" charset="0"/>
              </a:rPr>
              <a:t> Treasure Traders : Journey through India </a:t>
            </a:r>
            <a:r>
              <a:rPr lang="en-US" sz="1600" dirty="0">
                <a:latin typeface="Arial" panose="020B0604020202020204" pitchFamily="34" charset="0"/>
                <a:cs typeface="Arial" panose="020B0604020202020204" pitchFamily="34" charset="0"/>
              </a:rPr>
              <a:t>" project is implemented through these,</a:t>
            </a:r>
          </a:p>
          <a:p>
            <a:pPr algn="just"/>
            <a:r>
              <a:rPr lang="en-US" sz="1600" dirty="0">
                <a:latin typeface="Arial" panose="020B0604020202020204" pitchFamily="34" charset="0"/>
                <a:cs typeface="Arial" panose="020B0604020202020204" pitchFamily="34" charset="0"/>
              </a:rPr>
              <a:t> </a:t>
            </a:r>
          </a:p>
          <a:p>
            <a:pPr marL="285750" indent="-285750" algn="just">
              <a:buFont typeface="Arial" panose="020B0604020202020204" pitchFamily="34" charset="0"/>
              <a:buChar char="•"/>
            </a:pPr>
            <a:r>
              <a:rPr lang="en-US" sz="1600" dirty="0">
                <a:latin typeface="Arial" panose="020B0604020202020204" pitchFamily="34" charset="0"/>
                <a:cs typeface="Arial" panose="020B0604020202020204" pitchFamily="34" charset="0"/>
              </a:rPr>
              <a:t>Conceptualization: Formulate the game idea, mechanics, and educational content.</a:t>
            </a:r>
          </a:p>
          <a:p>
            <a:pPr marL="285750" indent="-285750" algn="just">
              <a:buFont typeface="Arial" panose="020B0604020202020204" pitchFamily="34" charset="0"/>
              <a:buChar char="•"/>
            </a:pPr>
            <a:r>
              <a:rPr lang="en-US" sz="1600" dirty="0">
                <a:latin typeface="Arial" panose="020B0604020202020204" pitchFamily="34" charset="0"/>
                <a:cs typeface="Arial" panose="020B0604020202020204" pitchFamily="34" charset="0"/>
              </a:rPr>
              <a:t>Design: Create game components, artwork, and mechanics.</a:t>
            </a:r>
          </a:p>
          <a:p>
            <a:pPr marL="285750" indent="-285750" algn="just">
              <a:buFont typeface="Arial" panose="020B0604020202020204" pitchFamily="34" charset="0"/>
              <a:buChar char="•"/>
            </a:pPr>
            <a:r>
              <a:rPr lang="en-US" sz="1600" dirty="0">
                <a:latin typeface="Arial" panose="020B0604020202020204" pitchFamily="34" charset="0"/>
                <a:cs typeface="Arial" panose="020B0604020202020204" pitchFamily="34" charset="0"/>
              </a:rPr>
              <a:t>Prototyping: Develop a playable prototype for testing.</a:t>
            </a:r>
          </a:p>
          <a:p>
            <a:pPr marL="285750" indent="-285750" algn="just">
              <a:buFont typeface="Arial" panose="020B0604020202020204" pitchFamily="34" charset="0"/>
              <a:buChar char="•"/>
            </a:pPr>
            <a:r>
              <a:rPr lang="en-US" sz="1600" dirty="0">
                <a:latin typeface="Arial" panose="020B0604020202020204" pitchFamily="34" charset="0"/>
                <a:cs typeface="Arial" panose="020B0604020202020204" pitchFamily="34" charset="0"/>
              </a:rPr>
              <a:t>Playtesting: Refine mechanics based on player feedback.</a:t>
            </a:r>
          </a:p>
          <a:p>
            <a:pPr marL="285750" indent="-285750" algn="just">
              <a:buFont typeface="Arial" panose="020B0604020202020204" pitchFamily="34" charset="0"/>
              <a:buChar char="•"/>
            </a:pPr>
            <a:r>
              <a:rPr lang="en-US" sz="1600" dirty="0">
                <a:latin typeface="Arial" panose="020B0604020202020204" pitchFamily="34" charset="0"/>
                <a:cs typeface="Arial" panose="020B0604020202020204" pitchFamily="34" charset="0"/>
              </a:rPr>
              <a:t>Production: Source materials and manufacture components.</a:t>
            </a:r>
          </a:p>
          <a:p>
            <a:pPr marL="285750" indent="-285750" algn="just">
              <a:buFont typeface="Arial" panose="020B0604020202020204" pitchFamily="34" charset="0"/>
              <a:buChar char="•"/>
            </a:pPr>
            <a:r>
              <a:rPr lang="en-US" sz="1600" dirty="0">
                <a:latin typeface="Arial" panose="020B0604020202020204" pitchFamily="34" charset="0"/>
                <a:cs typeface="Arial" panose="020B0604020202020204" pitchFamily="34" charset="0"/>
              </a:rPr>
              <a:t>Marketing: Promote the game through various channels.</a:t>
            </a:r>
          </a:p>
          <a:p>
            <a:pPr marL="285750" indent="-285750" algn="just">
              <a:buFont typeface="Arial" panose="020B0604020202020204" pitchFamily="34" charset="0"/>
              <a:buChar char="•"/>
            </a:pPr>
            <a:r>
              <a:rPr lang="en-US" sz="1600" dirty="0">
                <a:latin typeface="Arial" panose="020B0604020202020204" pitchFamily="34" charset="0"/>
                <a:cs typeface="Arial" panose="020B0604020202020204" pitchFamily="34" charset="0"/>
              </a:rPr>
              <a:t>Distribution: Make the game available for purchase.</a:t>
            </a:r>
          </a:p>
          <a:p>
            <a:pPr marL="285750" indent="-285750" algn="just">
              <a:buFont typeface="Arial" panose="020B0604020202020204" pitchFamily="34" charset="0"/>
              <a:buChar char="•"/>
            </a:pPr>
            <a:r>
              <a:rPr lang="en-US" sz="1600" dirty="0">
                <a:latin typeface="Arial" panose="020B0604020202020204" pitchFamily="34" charset="0"/>
                <a:cs typeface="Arial" panose="020B0604020202020204" pitchFamily="34" charset="0"/>
              </a:rPr>
              <a:t>Engagement: Build a community and gather feedback.</a:t>
            </a:r>
          </a:p>
          <a:p>
            <a:pPr marL="285750" indent="-285750" algn="just">
              <a:buFont typeface="Arial" panose="020B0604020202020204" pitchFamily="34" charset="0"/>
              <a:buChar char="•"/>
            </a:pPr>
            <a:r>
              <a:rPr lang="en-US" sz="1600" dirty="0">
                <a:latin typeface="Arial" panose="020B0604020202020204" pitchFamily="34" charset="0"/>
                <a:cs typeface="Arial" panose="020B0604020202020204" pitchFamily="34" charset="0"/>
              </a:rPr>
              <a:t>Future Development: Consider expansions and adaptations.</a:t>
            </a:r>
          </a:p>
          <a:p>
            <a:pPr algn="just"/>
            <a:endParaRPr lang="en-US" b="1" dirty="0">
              <a:latin typeface="Arial" panose="020B0604020202020204" pitchFamily="34" charset="0"/>
              <a:cs typeface="Arial" panose="020B0604020202020204" pitchFamily="34" charset="0"/>
            </a:endParaRPr>
          </a:p>
        </p:txBody>
      </p:sp>
      <p:graphicFrame>
        <p:nvGraphicFramePr>
          <p:cNvPr id="4" name="Table 4">
            <a:extLst>
              <a:ext uri="{FF2B5EF4-FFF2-40B4-BE49-F238E27FC236}">
                <a16:creationId xmlns:a16="http://schemas.microsoft.com/office/drawing/2014/main" id="{D883A78F-58A1-C5A7-0548-0A162BCE25C6}"/>
              </a:ext>
            </a:extLst>
          </p:cNvPr>
          <p:cNvGraphicFramePr>
            <a:graphicFrameLocks noGrp="1"/>
          </p:cNvGraphicFramePr>
          <p:nvPr>
            <p:extLst>
              <p:ext uri="{D42A27DB-BD31-4B8C-83A1-F6EECF244321}">
                <p14:modId xmlns:p14="http://schemas.microsoft.com/office/powerpoint/2010/main" val="1618189288"/>
              </p:ext>
            </p:extLst>
          </p:nvPr>
        </p:nvGraphicFramePr>
        <p:xfrm>
          <a:off x="747252" y="1162322"/>
          <a:ext cx="10697496" cy="1356360"/>
        </p:xfrm>
        <a:graphic>
          <a:graphicData uri="http://schemas.openxmlformats.org/drawingml/2006/table">
            <a:tbl>
              <a:tblPr firstRow="1" bandRow="1">
                <a:tableStyleId>{073A0DAA-6AF3-43AB-8588-CEC1D06C72B9}</a:tableStyleId>
              </a:tblPr>
              <a:tblGrid>
                <a:gridCol w="3565832">
                  <a:extLst>
                    <a:ext uri="{9D8B030D-6E8A-4147-A177-3AD203B41FA5}">
                      <a16:colId xmlns:a16="http://schemas.microsoft.com/office/drawing/2014/main" val="319202766"/>
                    </a:ext>
                  </a:extLst>
                </a:gridCol>
                <a:gridCol w="4329471">
                  <a:extLst>
                    <a:ext uri="{9D8B030D-6E8A-4147-A177-3AD203B41FA5}">
                      <a16:colId xmlns:a16="http://schemas.microsoft.com/office/drawing/2014/main" val="1265980084"/>
                    </a:ext>
                  </a:extLst>
                </a:gridCol>
                <a:gridCol w="2802193">
                  <a:extLst>
                    <a:ext uri="{9D8B030D-6E8A-4147-A177-3AD203B41FA5}">
                      <a16:colId xmlns:a16="http://schemas.microsoft.com/office/drawing/2014/main" val="1691433588"/>
                    </a:ext>
                  </a:extLst>
                </a:gridCol>
              </a:tblGrid>
              <a:tr h="370840">
                <a:tc>
                  <a:txBody>
                    <a:bodyPr/>
                    <a:lstStyle/>
                    <a:p>
                      <a:pPr algn="ctr" rtl="0" fontAlgn="b">
                        <a:spcBef>
                          <a:spcPts val="0"/>
                        </a:spcBef>
                        <a:spcAft>
                          <a:spcPts val="0"/>
                        </a:spcAft>
                      </a:pPr>
                      <a:r>
                        <a:rPr lang="en-IN" sz="1600" b="1" i="0" u="none" strike="noStrike" dirty="0">
                          <a:solidFill>
                            <a:schemeClr val="bg1"/>
                          </a:solidFill>
                          <a:effectLst/>
                          <a:latin typeface="Arial" panose="020B0604020202020204" pitchFamily="34" charset="0"/>
                          <a:cs typeface="Arial" panose="020B0604020202020204" pitchFamily="34" charset="0"/>
                        </a:rPr>
                        <a:t>Investment Category</a:t>
                      </a:r>
                      <a:endParaRPr lang="en-IN" sz="1600" dirty="0">
                        <a:solidFill>
                          <a:schemeClr val="bg1"/>
                        </a:solidFill>
                        <a:effectLst/>
                        <a:latin typeface="Arial" panose="020B0604020202020204" pitchFamily="34" charset="0"/>
                        <a:cs typeface="Arial" panose="020B0604020202020204" pitchFamily="34" charset="0"/>
                      </a:endParaRPr>
                    </a:p>
                  </a:txBody>
                  <a:tcPr marL="63500" marR="63500" marT="63500" marB="63500" anchor="b"/>
                </a:tc>
                <a:tc>
                  <a:txBody>
                    <a:bodyPr/>
                    <a:lstStyle/>
                    <a:p>
                      <a:pPr algn="ctr" rtl="0" fontAlgn="b">
                        <a:spcBef>
                          <a:spcPts val="0"/>
                        </a:spcBef>
                        <a:spcAft>
                          <a:spcPts val="0"/>
                        </a:spcAft>
                      </a:pPr>
                      <a:r>
                        <a:rPr lang="en-IN" sz="1600" b="1" i="0" u="none" strike="noStrike" dirty="0">
                          <a:solidFill>
                            <a:schemeClr val="bg1"/>
                          </a:solidFill>
                          <a:effectLst/>
                          <a:latin typeface="Arial" panose="020B0604020202020204" pitchFamily="34" charset="0"/>
                          <a:cs typeface="Arial" panose="020B0604020202020204" pitchFamily="34" charset="0"/>
                        </a:rPr>
                        <a:t>Considerations</a:t>
                      </a:r>
                      <a:endParaRPr lang="en-IN" sz="1600" dirty="0">
                        <a:solidFill>
                          <a:schemeClr val="bg1"/>
                        </a:solidFill>
                        <a:effectLst/>
                        <a:latin typeface="Arial" panose="020B0604020202020204" pitchFamily="34" charset="0"/>
                        <a:cs typeface="Arial" panose="020B0604020202020204" pitchFamily="34" charset="0"/>
                      </a:endParaRPr>
                    </a:p>
                  </a:txBody>
                  <a:tcPr marL="63500" marR="63500" marT="63500" marB="63500" anchor="b"/>
                </a:tc>
                <a:tc>
                  <a:txBody>
                    <a:bodyPr/>
                    <a:lstStyle/>
                    <a:p>
                      <a:pPr algn="ctr" rtl="0" fontAlgn="b">
                        <a:spcBef>
                          <a:spcPts val="0"/>
                        </a:spcBef>
                        <a:spcAft>
                          <a:spcPts val="0"/>
                        </a:spcAft>
                      </a:pPr>
                      <a:r>
                        <a:rPr lang="en-IN" sz="1600" b="1" i="0" u="none" strike="noStrike" dirty="0">
                          <a:solidFill>
                            <a:schemeClr val="bg1"/>
                          </a:solidFill>
                          <a:effectLst/>
                          <a:latin typeface="Arial" panose="020B0604020202020204" pitchFamily="34" charset="0"/>
                          <a:cs typeface="Arial" panose="020B0604020202020204" pitchFamily="34" charset="0"/>
                        </a:rPr>
                        <a:t>Investment Amount</a:t>
                      </a:r>
                      <a:endParaRPr lang="en-IN" sz="1600" dirty="0">
                        <a:solidFill>
                          <a:schemeClr val="bg1"/>
                        </a:solidFill>
                        <a:effectLst/>
                        <a:latin typeface="Arial" panose="020B0604020202020204" pitchFamily="34" charset="0"/>
                        <a:cs typeface="Arial" panose="020B0604020202020204" pitchFamily="34" charset="0"/>
                      </a:endParaRPr>
                    </a:p>
                  </a:txBody>
                  <a:tcPr marL="63500" marR="63500" marT="63500" marB="63500" anchor="b"/>
                </a:tc>
                <a:extLst>
                  <a:ext uri="{0D108BD9-81ED-4DB2-BD59-A6C34878D82A}">
                    <a16:rowId xmlns:a16="http://schemas.microsoft.com/office/drawing/2014/main" val="3376271393"/>
                  </a:ext>
                </a:extLst>
              </a:tr>
              <a:tr h="370840">
                <a:tc>
                  <a:txBody>
                    <a:bodyPr/>
                    <a:lstStyle/>
                    <a:p>
                      <a:pPr algn="ctr" rtl="0" fontAlgn="ctr">
                        <a:spcBef>
                          <a:spcPts val="0"/>
                        </a:spcBef>
                        <a:spcAft>
                          <a:spcPts val="0"/>
                        </a:spcAft>
                      </a:pPr>
                      <a:r>
                        <a:rPr lang="en-IN" sz="1600" b="0" i="0" u="none" strike="noStrike" dirty="0">
                          <a:solidFill>
                            <a:srgbClr val="000000"/>
                          </a:solidFill>
                          <a:effectLst/>
                          <a:latin typeface="Arial" panose="020B0604020202020204" pitchFamily="34" charset="0"/>
                          <a:cs typeface="Arial" panose="020B0604020202020204" pitchFamily="34" charset="0"/>
                        </a:rPr>
                        <a:t>Game Design and Development</a:t>
                      </a:r>
                      <a:endParaRPr lang="en-IN" sz="1600" dirty="0">
                        <a:effectLst/>
                        <a:latin typeface="Arial" panose="020B0604020202020204" pitchFamily="34" charset="0"/>
                        <a:cs typeface="Arial" panose="020B0604020202020204" pitchFamily="34" charset="0"/>
                      </a:endParaRPr>
                    </a:p>
                  </a:txBody>
                  <a:tcPr marL="63500" marR="63500" marT="63500" marB="63500" anchor="ctr"/>
                </a:tc>
                <a:tc>
                  <a:txBody>
                    <a:bodyPr/>
                    <a:lstStyle/>
                    <a:p>
                      <a:pPr algn="ctr" rtl="0" fontAlgn="ctr">
                        <a:spcBef>
                          <a:spcPts val="0"/>
                        </a:spcBef>
                        <a:spcAft>
                          <a:spcPts val="0"/>
                        </a:spcAft>
                      </a:pPr>
                      <a:r>
                        <a:rPr lang="en-US" sz="1600" b="0" i="0" u="none" strike="noStrike" dirty="0">
                          <a:solidFill>
                            <a:srgbClr val="000000"/>
                          </a:solidFill>
                          <a:effectLst/>
                          <a:latin typeface="Arial" panose="020B0604020202020204" pitchFamily="34" charset="0"/>
                          <a:cs typeface="Arial" panose="020B0604020202020204" pitchFamily="34" charset="0"/>
                        </a:rPr>
                        <a:t>Hiring designers and developers, software and equipment</a:t>
                      </a:r>
                      <a:endParaRPr lang="en-US" sz="1600" dirty="0">
                        <a:effectLst/>
                        <a:latin typeface="Arial" panose="020B0604020202020204" pitchFamily="34" charset="0"/>
                        <a:cs typeface="Arial" panose="020B0604020202020204" pitchFamily="34" charset="0"/>
                      </a:endParaRPr>
                    </a:p>
                  </a:txBody>
                  <a:tcPr marL="63500" marR="63500" marT="63500" marB="63500" anchor="ctr"/>
                </a:tc>
                <a:tc>
                  <a:txBody>
                    <a:bodyPr/>
                    <a:lstStyle/>
                    <a:p>
                      <a:pPr algn="ctr" rtl="0" fontAlgn="b"/>
                      <a:r>
                        <a:rPr lang="en-IN" sz="1600" dirty="0">
                          <a:effectLst/>
                          <a:latin typeface="Arial" panose="020B0604020202020204" pitchFamily="34" charset="0"/>
                          <a:cs typeface="Arial" panose="020B0604020202020204" pitchFamily="34" charset="0"/>
                        </a:rPr>
                        <a:t>180000</a:t>
                      </a:r>
                    </a:p>
                  </a:txBody>
                  <a:tcPr marL="22860" marR="22860" marT="15240" marB="15240" anchor="ctr"/>
                </a:tc>
                <a:extLst>
                  <a:ext uri="{0D108BD9-81ED-4DB2-BD59-A6C34878D82A}">
                    <a16:rowId xmlns:a16="http://schemas.microsoft.com/office/drawing/2014/main" val="229034490"/>
                  </a:ext>
                </a:extLst>
              </a:tr>
              <a:tr h="370840">
                <a:tc>
                  <a:txBody>
                    <a:bodyPr/>
                    <a:lstStyle/>
                    <a:p>
                      <a:pPr algn="ctr" rtl="0" fontAlgn="ctr">
                        <a:spcBef>
                          <a:spcPts val="0"/>
                        </a:spcBef>
                        <a:spcAft>
                          <a:spcPts val="0"/>
                        </a:spcAft>
                      </a:pPr>
                      <a:r>
                        <a:rPr lang="en-IN" sz="1600" b="0" i="0" u="none" strike="noStrike" dirty="0">
                          <a:solidFill>
                            <a:srgbClr val="000000"/>
                          </a:solidFill>
                          <a:effectLst/>
                          <a:latin typeface="Arial" panose="020B0604020202020204" pitchFamily="34" charset="0"/>
                          <a:cs typeface="Arial" panose="020B0604020202020204" pitchFamily="34" charset="0"/>
                        </a:rPr>
                        <a:t>Artwork and Illustrations</a:t>
                      </a:r>
                      <a:endParaRPr lang="en-IN" sz="1600" dirty="0">
                        <a:effectLst/>
                        <a:latin typeface="Arial" panose="020B0604020202020204" pitchFamily="34" charset="0"/>
                        <a:cs typeface="Arial" panose="020B0604020202020204" pitchFamily="34" charset="0"/>
                      </a:endParaRPr>
                    </a:p>
                  </a:txBody>
                  <a:tcPr marL="63500" marR="63500" marT="63500" marB="63500" anchor="ctr"/>
                </a:tc>
                <a:tc>
                  <a:txBody>
                    <a:bodyPr/>
                    <a:lstStyle/>
                    <a:p>
                      <a:pPr algn="ctr" rtl="0" fontAlgn="ctr">
                        <a:spcBef>
                          <a:spcPts val="0"/>
                        </a:spcBef>
                        <a:spcAft>
                          <a:spcPts val="0"/>
                        </a:spcAft>
                      </a:pPr>
                      <a:r>
                        <a:rPr lang="en-US" sz="1600" b="0" i="0" u="none" strike="noStrike" dirty="0">
                          <a:solidFill>
                            <a:srgbClr val="000000"/>
                          </a:solidFill>
                          <a:effectLst/>
                          <a:latin typeface="Arial" panose="020B0604020202020204" pitchFamily="34" charset="0"/>
                          <a:cs typeface="Arial" panose="020B0604020202020204" pitchFamily="34" charset="0"/>
                        </a:rPr>
                        <a:t>Professional artists, licensing fees, revisions</a:t>
                      </a:r>
                      <a:endParaRPr lang="en-US" sz="1600" dirty="0">
                        <a:effectLst/>
                        <a:latin typeface="Arial" panose="020B0604020202020204" pitchFamily="34" charset="0"/>
                        <a:cs typeface="Arial" panose="020B0604020202020204" pitchFamily="34" charset="0"/>
                      </a:endParaRPr>
                    </a:p>
                  </a:txBody>
                  <a:tcPr marL="63500" marR="63500" marT="63500" marB="63500" anchor="ctr"/>
                </a:tc>
                <a:tc>
                  <a:txBody>
                    <a:bodyPr/>
                    <a:lstStyle/>
                    <a:p>
                      <a:pPr algn="ctr" rtl="0" fontAlgn="b"/>
                      <a:r>
                        <a:rPr lang="en-IN" sz="1600" dirty="0">
                          <a:effectLst/>
                          <a:latin typeface="Arial" panose="020B0604020202020204" pitchFamily="34" charset="0"/>
                          <a:cs typeface="Arial" panose="020B0604020202020204" pitchFamily="34" charset="0"/>
                        </a:rPr>
                        <a:t>1,00,000</a:t>
                      </a:r>
                    </a:p>
                  </a:txBody>
                  <a:tcPr marL="22860" marR="22860" marT="15240" marB="15240" anchor="ctr"/>
                </a:tc>
                <a:extLst>
                  <a:ext uri="{0D108BD9-81ED-4DB2-BD59-A6C34878D82A}">
                    <a16:rowId xmlns:a16="http://schemas.microsoft.com/office/drawing/2014/main" val="2800416889"/>
                  </a:ext>
                </a:extLst>
              </a:tr>
            </a:tbl>
          </a:graphicData>
        </a:graphic>
      </p:graphicFrame>
    </p:spTree>
    <p:extLst>
      <p:ext uri="{BB962C8B-B14F-4D97-AF65-F5344CB8AC3E}">
        <p14:creationId xmlns:p14="http://schemas.microsoft.com/office/powerpoint/2010/main" val="40256215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9723" y="858772"/>
            <a:ext cx="10809157" cy="1841530"/>
          </a:xfrm>
          <a:prstGeom prst="rect">
            <a:avLst/>
          </a:prstGeom>
        </p:spPr>
        <p:txBody>
          <a:bodyPr wrap="square">
            <a:spAutoFit/>
          </a:bodyPr>
          <a:lstStyle/>
          <a:p>
            <a:r>
              <a:rPr lang="en-IN" b="1" dirty="0">
                <a:latin typeface="Arial" panose="020B0604020202020204" pitchFamily="34" charset="0"/>
                <a:ea typeface="Calibri" panose="020F0502020204030204" pitchFamily="34" charset="0"/>
                <a:cs typeface="Arial" panose="020B0604020202020204" pitchFamily="34" charset="0"/>
              </a:rPr>
              <a:t>1. Novel &amp; innovative value:</a:t>
            </a:r>
          </a:p>
          <a:p>
            <a:endParaRPr lang="en-IN" b="1" dirty="0">
              <a:latin typeface="Arial" panose="020B0604020202020204" pitchFamily="34" charset="0"/>
              <a:ea typeface="Calibri" panose="020F0502020204030204" pitchFamily="34" charset="0"/>
              <a:cs typeface="Arial" panose="020B0604020202020204" pitchFamily="34" charset="0"/>
            </a:endParaRPr>
          </a:p>
          <a:p>
            <a:pPr>
              <a:lnSpc>
                <a:spcPct val="150000"/>
              </a:lnSpc>
            </a:pPr>
            <a:r>
              <a:rPr lang="en-IN" b="1" dirty="0">
                <a:latin typeface="Arial" panose="020B0604020202020204" pitchFamily="34" charset="0"/>
                <a:ea typeface="Calibri" panose="020F0502020204030204" pitchFamily="34" charset="0"/>
                <a:cs typeface="Arial" panose="020B0604020202020204" pitchFamily="34" charset="0"/>
              </a:rPr>
              <a:t>	</a:t>
            </a:r>
            <a:r>
              <a:rPr lang="en-US" dirty="0">
                <a:latin typeface="Arial" panose="020B0604020202020204" pitchFamily="34" charset="0"/>
                <a:ea typeface="Calibri" panose="020F0502020204030204" pitchFamily="34" charset="0"/>
                <a:cs typeface="Arial" panose="020B0604020202020204" pitchFamily="34" charset="0"/>
              </a:rPr>
              <a:t>In "</a:t>
            </a:r>
            <a:r>
              <a:rPr lang="en-US" sz="1800" spc="25" dirty="0">
                <a:solidFill>
                  <a:srgbClr val="231F20"/>
                </a:solidFill>
                <a:latin typeface="Arial" panose="020B0604020202020204" pitchFamily="34" charset="0"/>
                <a:cs typeface="Arial" panose="020B0604020202020204" pitchFamily="34" charset="0"/>
              </a:rPr>
              <a:t>Treasure Traders</a:t>
            </a:r>
            <a:r>
              <a:rPr lang="en-US" spc="25" dirty="0">
                <a:solidFill>
                  <a:srgbClr val="231F20"/>
                </a:solidFill>
                <a:latin typeface="Arial" panose="020B0604020202020204" pitchFamily="34" charset="0"/>
                <a:cs typeface="Arial" panose="020B0604020202020204" pitchFamily="34" charset="0"/>
              </a:rPr>
              <a:t> : Journey through India </a:t>
            </a:r>
            <a:r>
              <a:rPr lang="en-US" dirty="0">
                <a:latin typeface="Arial" panose="020B0604020202020204" pitchFamily="34" charset="0"/>
                <a:ea typeface="Calibri" panose="020F0502020204030204" pitchFamily="34" charset="0"/>
                <a:cs typeface="Arial" panose="020B0604020202020204" pitchFamily="34" charset="0"/>
              </a:rPr>
              <a:t>" the board game combines cultural immersion, realistic trading mechanics, interactive learning, and customizable gameplay in an engaging and educational experience that ensures its novel and innovative value.</a:t>
            </a:r>
            <a:endParaRPr lang="en-IN" dirty="0">
              <a:latin typeface="Arial" panose="020B0604020202020204" pitchFamily="34" charset="0"/>
              <a:cs typeface="Arial" panose="020B0604020202020204" pitchFamily="34" charset="0"/>
            </a:endParaRPr>
          </a:p>
        </p:txBody>
      </p:sp>
      <p:sp>
        <p:nvSpPr>
          <p:cNvPr id="3" name="Rectangle 2"/>
          <p:cNvSpPr/>
          <p:nvPr/>
        </p:nvSpPr>
        <p:spPr>
          <a:xfrm>
            <a:off x="549723" y="3103723"/>
            <a:ext cx="10961557" cy="2534027"/>
          </a:xfrm>
          <a:prstGeom prst="rect">
            <a:avLst/>
          </a:prstGeom>
        </p:spPr>
        <p:txBody>
          <a:bodyPr wrap="square">
            <a:spAutoFit/>
          </a:bodyPr>
          <a:lstStyle/>
          <a:p>
            <a:pPr>
              <a:lnSpc>
                <a:spcPct val="150000"/>
              </a:lnSpc>
            </a:pPr>
            <a:r>
              <a:rPr lang="en-IN" b="1" dirty="0">
                <a:latin typeface="Arial" panose="020B0604020202020204" pitchFamily="34" charset="0"/>
                <a:cs typeface="Arial" panose="020B0604020202020204" pitchFamily="34" charset="0"/>
              </a:rPr>
              <a:t>2. Useful to the society:</a:t>
            </a:r>
          </a:p>
          <a:p>
            <a:pPr>
              <a:lnSpc>
                <a:spcPct val="150000"/>
              </a:lnSpc>
            </a:pPr>
            <a:endParaRPr lang="en-IN" b="1" dirty="0">
              <a:latin typeface="Arial" panose="020B0604020202020204" pitchFamily="34" charset="0"/>
              <a:cs typeface="Arial" panose="020B0604020202020204" pitchFamily="34" charset="0"/>
            </a:endParaRPr>
          </a:p>
          <a:p>
            <a:pPr>
              <a:lnSpc>
                <a:spcPct val="150000"/>
              </a:lnSpc>
            </a:pPr>
            <a:r>
              <a:rPr lang="en-IN"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The "</a:t>
            </a:r>
            <a:r>
              <a:rPr lang="en-US" sz="1800" spc="25" dirty="0">
                <a:solidFill>
                  <a:srgbClr val="231F20"/>
                </a:solidFill>
                <a:latin typeface="Arial" panose="020B0604020202020204" pitchFamily="34" charset="0"/>
                <a:cs typeface="Arial" panose="020B0604020202020204" pitchFamily="34" charset="0"/>
              </a:rPr>
              <a:t> Treasure Traders</a:t>
            </a:r>
            <a:r>
              <a:rPr lang="en-US" spc="25" dirty="0">
                <a:solidFill>
                  <a:srgbClr val="231F20"/>
                </a:solidFill>
                <a:latin typeface="Arial" panose="020B0604020202020204" pitchFamily="34" charset="0"/>
                <a:cs typeface="Arial" panose="020B0604020202020204" pitchFamily="34" charset="0"/>
              </a:rPr>
              <a:t> : Journey through India </a:t>
            </a:r>
            <a:r>
              <a:rPr lang="en-US" dirty="0">
                <a:latin typeface="Arial" panose="020B0604020202020204" pitchFamily="34" charset="0"/>
                <a:cs typeface="Arial" panose="020B0604020202020204" pitchFamily="34" charset="0"/>
              </a:rPr>
              <a:t>" board game is beneficial to society by promoting cultural understanding, geographical awareness, economic literacy, critical thinking, and cross-cultural exchange. It serves as an educational tool, enhances bonding, and contributes to cultural tourism, all while offering an enjoyable way to learn about India's culture and trading practices.</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617138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81620" y="972596"/>
            <a:ext cx="10938219" cy="1703030"/>
          </a:xfrm>
          <a:prstGeom prst="rect">
            <a:avLst/>
          </a:prstGeom>
        </p:spPr>
        <p:txBody>
          <a:bodyPr wrap="square">
            <a:spAutoFit/>
          </a:bodyPr>
          <a:lstStyle/>
          <a:p>
            <a:pPr>
              <a:lnSpc>
                <a:spcPct val="150000"/>
              </a:lnSpc>
            </a:pPr>
            <a:r>
              <a:rPr lang="en-IN" b="1" dirty="0">
                <a:latin typeface="Arial" panose="020B0604020202020204" pitchFamily="34" charset="0"/>
                <a:ea typeface="Calibri" panose="020F0502020204030204" pitchFamily="34" charset="0"/>
                <a:cs typeface="Arial" panose="020B0604020202020204" pitchFamily="34" charset="0"/>
              </a:rPr>
              <a:t>3. Reduce the cost of living, product or process:</a:t>
            </a:r>
          </a:p>
          <a:p>
            <a:pPr>
              <a:lnSpc>
                <a:spcPct val="150000"/>
              </a:lnSpc>
            </a:pPr>
            <a:endParaRPr lang="en-IN" b="1" dirty="0">
              <a:latin typeface="Arial" panose="020B0604020202020204" pitchFamily="34" charset="0"/>
              <a:ea typeface="Calibri" panose="020F0502020204030204" pitchFamily="34" charset="0"/>
              <a:cs typeface="Arial" panose="020B0604020202020204" pitchFamily="34" charset="0"/>
            </a:endParaRPr>
          </a:p>
          <a:p>
            <a:pPr>
              <a:lnSpc>
                <a:spcPct val="150000"/>
              </a:lnSpc>
            </a:pPr>
            <a:r>
              <a:rPr lang="en-IN" dirty="0">
                <a:latin typeface="Arial" panose="020B0604020202020204" pitchFamily="34" charset="0"/>
                <a:ea typeface="Calibri" panose="020F0502020204030204" pitchFamily="34" charset="0"/>
                <a:cs typeface="Arial" panose="020B0604020202020204" pitchFamily="34" charset="0"/>
              </a:rPr>
              <a:t>	</a:t>
            </a:r>
            <a:r>
              <a:rPr lang="en-US" dirty="0">
                <a:latin typeface="Arial" panose="020B0604020202020204" pitchFamily="34" charset="0"/>
                <a:ea typeface="Calibri" panose="020F0502020204030204" pitchFamily="34" charset="0"/>
                <a:cs typeface="Arial" panose="020B0604020202020204" pitchFamily="34" charset="0"/>
              </a:rPr>
              <a:t> As this board game focuses on education, "Treasure Traders: Journey through India" does not directly address reducing the cost of living.</a:t>
            </a:r>
            <a:endParaRPr lang="en-IN" dirty="0">
              <a:latin typeface="Arial" panose="020B0604020202020204" pitchFamily="34" charset="0"/>
              <a:cs typeface="Arial" panose="020B0604020202020204" pitchFamily="34" charset="0"/>
            </a:endParaRPr>
          </a:p>
        </p:txBody>
      </p:sp>
      <p:sp>
        <p:nvSpPr>
          <p:cNvPr id="3" name="Rectangle 2"/>
          <p:cNvSpPr/>
          <p:nvPr/>
        </p:nvSpPr>
        <p:spPr>
          <a:xfrm>
            <a:off x="481621" y="3554207"/>
            <a:ext cx="10938218" cy="1426031"/>
          </a:xfrm>
          <a:prstGeom prst="rect">
            <a:avLst/>
          </a:prstGeom>
        </p:spPr>
        <p:txBody>
          <a:bodyPr wrap="square">
            <a:spAutoFit/>
          </a:bodyPr>
          <a:lstStyle/>
          <a:p>
            <a:r>
              <a:rPr lang="en-IN" b="1" dirty="0">
                <a:latin typeface="Arial" panose="020B0604020202020204" pitchFamily="34" charset="0"/>
                <a:ea typeface="Calibri" panose="020F0502020204030204" pitchFamily="34" charset="0"/>
                <a:cs typeface="Arial" panose="020B0604020202020204" pitchFamily="34" charset="0"/>
              </a:rPr>
              <a:t>4. Improve quality of life and provide convenience to living standards</a:t>
            </a:r>
          </a:p>
          <a:p>
            <a:endParaRPr lang="en-IN" b="1" dirty="0">
              <a:latin typeface="Arial" panose="020B0604020202020204" pitchFamily="34" charset="0"/>
              <a:ea typeface="Calibri" panose="020F0502020204030204" pitchFamily="34" charset="0"/>
              <a:cs typeface="Arial" panose="020B0604020202020204" pitchFamily="34" charset="0"/>
            </a:endParaRPr>
          </a:p>
          <a:p>
            <a:pPr>
              <a:lnSpc>
                <a:spcPct val="150000"/>
              </a:lnSpc>
            </a:pPr>
            <a:r>
              <a:rPr lang="en-IN" dirty="0">
                <a:latin typeface="Arial" panose="020B0604020202020204" pitchFamily="34" charset="0"/>
                <a:ea typeface="Calibri" panose="020F0502020204030204" pitchFamily="34" charset="0"/>
                <a:cs typeface="Arial" panose="020B0604020202020204" pitchFamily="34" charset="0"/>
              </a:rPr>
              <a:t>	</a:t>
            </a:r>
            <a:r>
              <a:rPr lang="en-US" dirty="0">
                <a:latin typeface="Arial" panose="020B0604020202020204" pitchFamily="34" charset="0"/>
                <a:ea typeface="Calibri" panose="020F0502020204030204" pitchFamily="34" charset="0"/>
                <a:cs typeface="Arial" panose="020B0604020202020204" pitchFamily="34" charset="0"/>
              </a:rPr>
              <a:t> The "</a:t>
            </a:r>
            <a:r>
              <a:rPr lang="en-US" sz="1800" spc="25" dirty="0">
                <a:solidFill>
                  <a:srgbClr val="231F20"/>
                </a:solidFill>
                <a:latin typeface="Arial" panose="020B0604020202020204" pitchFamily="34" charset="0"/>
                <a:cs typeface="Arial" panose="020B0604020202020204" pitchFamily="34" charset="0"/>
              </a:rPr>
              <a:t> Treasure Traders</a:t>
            </a:r>
            <a:r>
              <a:rPr lang="en-US" spc="25" dirty="0">
                <a:solidFill>
                  <a:srgbClr val="231F20"/>
                </a:solidFill>
                <a:latin typeface="Arial" panose="020B0604020202020204" pitchFamily="34" charset="0"/>
                <a:cs typeface="Arial" panose="020B0604020202020204" pitchFamily="34" charset="0"/>
              </a:rPr>
              <a:t> : Journey through India</a:t>
            </a:r>
            <a:r>
              <a:rPr lang="en-US" dirty="0">
                <a:latin typeface="Arial" panose="020B0604020202020204" pitchFamily="34" charset="0"/>
                <a:ea typeface="Calibri" panose="020F0502020204030204" pitchFamily="34" charset="0"/>
                <a:cs typeface="Arial" panose="020B0604020202020204" pitchFamily="34" charset="0"/>
              </a:rPr>
              <a:t>” provides an immersive, educational experience that is designed to foster cultural understanding and critical thinking which enhances the quality of life.</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996172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47520" y="966866"/>
            <a:ext cx="11084080" cy="1703030"/>
          </a:xfrm>
          <a:prstGeom prst="rect">
            <a:avLst/>
          </a:prstGeom>
        </p:spPr>
        <p:txBody>
          <a:bodyPr wrap="square">
            <a:spAutoFit/>
          </a:bodyPr>
          <a:lstStyle/>
          <a:p>
            <a:pPr>
              <a:lnSpc>
                <a:spcPct val="150000"/>
              </a:lnSpc>
            </a:pPr>
            <a:r>
              <a:rPr lang="en-IN" b="1" dirty="0">
                <a:latin typeface="Arial" panose="020B0604020202020204" pitchFamily="34" charset="0"/>
                <a:ea typeface="Calibri" panose="020F0502020204030204" pitchFamily="34" charset="0"/>
                <a:cs typeface="Arial" panose="020B0604020202020204" pitchFamily="34" charset="0"/>
              </a:rPr>
              <a:t>5. Clean &amp; green energy initiative:</a:t>
            </a:r>
          </a:p>
          <a:p>
            <a:pPr>
              <a:lnSpc>
                <a:spcPct val="150000"/>
              </a:lnSpc>
            </a:pPr>
            <a:endParaRPr lang="en-IN" b="1" dirty="0">
              <a:latin typeface="Arial" panose="020B0604020202020204" pitchFamily="34" charset="0"/>
              <a:ea typeface="Calibri" panose="020F0502020204030204" pitchFamily="34" charset="0"/>
              <a:cs typeface="Arial" panose="020B0604020202020204" pitchFamily="34" charset="0"/>
            </a:endParaRPr>
          </a:p>
          <a:p>
            <a:pPr>
              <a:lnSpc>
                <a:spcPct val="150000"/>
              </a:lnSpc>
            </a:pPr>
            <a:r>
              <a:rPr lang="en-IN" dirty="0">
                <a:latin typeface="Arial" panose="020B0604020202020204" pitchFamily="34" charset="0"/>
                <a:ea typeface="Calibri" panose="020F0502020204030204" pitchFamily="34" charset="0"/>
                <a:cs typeface="Arial" panose="020B0604020202020204" pitchFamily="34" charset="0"/>
              </a:rPr>
              <a:t>	</a:t>
            </a:r>
            <a:r>
              <a:rPr lang="en-US" dirty="0">
                <a:latin typeface="Arial" panose="020B0604020202020204" pitchFamily="34" charset="0"/>
                <a:ea typeface="Calibri" panose="020F0502020204030204" pitchFamily="34" charset="0"/>
                <a:cs typeface="Arial" panose="020B0604020202020204" pitchFamily="34" charset="0"/>
              </a:rPr>
              <a:t>This idea takes a step towards sustainability by incorporating a recyclable and eco-friendly design for the game components, aligning with clean and green energy initiatives.</a:t>
            </a:r>
            <a:endParaRPr lang="en-IN" dirty="0">
              <a:latin typeface="Arial" panose="020B0604020202020204" pitchFamily="34" charset="0"/>
              <a:cs typeface="Arial" panose="020B0604020202020204" pitchFamily="34" charset="0"/>
            </a:endParaRPr>
          </a:p>
        </p:txBody>
      </p:sp>
      <p:sp>
        <p:nvSpPr>
          <p:cNvPr id="3" name="Rectangle 2"/>
          <p:cNvSpPr/>
          <p:nvPr/>
        </p:nvSpPr>
        <p:spPr>
          <a:xfrm>
            <a:off x="447520" y="3353994"/>
            <a:ext cx="11084080" cy="2118529"/>
          </a:xfrm>
          <a:prstGeom prst="rect">
            <a:avLst/>
          </a:prstGeom>
        </p:spPr>
        <p:txBody>
          <a:bodyPr wrap="square">
            <a:spAutoFit/>
          </a:bodyPr>
          <a:lstStyle/>
          <a:p>
            <a:pPr>
              <a:lnSpc>
                <a:spcPct val="150000"/>
              </a:lnSpc>
            </a:pPr>
            <a:r>
              <a:rPr lang="en-IN" b="1" dirty="0">
                <a:latin typeface="Arial" panose="020B0604020202020204" pitchFamily="34" charset="0"/>
                <a:ea typeface="Calibri" panose="020F0502020204030204" pitchFamily="34" charset="0"/>
                <a:cs typeface="Arial" panose="020B0604020202020204" pitchFamily="34" charset="0"/>
              </a:rPr>
              <a:t>6. Innovative value proposition of products/ services being offered:</a:t>
            </a:r>
          </a:p>
          <a:p>
            <a:pPr>
              <a:lnSpc>
                <a:spcPct val="150000"/>
              </a:lnSpc>
            </a:pPr>
            <a:endParaRPr lang="en-IN" b="1" dirty="0">
              <a:latin typeface="Arial" panose="020B0604020202020204" pitchFamily="34" charset="0"/>
              <a:ea typeface="Calibri" panose="020F0502020204030204" pitchFamily="34" charset="0"/>
              <a:cs typeface="Arial" panose="020B0604020202020204" pitchFamily="34" charset="0"/>
            </a:endParaRPr>
          </a:p>
          <a:p>
            <a:pPr>
              <a:lnSpc>
                <a:spcPct val="150000"/>
              </a:lnSpc>
            </a:pPr>
            <a:r>
              <a:rPr lang="en-IN" dirty="0">
                <a:latin typeface="Arial" panose="020B0604020202020204" pitchFamily="34" charset="0"/>
                <a:ea typeface="Calibri" panose="020F0502020204030204" pitchFamily="34" charset="0"/>
                <a:cs typeface="Arial" panose="020B0604020202020204" pitchFamily="34" charset="0"/>
              </a:rPr>
              <a:t>	</a:t>
            </a:r>
            <a:r>
              <a:rPr lang="en-US" dirty="0">
                <a:latin typeface="Arial" panose="020B0604020202020204" pitchFamily="34" charset="0"/>
                <a:ea typeface="Calibri" panose="020F0502020204030204" pitchFamily="34" charset="0"/>
                <a:cs typeface="Arial" panose="020B0604020202020204" pitchFamily="34" charset="0"/>
              </a:rPr>
              <a:t> Our innovative board game uniquely combines cultural immersion, strategic gameplay, and educational content, providing an enriching entertainment experience that fosters cross-cultural appreciation.</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172642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81252" y="993848"/>
            <a:ext cx="10810241" cy="1669944"/>
          </a:xfrm>
          <a:prstGeom prst="rect">
            <a:avLst/>
          </a:prstGeom>
        </p:spPr>
        <p:txBody>
          <a:bodyPr wrap="square">
            <a:spAutoFit/>
          </a:bodyPr>
          <a:lstStyle/>
          <a:p>
            <a:pPr algn="just">
              <a:lnSpc>
                <a:spcPct val="107000"/>
              </a:lnSpc>
              <a:spcAft>
                <a:spcPts val="800"/>
              </a:spcAft>
            </a:pPr>
            <a:r>
              <a:rPr lang="en-IN" b="1" dirty="0">
                <a:latin typeface="Arial" panose="020B0604020202020204" pitchFamily="34" charset="0"/>
                <a:ea typeface="Calibri" panose="020F0502020204030204" pitchFamily="34" charset="0"/>
                <a:cs typeface="Arial" panose="020B0604020202020204" pitchFamily="34" charset="0"/>
              </a:rPr>
              <a:t>7. Ease of availability of the resources used in the product to ensure ease of scalability:</a:t>
            </a:r>
          </a:p>
          <a:p>
            <a:pPr algn="just">
              <a:lnSpc>
                <a:spcPct val="107000"/>
              </a:lnSpc>
              <a:spcAft>
                <a:spcPts val="800"/>
              </a:spcAft>
            </a:pPr>
            <a:endParaRPr lang="en-IN" b="1" dirty="0">
              <a:latin typeface="Arial" panose="020B0604020202020204" pitchFamily="34" charset="0"/>
              <a:ea typeface="Calibri" panose="020F0502020204030204" pitchFamily="34" charset="0"/>
              <a:cs typeface="Arial" panose="020B0604020202020204" pitchFamily="34" charset="0"/>
            </a:endParaRPr>
          </a:p>
          <a:p>
            <a:pPr algn="just">
              <a:lnSpc>
                <a:spcPct val="150000"/>
              </a:lnSpc>
              <a:spcAft>
                <a:spcPts val="800"/>
              </a:spcAft>
            </a:pPr>
            <a:r>
              <a:rPr lang="en-IN" dirty="0">
                <a:latin typeface="Arial" panose="020B0604020202020204" pitchFamily="34" charset="0"/>
                <a:ea typeface="Calibri" panose="020F0502020204030204" pitchFamily="34" charset="0"/>
                <a:cs typeface="Arial" panose="020B0604020202020204" pitchFamily="34" charset="0"/>
              </a:rPr>
              <a:t>	</a:t>
            </a:r>
            <a:r>
              <a:rPr lang="en-US" dirty="0">
                <a:latin typeface="Arial" panose="020B0604020202020204" pitchFamily="34" charset="0"/>
                <a:ea typeface="Calibri" panose="020F0502020204030204" pitchFamily="34" charset="0"/>
                <a:cs typeface="Arial" panose="020B0604020202020204" pitchFamily="34" charset="0"/>
              </a:rPr>
              <a:t> The resources for our board game are easily available, ensuring scalability and widespread availability.</a:t>
            </a:r>
            <a:endParaRPr lang="en-IN" dirty="0">
              <a:latin typeface="Arial" panose="020B0604020202020204" pitchFamily="34" charset="0"/>
              <a:cs typeface="Arial" panose="020B0604020202020204" pitchFamily="34" charset="0"/>
            </a:endParaRPr>
          </a:p>
        </p:txBody>
      </p:sp>
      <p:sp>
        <p:nvSpPr>
          <p:cNvPr id="3" name="Rectangle 2"/>
          <p:cNvSpPr/>
          <p:nvPr/>
        </p:nvSpPr>
        <p:spPr>
          <a:xfrm>
            <a:off x="581252" y="3346614"/>
            <a:ext cx="10940188" cy="1703030"/>
          </a:xfrm>
          <a:prstGeom prst="rect">
            <a:avLst/>
          </a:prstGeom>
        </p:spPr>
        <p:txBody>
          <a:bodyPr wrap="square">
            <a:spAutoFit/>
          </a:bodyPr>
          <a:lstStyle/>
          <a:p>
            <a:pPr>
              <a:lnSpc>
                <a:spcPct val="150000"/>
              </a:lnSpc>
            </a:pPr>
            <a:r>
              <a:rPr lang="en-IN" b="1" dirty="0">
                <a:latin typeface="Arial" panose="020B0604020202020204" pitchFamily="34" charset="0"/>
                <a:cs typeface="Arial" panose="020B0604020202020204" pitchFamily="34" charset="0"/>
              </a:rPr>
              <a:t>8. Commercial/Technical/Financial viability :</a:t>
            </a:r>
          </a:p>
          <a:p>
            <a:pPr>
              <a:lnSpc>
                <a:spcPct val="150000"/>
              </a:lnSpc>
            </a:pPr>
            <a:endParaRPr lang="en-IN" b="1" dirty="0">
              <a:latin typeface="Arial" panose="020B0604020202020204" pitchFamily="34" charset="0"/>
              <a:cs typeface="Arial" panose="020B0604020202020204" pitchFamily="34" charset="0"/>
            </a:endParaRPr>
          </a:p>
          <a:p>
            <a:pPr>
              <a:lnSpc>
                <a:spcPct val="150000"/>
              </a:lnSpc>
            </a:pPr>
            <a:r>
              <a:rPr lang="en-IN"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 Our board game is commercially viable, offering an innovative and educational product that appeals to a diverse audience.</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686034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843280" y="998947"/>
            <a:ext cx="9936480" cy="923330"/>
          </a:xfrm>
          <a:prstGeom prst="rect">
            <a:avLst/>
          </a:prstGeom>
        </p:spPr>
        <p:txBody>
          <a:bodyPr wrap="square">
            <a:spAutoFit/>
          </a:bodyPr>
          <a:lstStyle/>
          <a:p>
            <a:r>
              <a:rPr lang="en-IN" b="1" dirty="0">
                <a:latin typeface="Arial" panose="020B0604020202020204" pitchFamily="34" charset="0"/>
                <a:cs typeface="Arial" panose="020B0604020202020204" pitchFamily="34" charset="0"/>
              </a:rPr>
              <a:t>9. Climate mitigation measures:</a:t>
            </a:r>
          </a:p>
          <a:p>
            <a:endParaRPr lang="en-IN" b="1"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 Our idea doesn't directly involve in climate mitigation measures.</a:t>
            </a:r>
            <a:endParaRPr lang="en-IN" dirty="0">
              <a:latin typeface="Arial" panose="020B0604020202020204" pitchFamily="34" charset="0"/>
              <a:cs typeface="Arial" panose="020B0604020202020204" pitchFamily="34" charset="0"/>
            </a:endParaRPr>
          </a:p>
        </p:txBody>
      </p:sp>
      <p:sp>
        <p:nvSpPr>
          <p:cNvPr id="4" name="Rectangle 3"/>
          <p:cNvSpPr/>
          <p:nvPr/>
        </p:nvSpPr>
        <p:spPr>
          <a:xfrm>
            <a:off x="843280" y="2983325"/>
            <a:ext cx="9936480" cy="1287532"/>
          </a:xfrm>
          <a:prstGeom prst="rect">
            <a:avLst/>
          </a:prstGeom>
        </p:spPr>
        <p:txBody>
          <a:bodyPr wrap="square">
            <a:spAutoFit/>
          </a:bodyPr>
          <a:lstStyle/>
          <a:p>
            <a:pPr>
              <a:lnSpc>
                <a:spcPct val="150000"/>
              </a:lnSpc>
            </a:pPr>
            <a:r>
              <a:rPr lang="en-IN" b="1" dirty="0">
                <a:latin typeface="Arial" panose="020B0604020202020204" pitchFamily="34" charset="0"/>
                <a:cs typeface="Arial" panose="020B0604020202020204" pitchFamily="34" charset="0"/>
              </a:rPr>
              <a:t>10. Status of intellectual property :</a:t>
            </a:r>
          </a:p>
          <a:p>
            <a:pPr>
              <a:lnSpc>
                <a:spcPct val="150000"/>
              </a:lnSpc>
            </a:pPr>
            <a:endParaRPr lang="en-IN" b="1" dirty="0">
              <a:latin typeface="Arial" panose="020B0604020202020204" pitchFamily="34" charset="0"/>
              <a:cs typeface="Arial" panose="020B0604020202020204" pitchFamily="34" charset="0"/>
            </a:endParaRPr>
          </a:p>
          <a:p>
            <a:pPr>
              <a:lnSpc>
                <a:spcPct val="150000"/>
              </a:lnSpc>
            </a:pPr>
            <a:r>
              <a:rPr lang="en-IN"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 The status of intellectual property is protected by applying a patent for our product.</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562427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59216" y="650020"/>
            <a:ext cx="11273567" cy="5858014"/>
          </a:xfrm>
          <a:prstGeom prst="rect">
            <a:avLst/>
          </a:prstGeom>
        </p:spPr>
        <p:txBody>
          <a:bodyPr wrap="square">
            <a:spAutoFit/>
          </a:bodyPr>
          <a:lstStyle/>
          <a:p>
            <a:pPr>
              <a:lnSpc>
                <a:spcPct val="150000"/>
              </a:lnSpc>
            </a:pPr>
            <a:r>
              <a:rPr lang="en-IN" b="1" dirty="0">
                <a:latin typeface="Arial" panose="020B0604020202020204" pitchFamily="34" charset="0"/>
                <a:cs typeface="Arial" panose="020B0604020202020204" pitchFamily="34" charset="0"/>
              </a:rPr>
              <a:t>11. Indigenization of imported items:</a:t>
            </a:r>
          </a:p>
          <a:p>
            <a:pPr>
              <a:lnSpc>
                <a:spcPct val="150000"/>
              </a:lnSpc>
            </a:pPr>
            <a:endParaRPr lang="en-IN" b="1" dirty="0">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en-US" b="1" dirty="0">
                <a:latin typeface="Arial" panose="020B0604020202020204" pitchFamily="34" charset="0"/>
                <a:cs typeface="Arial" panose="020B0604020202020204" pitchFamily="34" charset="0"/>
              </a:rPr>
              <a:t>Indigenization Boost: </a:t>
            </a:r>
            <a:r>
              <a:rPr lang="en-US" dirty="0">
                <a:latin typeface="Arial" panose="020B0604020202020204" pitchFamily="34" charset="0"/>
                <a:cs typeface="Arial" panose="020B0604020202020204" pitchFamily="34" charset="0"/>
              </a:rPr>
              <a:t>The game showcases the diversity of Indian cities and goods, promoting local culture and products.</a:t>
            </a:r>
          </a:p>
          <a:p>
            <a:pPr marL="285750" indent="-285750">
              <a:lnSpc>
                <a:spcPct val="150000"/>
              </a:lnSpc>
              <a:buFont typeface="Arial" panose="020B0604020202020204" pitchFamily="34" charset="0"/>
              <a:buChar char="•"/>
            </a:pPr>
            <a:r>
              <a:rPr lang="en-US" b="1" dirty="0">
                <a:latin typeface="Arial" panose="020B0604020202020204" pitchFamily="34" charset="0"/>
                <a:cs typeface="Arial" panose="020B0604020202020204" pitchFamily="34" charset="0"/>
              </a:rPr>
              <a:t>Pride in Craftsmanship:</a:t>
            </a:r>
            <a:r>
              <a:rPr lang="en-US" dirty="0">
                <a:latin typeface="Arial" panose="020B0604020202020204" pitchFamily="34" charset="0"/>
                <a:cs typeface="Arial" panose="020B0604020202020204" pitchFamily="34" charset="0"/>
              </a:rPr>
              <a:t> Highlights indigenous items, fostering pride in local resources and craftsmanship.</a:t>
            </a:r>
          </a:p>
          <a:p>
            <a:pPr marL="285750" indent="-285750">
              <a:lnSpc>
                <a:spcPct val="150000"/>
              </a:lnSpc>
              <a:buFont typeface="Arial" panose="020B0604020202020204" pitchFamily="34" charset="0"/>
              <a:buChar char="•"/>
            </a:pPr>
            <a:r>
              <a:rPr lang="en-US" b="1" dirty="0">
                <a:latin typeface="Arial" panose="020B0604020202020204" pitchFamily="34" charset="0"/>
                <a:cs typeface="Arial" panose="020B0604020202020204" pitchFamily="34" charset="0"/>
              </a:rPr>
              <a:t>Support for Goods:</a:t>
            </a:r>
            <a:r>
              <a:rPr lang="en-US" dirty="0">
                <a:latin typeface="Arial" panose="020B0604020202020204" pitchFamily="34" charset="0"/>
                <a:cs typeface="Arial" panose="020B0604020202020204" pitchFamily="34" charset="0"/>
              </a:rPr>
              <a:t> Trading virtual representations indirectly supports the appreciation of domestic products.</a:t>
            </a:r>
          </a:p>
          <a:p>
            <a:pPr marL="285750" indent="-285750">
              <a:lnSpc>
                <a:spcPct val="150000"/>
              </a:lnSpc>
              <a:buFont typeface="Arial" panose="020B0604020202020204" pitchFamily="34" charset="0"/>
              <a:buChar char="•"/>
            </a:pPr>
            <a:r>
              <a:rPr lang="en-US" b="1" dirty="0">
                <a:latin typeface="Arial" panose="020B0604020202020204" pitchFamily="34" charset="0"/>
                <a:cs typeface="Arial" panose="020B0604020202020204" pitchFamily="34" charset="0"/>
              </a:rPr>
              <a:t>Interest in Authenticity: </a:t>
            </a:r>
            <a:r>
              <a:rPr lang="en-US" dirty="0">
                <a:latin typeface="Arial" panose="020B0604020202020204" pitchFamily="34" charset="0"/>
                <a:cs typeface="Arial" panose="020B0604020202020204" pitchFamily="34" charset="0"/>
              </a:rPr>
              <a:t>Spurs interest in Indian goods, strengthening the local market for indigenous items.</a:t>
            </a:r>
          </a:p>
          <a:p>
            <a:pPr marL="285750" indent="-285750">
              <a:lnSpc>
                <a:spcPct val="150000"/>
              </a:lnSpc>
              <a:buFont typeface="Arial" panose="020B0604020202020204" pitchFamily="34" charset="0"/>
              <a:buChar char="•"/>
            </a:pPr>
            <a:r>
              <a:rPr lang="en-US" b="1" dirty="0">
                <a:latin typeface="Arial" panose="020B0604020202020204" pitchFamily="34" charset="0"/>
                <a:cs typeface="Arial" panose="020B0604020202020204" pitchFamily="34" charset="0"/>
              </a:rPr>
              <a:t>Educational Awareness:</a:t>
            </a:r>
            <a:r>
              <a:rPr lang="en-US" dirty="0">
                <a:latin typeface="Arial" panose="020B0604020202020204" pitchFamily="34" charset="0"/>
                <a:cs typeface="Arial" panose="020B0604020202020204" pitchFamily="34" charset="0"/>
              </a:rPr>
              <a:t> Raises awareness about locally produced items and sustainable consumption.</a:t>
            </a:r>
          </a:p>
          <a:p>
            <a:pPr marL="285750" indent="-285750">
              <a:lnSpc>
                <a:spcPct val="150000"/>
              </a:lnSpc>
              <a:buFont typeface="Arial" panose="020B0604020202020204" pitchFamily="34" charset="0"/>
              <a:buChar char="•"/>
            </a:pPr>
            <a:r>
              <a:rPr lang="en-US" b="1" dirty="0">
                <a:latin typeface="Arial" panose="020B0604020202020204" pitchFamily="34" charset="0"/>
                <a:cs typeface="Arial" panose="020B0604020202020204" pitchFamily="34" charset="0"/>
              </a:rPr>
              <a:t>Economic Growth:</a:t>
            </a:r>
            <a:r>
              <a:rPr lang="en-US" dirty="0">
                <a:latin typeface="Arial" panose="020B0604020202020204" pitchFamily="34" charset="0"/>
                <a:cs typeface="Arial" panose="020B0604020202020204" pitchFamily="34" charset="0"/>
              </a:rPr>
              <a:t> Promotes local industries, boosting the economy and domestic market.</a:t>
            </a:r>
          </a:p>
          <a:p>
            <a:pPr marL="285750" indent="-285750">
              <a:lnSpc>
                <a:spcPct val="150000"/>
              </a:lnSpc>
              <a:buFont typeface="Arial" panose="020B0604020202020204" pitchFamily="34" charset="0"/>
              <a:buChar char="•"/>
            </a:pPr>
            <a:r>
              <a:rPr lang="en-US" b="1" dirty="0">
                <a:latin typeface="Arial" panose="020B0604020202020204" pitchFamily="34" charset="0"/>
                <a:cs typeface="Arial" panose="020B0604020202020204" pitchFamily="34" charset="0"/>
              </a:rPr>
              <a:t>Deeper Heritage Connection:</a:t>
            </a:r>
            <a:r>
              <a:rPr lang="en-US" dirty="0">
                <a:latin typeface="Arial" panose="020B0604020202020204" pitchFamily="34" charset="0"/>
                <a:cs typeface="Arial" panose="020B0604020202020204" pitchFamily="34" charset="0"/>
              </a:rPr>
              <a:t> The game deepens the connection to Indian heritage and representative products.</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92114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3DD79AD-E52C-A3BF-08CF-D4695AA5800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60245" y="1140541"/>
            <a:ext cx="3603135" cy="5171917"/>
          </a:xfrm>
          <a:prstGeom prst="rect">
            <a:avLst/>
          </a:prstGeom>
        </p:spPr>
      </p:pic>
      <p:pic>
        <p:nvPicPr>
          <p:cNvPr id="3" name="Picture 2">
            <a:extLst>
              <a:ext uri="{FF2B5EF4-FFF2-40B4-BE49-F238E27FC236}">
                <a16:creationId xmlns:a16="http://schemas.microsoft.com/office/drawing/2014/main" id="{F85C2A74-BA7C-42E2-0676-11202E72795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18499" y="1140541"/>
            <a:ext cx="3597859" cy="5088908"/>
          </a:xfrm>
          <a:prstGeom prst="rect">
            <a:avLst/>
          </a:prstGeom>
        </p:spPr>
      </p:pic>
      <p:sp>
        <p:nvSpPr>
          <p:cNvPr id="5" name="TextBox 4">
            <a:extLst>
              <a:ext uri="{FF2B5EF4-FFF2-40B4-BE49-F238E27FC236}">
                <a16:creationId xmlns:a16="http://schemas.microsoft.com/office/drawing/2014/main" id="{CD997E35-B51E-CE76-5EF2-F34122A1556F}"/>
              </a:ext>
            </a:extLst>
          </p:cNvPr>
          <p:cNvSpPr txBox="1"/>
          <p:nvPr/>
        </p:nvSpPr>
        <p:spPr>
          <a:xfrm>
            <a:off x="5034063" y="545542"/>
            <a:ext cx="2831746" cy="456535"/>
          </a:xfrm>
          <a:prstGeom prst="rect">
            <a:avLst/>
          </a:prstGeom>
          <a:noFill/>
        </p:spPr>
        <p:txBody>
          <a:bodyPr wrap="square">
            <a:spAutoFit/>
          </a:bodyPr>
          <a:lstStyle/>
          <a:p>
            <a:pPr>
              <a:lnSpc>
                <a:spcPct val="150000"/>
              </a:lnSpc>
            </a:pPr>
            <a:r>
              <a:rPr lang="en-IN" b="1" dirty="0">
                <a:latin typeface="Arial" panose="020B0604020202020204" pitchFamily="34" charset="0"/>
                <a:cs typeface="Arial" panose="020B0604020202020204" pitchFamily="34" charset="0"/>
              </a:rPr>
              <a:t>Pictorial representation</a:t>
            </a:r>
          </a:p>
        </p:txBody>
      </p:sp>
    </p:spTree>
    <p:extLst>
      <p:ext uri="{BB962C8B-B14F-4D97-AF65-F5344CB8AC3E}">
        <p14:creationId xmlns:p14="http://schemas.microsoft.com/office/powerpoint/2010/main" val="18196074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007888173"/>
              </p:ext>
            </p:extLst>
          </p:nvPr>
        </p:nvGraphicFramePr>
        <p:xfrm>
          <a:off x="255492" y="268942"/>
          <a:ext cx="11672048" cy="6387352"/>
        </p:xfrm>
        <a:graphic>
          <a:graphicData uri="http://schemas.openxmlformats.org/drawingml/2006/table">
            <a:tbl>
              <a:tblPr/>
              <a:tblGrid>
                <a:gridCol w="2918012">
                  <a:extLst>
                    <a:ext uri="{9D8B030D-6E8A-4147-A177-3AD203B41FA5}">
                      <a16:colId xmlns:a16="http://schemas.microsoft.com/office/drawing/2014/main" val="1122032835"/>
                    </a:ext>
                  </a:extLst>
                </a:gridCol>
                <a:gridCol w="2918012">
                  <a:extLst>
                    <a:ext uri="{9D8B030D-6E8A-4147-A177-3AD203B41FA5}">
                      <a16:colId xmlns:a16="http://schemas.microsoft.com/office/drawing/2014/main" val="3225394754"/>
                    </a:ext>
                  </a:extLst>
                </a:gridCol>
                <a:gridCol w="2918012">
                  <a:extLst>
                    <a:ext uri="{9D8B030D-6E8A-4147-A177-3AD203B41FA5}">
                      <a16:colId xmlns:a16="http://schemas.microsoft.com/office/drawing/2014/main" val="1080507476"/>
                    </a:ext>
                  </a:extLst>
                </a:gridCol>
                <a:gridCol w="2918012">
                  <a:extLst>
                    <a:ext uri="{9D8B030D-6E8A-4147-A177-3AD203B41FA5}">
                      <a16:colId xmlns:a16="http://schemas.microsoft.com/office/drawing/2014/main" val="276517282"/>
                    </a:ext>
                  </a:extLst>
                </a:gridCol>
              </a:tblGrid>
              <a:tr h="371311">
                <a:tc gridSpan="4">
                  <a:txBody>
                    <a:bodyPr/>
                    <a:lstStyle/>
                    <a:p>
                      <a:pPr algn="ctr" fontAlgn="t"/>
                      <a:r>
                        <a:rPr lang="en-IN" sz="1400" b="1" dirty="0">
                          <a:effectLst/>
                          <a:latin typeface="Arial" panose="020B0604020202020204" pitchFamily="34" charset="0"/>
                          <a:cs typeface="Arial" panose="020B0604020202020204" pitchFamily="34" charset="0"/>
                        </a:rPr>
                        <a:t>Activity-wise break</a:t>
                      </a:r>
                      <a:endParaRPr lang="en-IN" sz="1400" dirty="0">
                        <a:effectLst/>
                        <a:latin typeface="Arial" panose="020B0604020202020204" pitchFamily="34" charset="0"/>
                        <a:cs typeface="Arial" panose="020B0604020202020204" pitchFamily="34" charset="0"/>
                      </a:endParaRPr>
                    </a:p>
                  </a:txBody>
                  <a:tcPr marL="42660" marR="42660" marT="42660" marB="426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321944260"/>
                  </a:ext>
                </a:extLst>
              </a:tr>
              <a:tr h="636555">
                <a:tc>
                  <a:txBody>
                    <a:bodyPr/>
                    <a:lstStyle/>
                    <a:p>
                      <a:pPr algn="l" fontAlgn="t"/>
                      <a:r>
                        <a:rPr lang="en-IN" sz="1400" b="1" dirty="0">
                          <a:effectLst/>
                          <a:latin typeface="Arial" panose="020B0604020202020204" pitchFamily="34" charset="0"/>
                          <a:cs typeface="Arial" panose="020B0604020202020204" pitchFamily="34" charset="0"/>
                        </a:rPr>
                        <a:t>Particular/Item</a:t>
                      </a:r>
                    </a:p>
                  </a:txBody>
                  <a:tcPr marL="42660" marR="42660" marT="42660" marB="426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t"/>
                      <a:r>
                        <a:rPr lang="en-IN" sz="1400" b="1" dirty="0">
                          <a:effectLst/>
                          <a:latin typeface="Arial" panose="020B0604020202020204" pitchFamily="34" charset="0"/>
                          <a:cs typeface="Arial" panose="020B0604020202020204" pitchFamily="34" charset="0"/>
                        </a:rPr>
                        <a:t>Total idea project cost (</a:t>
                      </a:r>
                      <a:r>
                        <a:rPr lang="en-IN" sz="1400" b="1" dirty="0" err="1">
                          <a:effectLst/>
                          <a:latin typeface="Arial" panose="020B0604020202020204" pitchFamily="34" charset="0"/>
                          <a:cs typeface="Arial" panose="020B0604020202020204" pitchFamily="34" charset="0"/>
                        </a:rPr>
                        <a:t>Rs</a:t>
                      </a:r>
                      <a:r>
                        <a:rPr lang="en-IN" sz="1400" b="1" dirty="0">
                          <a:effectLst/>
                          <a:latin typeface="Arial" panose="020B0604020202020204" pitchFamily="34" charset="0"/>
                          <a:cs typeface="Arial" panose="020B0604020202020204" pitchFamily="34" charset="0"/>
                        </a:rPr>
                        <a:t>. In lakh)</a:t>
                      </a:r>
                    </a:p>
                  </a:txBody>
                  <a:tcPr marL="42660" marR="42660" marT="42660" marB="426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t"/>
                      <a:r>
                        <a:rPr lang="en-IN" sz="1400" b="1" dirty="0">
                          <a:effectLst/>
                          <a:latin typeface="Arial" panose="020B0604020202020204" pitchFamily="34" charset="0"/>
                          <a:cs typeface="Arial" panose="020B0604020202020204" pitchFamily="34" charset="0"/>
                        </a:rPr>
                        <a:t>Amount GOI assistance (</a:t>
                      </a:r>
                      <a:r>
                        <a:rPr lang="en-IN" sz="1400" b="1" dirty="0" err="1">
                          <a:effectLst/>
                          <a:latin typeface="Arial" panose="020B0604020202020204" pitchFamily="34" charset="0"/>
                          <a:cs typeface="Arial" panose="020B0604020202020204" pitchFamily="34" charset="0"/>
                        </a:rPr>
                        <a:t>Rs</a:t>
                      </a:r>
                      <a:r>
                        <a:rPr lang="en-IN" sz="1400" b="1" dirty="0">
                          <a:effectLst/>
                          <a:latin typeface="Arial" panose="020B0604020202020204" pitchFamily="34" charset="0"/>
                          <a:cs typeface="Arial" panose="020B0604020202020204" pitchFamily="34" charset="0"/>
                        </a:rPr>
                        <a:t>. In lakh)</a:t>
                      </a:r>
                    </a:p>
                  </a:txBody>
                  <a:tcPr marL="42660" marR="42660" marT="42660" marB="426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t"/>
                      <a:r>
                        <a:rPr lang="en-IN" sz="1400" b="1" dirty="0">
                          <a:effectLst/>
                          <a:latin typeface="Arial" panose="020B0604020202020204" pitchFamily="34" charset="0"/>
                          <a:cs typeface="Arial" panose="020B0604020202020204" pitchFamily="34" charset="0"/>
                        </a:rPr>
                        <a:t>Incubatee share (</a:t>
                      </a:r>
                      <a:r>
                        <a:rPr lang="en-IN" sz="1400" b="1" dirty="0" err="1">
                          <a:effectLst/>
                          <a:latin typeface="Arial" panose="020B0604020202020204" pitchFamily="34" charset="0"/>
                          <a:cs typeface="Arial" panose="020B0604020202020204" pitchFamily="34" charset="0"/>
                        </a:rPr>
                        <a:t>Rs</a:t>
                      </a:r>
                      <a:r>
                        <a:rPr lang="en-IN" sz="1400" b="1" dirty="0">
                          <a:effectLst/>
                          <a:latin typeface="Arial" panose="020B0604020202020204" pitchFamily="34" charset="0"/>
                          <a:cs typeface="Arial" panose="020B0604020202020204" pitchFamily="34" charset="0"/>
                        </a:rPr>
                        <a:t>. In lakh)</a:t>
                      </a:r>
                    </a:p>
                    <a:p>
                      <a:pPr algn="l" fontAlgn="t"/>
                      <a:r>
                        <a:rPr lang="en-IN" sz="1400" b="1" dirty="0">
                          <a:solidFill>
                            <a:srgbClr val="FF0000"/>
                          </a:solidFill>
                          <a:effectLst/>
                          <a:latin typeface="Arial" panose="020B0604020202020204" pitchFamily="34" charset="0"/>
                          <a:cs typeface="Arial" panose="020B0604020202020204" pitchFamily="34" charset="0"/>
                        </a:rPr>
                        <a:t>(Not for Students)</a:t>
                      </a:r>
                    </a:p>
                  </a:txBody>
                  <a:tcPr marL="42660" marR="42660" marT="42660" marB="426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737818086"/>
                  </a:ext>
                </a:extLst>
              </a:tr>
              <a:tr h="2553187">
                <a:tc>
                  <a:txBody>
                    <a:bodyPr/>
                    <a:lstStyle/>
                    <a:p>
                      <a:pPr fontAlgn="t"/>
                      <a:r>
                        <a:rPr lang="en-IN" sz="1400" dirty="0">
                          <a:effectLst/>
                          <a:latin typeface="Arial" panose="020B0604020202020204" pitchFamily="34" charset="0"/>
                          <a:cs typeface="Arial" panose="020B0604020202020204" pitchFamily="34" charset="0"/>
                        </a:rPr>
                        <a:t>Technology related Expenditure towards machine usage charges etc., Electricity charges, Procurement of raw material , testing/Calibration charges, other charges essential for development of idea</a:t>
                      </a:r>
                      <a:br>
                        <a:rPr lang="en-IN" sz="1400" dirty="0">
                          <a:effectLst/>
                          <a:latin typeface="Arial" panose="020B0604020202020204" pitchFamily="34" charset="0"/>
                          <a:cs typeface="Arial" panose="020B0604020202020204" pitchFamily="34" charset="0"/>
                        </a:rPr>
                      </a:br>
                      <a:r>
                        <a:rPr lang="en-IN" sz="1400" b="1" dirty="0">
                          <a:effectLst/>
                          <a:latin typeface="Arial" panose="020B0604020202020204" pitchFamily="34" charset="0"/>
                          <a:cs typeface="Arial" panose="020B0604020202020204" pitchFamily="34" charset="0"/>
                        </a:rPr>
                        <a:t>Max (10.00) lakh.</a:t>
                      </a:r>
                      <a:endParaRPr lang="en-IN" sz="1400" dirty="0">
                        <a:effectLst/>
                        <a:latin typeface="Arial" panose="020B0604020202020204" pitchFamily="34" charset="0"/>
                        <a:cs typeface="Arial" panose="020B0604020202020204" pitchFamily="34" charset="0"/>
                      </a:endParaRPr>
                    </a:p>
                  </a:txBody>
                  <a:tcPr marL="42660" marR="42660" marT="42660" marB="426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t"/>
                      <a:r>
                        <a:rPr lang="en-IN" sz="1400" dirty="0">
                          <a:effectLst/>
                          <a:latin typeface="Arial" panose="020B0604020202020204" pitchFamily="34" charset="0"/>
                          <a:cs typeface="Arial" panose="020B0604020202020204" pitchFamily="34" charset="0"/>
                        </a:rPr>
                        <a:t>4,50,000</a:t>
                      </a:r>
                    </a:p>
                  </a:txBody>
                  <a:tcPr marL="42660" marR="42660" marT="42660" marB="426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t"/>
                      <a:r>
                        <a:rPr lang="en-IN" sz="1400" dirty="0">
                          <a:effectLst/>
                          <a:latin typeface="Arial" panose="020B0604020202020204" pitchFamily="34" charset="0"/>
                          <a:cs typeface="Arial" panose="020B0604020202020204" pitchFamily="34" charset="0"/>
                        </a:rPr>
                        <a:t>4,50,000</a:t>
                      </a:r>
                    </a:p>
                  </a:txBody>
                  <a:tcPr marL="42660" marR="42660" marT="42660" marB="426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t"/>
                      <a:endParaRPr lang="en-IN" sz="1400" dirty="0">
                        <a:effectLst/>
                        <a:latin typeface="Arial" panose="020B0604020202020204" pitchFamily="34" charset="0"/>
                        <a:cs typeface="Arial" panose="020B0604020202020204" pitchFamily="34" charset="0"/>
                      </a:endParaRPr>
                    </a:p>
                  </a:txBody>
                  <a:tcPr marL="42660" marR="42660" marT="42660" marB="426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790797497"/>
                  </a:ext>
                </a:extLst>
              </a:tr>
              <a:tr h="1006546">
                <a:tc>
                  <a:txBody>
                    <a:bodyPr/>
                    <a:lstStyle/>
                    <a:p>
                      <a:pPr fontAlgn="t"/>
                      <a:r>
                        <a:rPr lang="en-IN" sz="1400">
                          <a:effectLst/>
                          <a:latin typeface="Arial" panose="020B0604020202020204" pitchFamily="34" charset="0"/>
                          <a:cs typeface="Arial" panose="020B0604020202020204" pitchFamily="34" charset="0"/>
                        </a:rPr>
                        <a:t>Charges for mentor/handholding supporting team</a:t>
                      </a:r>
                      <a:br>
                        <a:rPr lang="en-IN" sz="1400">
                          <a:effectLst/>
                          <a:latin typeface="Arial" panose="020B0604020202020204" pitchFamily="34" charset="0"/>
                          <a:cs typeface="Arial" panose="020B0604020202020204" pitchFamily="34" charset="0"/>
                        </a:rPr>
                      </a:br>
                      <a:r>
                        <a:rPr lang="en-IN" sz="1400" b="1">
                          <a:effectLst/>
                          <a:latin typeface="Arial" panose="020B0604020202020204" pitchFamily="34" charset="0"/>
                          <a:cs typeface="Arial" panose="020B0604020202020204" pitchFamily="34" charset="0"/>
                        </a:rPr>
                        <a:t>Max (3.00) lakh.</a:t>
                      </a:r>
                      <a:endParaRPr lang="en-IN" sz="1400">
                        <a:effectLst/>
                        <a:latin typeface="Arial" panose="020B0604020202020204" pitchFamily="34" charset="0"/>
                        <a:cs typeface="Arial" panose="020B0604020202020204" pitchFamily="34" charset="0"/>
                      </a:endParaRPr>
                    </a:p>
                  </a:txBody>
                  <a:tcPr marL="42660" marR="42660" marT="42660" marB="426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t"/>
                      <a:r>
                        <a:rPr lang="en-IN" sz="1400" dirty="0">
                          <a:effectLst/>
                          <a:latin typeface="Arial" panose="020B0604020202020204" pitchFamily="34" charset="0"/>
                          <a:cs typeface="Arial" panose="020B0604020202020204" pitchFamily="34" charset="0"/>
                        </a:rPr>
                        <a:t>2,00,000</a:t>
                      </a:r>
                    </a:p>
                  </a:txBody>
                  <a:tcPr marL="42660" marR="42660" marT="42660" marB="426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t"/>
                      <a:r>
                        <a:rPr lang="en-IN" sz="1400" dirty="0">
                          <a:effectLst/>
                          <a:latin typeface="Arial" panose="020B0604020202020204" pitchFamily="34" charset="0"/>
                          <a:cs typeface="Arial" panose="020B0604020202020204" pitchFamily="34" charset="0"/>
                        </a:rPr>
                        <a:t>2,00,000</a:t>
                      </a:r>
                    </a:p>
                  </a:txBody>
                  <a:tcPr marL="42660" marR="42660" marT="42660" marB="426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t"/>
                      <a:endParaRPr lang="en-IN" sz="1400">
                        <a:effectLst/>
                        <a:latin typeface="Arial" panose="020B0604020202020204" pitchFamily="34" charset="0"/>
                        <a:cs typeface="Arial" panose="020B0604020202020204" pitchFamily="34" charset="0"/>
                      </a:endParaRPr>
                    </a:p>
                  </a:txBody>
                  <a:tcPr marL="42660" marR="42660" marT="42660" marB="426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112165078"/>
                  </a:ext>
                </a:extLst>
              </a:tr>
              <a:tr h="1448442">
                <a:tc>
                  <a:txBody>
                    <a:bodyPr/>
                    <a:lstStyle/>
                    <a:p>
                      <a:pPr fontAlgn="t"/>
                      <a:r>
                        <a:rPr lang="en-IN" sz="1400">
                          <a:effectLst/>
                          <a:latin typeface="Arial" panose="020B0604020202020204" pitchFamily="34" charset="0"/>
                          <a:cs typeface="Arial" panose="020B0604020202020204" pitchFamily="34" charset="0"/>
                        </a:rPr>
                        <a:t>Travelling Expenses or any other item not coverd as above may be allowed as per need for development of the idea</a:t>
                      </a:r>
                      <a:br>
                        <a:rPr lang="en-IN" sz="1400">
                          <a:effectLst/>
                          <a:latin typeface="Arial" panose="020B0604020202020204" pitchFamily="34" charset="0"/>
                          <a:cs typeface="Arial" panose="020B0604020202020204" pitchFamily="34" charset="0"/>
                        </a:rPr>
                      </a:br>
                      <a:r>
                        <a:rPr lang="en-IN" sz="1400" b="1">
                          <a:effectLst/>
                          <a:latin typeface="Arial" panose="020B0604020202020204" pitchFamily="34" charset="0"/>
                          <a:cs typeface="Arial" panose="020B0604020202020204" pitchFamily="34" charset="0"/>
                        </a:rPr>
                        <a:t>Max ( 2.00) lakh.</a:t>
                      </a:r>
                      <a:endParaRPr lang="en-IN" sz="1400">
                        <a:effectLst/>
                        <a:latin typeface="Arial" panose="020B0604020202020204" pitchFamily="34" charset="0"/>
                        <a:cs typeface="Arial" panose="020B0604020202020204" pitchFamily="34" charset="0"/>
                      </a:endParaRPr>
                    </a:p>
                  </a:txBody>
                  <a:tcPr marL="42660" marR="42660" marT="42660" marB="426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t"/>
                      <a:r>
                        <a:rPr lang="en-IN" sz="1400" dirty="0">
                          <a:effectLst/>
                          <a:latin typeface="Arial" panose="020B0604020202020204" pitchFamily="34" charset="0"/>
                          <a:cs typeface="Arial" panose="020B0604020202020204" pitchFamily="34" charset="0"/>
                        </a:rPr>
                        <a:t>1,20,000</a:t>
                      </a:r>
                    </a:p>
                  </a:txBody>
                  <a:tcPr marL="42660" marR="42660" marT="42660" marB="426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t"/>
                      <a:r>
                        <a:rPr lang="en-IN" sz="1400" dirty="0">
                          <a:effectLst/>
                          <a:latin typeface="Arial" panose="020B0604020202020204" pitchFamily="34" charset="0"/>
                          <a:cs typeface="Arial" panose="020B0604020202020204" pitchFamily="34" charset="0"/>
                        </a:rPr>
                        <a:t>1,20,000</a:t>
                      </a:r>
                    </a:p>
                  </a:txBody>
                  <a:tcPr marL="42660" marR="42660" marT="42660" marB="426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t"/>
                      <a:endParaRPr lang="en-IN" sz="1400" dirty="0">
                        <a:effectLst/>
                        <a:latin typeface="Arial" panose="020B0604020202020204" pitchFamily="34" charset="0"/>
                        <a:cs typeface="Arial" panose="020B0604020202020204" pitchFamily="34" charset="0"/>
                      </a:endParaRPr>
                    </a:p>
                  </a:txBody>
                  <a:tcPr marL="42660" marR="42660" marT="42660" marB="426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441213883"/>
                  </a:ext>
                </a:extLst>
              </a:tr>
              <a:tr h="371311">
                <a:tc>
                  <a:txBody>
                    <a:bodyPr/>
                    <a:lstStyle/>
                    <a:p>
                      <a:pPr algn="r" fontAlgn="t"/>
                      <a:r>
                        <a:rPr lang="en-IN" sz="1400" b="1">
                          <a:effectLst/>
                          <a:latin typeface="Arial" panose="020B0604020202020204" pitchFamily="34" charset="0"/>
                          <a:cs typeface="Arial" panose="020B0604020202020204" pitchFamily="34" charset="0"/>
                        </a:rPr>
                        <a:t>Total</a:t>
                      </a:r>
                      <a:endParaRPr lang="en-IN" sz="1400">
                        <a:effectLst/>
                        <a:latin typeface="Arial" panose="020B0604020202020204" pitchFamily="34" charset="0"/>
                        <a:cs typeface="Arial" panose="020B0604020202020204" pitchFamily="34" charset="0"/>
                      </a:endParaRPr>
                    </a:p>
                  </a:txBody>
                  <a:tcPr marL="42660" marR="42660" marT="42660" marB="426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t"/>
                      <a:r>
                        <a:rPr lang="en-IN" sz="1400" dirty="0">
                          <a:effectLst/>
                          <a:latin typeface="Arial" panose="020B0604020202020204" pitchFamily="34" charset="0"/>
                          <a:cs typeface="Arial" panose="020B0604020202020204" pitchFamily="34" charset="0"/>
                        </a:rPr>
                        <a:t>7,70,000</a:t>
                      </a:r>
                    </a:p>
                  </a:txBody>
                  <a:tcPr marL="42660" marR="42660" marT="42660" marB="426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t"/>
                      <a:r>
                        <a:rPr lang="en-IN" sz="1400" dirty="0">
                          <a:effectLst/>
                          <a:latin typeface="Arial" panose="020B0604020202020204" pitchFamily="34" charset="0"/>
                          <a:cs typeface="Arial" panose="020B0604020202020204" pitchFamily="34" charset="0"/>
                        </a:rPr>
                        <a:t>7,70,000</a:t>
                      </a:r>
                    </a:p>
                  </a:txBody>
                  <a:tcPr marL="42660" marR="42660" marT="42660" marB="426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t"/>
                      <a:endParaRPr lang="en-IN" sz="1400" dirty="0">
                        <a:effectLst/>
                        <a:latin typeface="Arial" panose="020B0604020202020204" pitchFamily="34" charset="0"/>
                        <a:cs typeface="Arial" panose="020B0604020202020204" pitchFamily="34" charset="0"/>
                      </a:endParaRPr>
                    </a:p>
                  </a:txBody>
                  <a:tcPr marL="42660" marR="42660" marT="42660" marB="426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413675681"/>
                  </a:ext>
                </a:extLst>
              </a:tr>
            </a:tbl>
          </a:graphicData>
        </a:graphic>
      </p:graphicFrame>
    </p:spTree>
    <p:extLst>
      <p:ext uri="{BB962C8B-B14F-4D97-AF65-F5344CB8AC3E}">
        <p14:creationId xmlns:p14="http://schemas.microsoft.com/office/powerpoint/2010/main" val="34771971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226985" y="420453"/>
            <a:ext cx="3924985" cy="369332"/>
          </a:xfrm>
          <a:prstGeom prst="rect">
            <a:avLst/>
          </a:prstGeom>
        </p:spPr>
        <p:txBody>
          <a:bodyPr wrap="none">
            <a:spAutoFit/>
          </a:bodyPr>
          <a:lstStyle/>
          <a:p>
            <a:r>
              <a:rPr lang="en-IN" b="1" dirty="0"/>
              <a:t>Solve any existing problems for MSMEs</a:t>
            </a:r>
          </a:p>
        </p:txBody>
      </p:sp>
      <p:pic>
        <p:nvPicPr>
          <p:cNvPr id="4" name="Picture 3"/>
          <p:cNvPicPr>
            <a:picLocks noChangeAspect="1"/>
          </p:cNvPicPr>
          <p:nvPr/>
        </p:nvPicPr>
        <p:blipFill>
          <a:blip r:embed="rId2"/>
          <a:stretch>
            <a:fillRect/>
          </a:stretch>
        </p:blipFill>
        <p:spPr>
          <a:xfrm>
            <a:off x="0" y="-5954"/>
            <a:ext cx="12192000" cy="6863953"/>
          </a:xfrm>
          <a:prstGeom prst="rect">
            <a:avLst/>
          </a:prstGeom>
        </p:spPr>
      </p:pic>
    </p:spTree>
    <p:extLst>
      <p:ext uri="{BB962C8B-B14F-4D97-AF65-F5344CB8AC3E}">
        <p14:creationId xmlns:p14="http://schemas.microsoft.com/office/powerpoint/2010/main" val="38138498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2148</TotalTime>
  <Words>1335</Words>
  <Application>Microsoft Office PowerPoint</Application>
  <PresentationFormat>Widescreen</PresentationFormat>
  <Paragraphs>119</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Calibri (Body)</vt:lpstr>
      <vt:lpstr>Calibri 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MEHA MURALI</cp:lastModifiedBy>
  <cp:revision>32</cp:revision>
  <cp:lastPrinted>2022-11-25T07:04:32Z</cp:lastPrinted>
  <dcterms:created xsi:type="dcterms:W3CDTF">2022-11-25T06:39:34Z</dcterms:created>
  <dcterms:modified xsi:type="dcterms:W3CDTF">2023-09-02T13:40:55Z</dcterms:modified>
</cp:coreProperties>
</file>