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4" r:id="rId2"/>
    <p:sldId id="282" r:id="rId3"/>
    <p:sldId id="256" r:id="rId4"/>
    <p:sldId id="257" r:id="rId5"/>
    <p:sldId id="258" r:id="rId6"/>
    <p:sldId id="259" r:id="rId7"/>
    <p:sldId id="284" r:id="rId8"/>
    <p:sldId id="285" r:id="rId9"/>
    <p:sldId id="283" r:id="rId10"/>
    <p:sldId id="286" r:id="rId11"/>
    <p:sldId id="287" r:id="rId12"/>
    <p:sldId id="289" r:id="rId13"/>
    <p:sldId id="260" r:id="rId14"/>
    <p:sldId id="261" r:id="rId15"/>
    <p:sldId id="262" r:id="rId16"/>
    <p:sldId id="263" r:id="rId17"/>
    <p:sldId id="290" r:id="rId18"/>
    <p:sldId id="291" r:id="rId19"/>
    <p:sldId id="292" r:id="rId20"/>
    <p:sldId id="293" r:id="rId21"/>
    <p:sldId id="274" r:id="rId22"/>
    <p:sldId id="275" r:id="rId23"/>
    <p:sldId id="276"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F9C087-ACA4-48E7-B4BC-529E5C491E56}" v="37" dt="2023-08-30T10:29:37.724"/>
    <p1510:client id="{6DCA775C-3CFE-4FD4-A89E-88A784AB3B8D}" v="52" dt="2023-08-31T06:58:25.3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94660"/>
  </p:normalViewPr>
  <p:slideViewPr>
    <p:cSldViewPr snapToGrid="0">
      <p:cViewPr varScale="1">
        <p:scale>
          <a:sx n="78" d="100"/>
          <a:sy n="78" d="100"/>
        </p:scale>
        <p:origin x="802"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1AD2C-89D1-4371-A149-5EDFBEC8E0E2}" type="datetimeFigureOut">
              <a:rPr lang="en-IN" smtClean="0"/>
              <a:t>31-08-2023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26F09-A1A2-469A-A808-49F3CC00E8FD}" type="slidenum">
              <a:rPr lang="en-IN" smtClean="0"/>
              <a:t>‹#›</a:t>
            </a:fld>
            <a:endParaRPr lang="en-IN"/>
          </a:p>
        </p:txBody>
      </p:sp>
    </p:spTree>
    <p:extLst>
      <p:ext uri="{BB962C8B-B14F-4D97-AF65-F5344CB8AC3E}">
        <p14:creationId xmlns:p14="http://schemas.microsoft.com/office/powerpoint/2010/main" val="318111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D626F09-A1A2-469A-A808-49F3CC00E8FD}" type="slidenum">
              <a:rPr lang="en-IN" smtClean="0"/>
              <a:t>1</a:t>
            </a:fld>
            <a:endParaRPr lang="en-IN"/>
          </a:p>
        </p:txBody>
      </p:sp>
    </p:spTree>
    <p:extLst>
      <p:ext uri="{BB962C8B-B14F-4D97-AF65-F5344CB8AC3E}">
        <p14:creationId xmlns:p14="http://schemas.microsoft.com/office/powerpoint/2010/main" val="2415237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626F09-A1A2-469A-A808-49F3CC00E8FD}" type="slidenum">
              <a:rPr lang="en-IN" smtClean="0"/>
              <a:t>25</a:t>
            </a:fld>
            <a:endParaRPr lang="en-IN"/>
          </a:p>
        </p:txBody>
      </p:sp>
    </p:spTree>
    <p:extLst>
      <p:ext uri="{BB962C8B-B14F-4D97-AF65-F5344CB8AC3E}">
        <p14:creationId xmlns:p14="http://schemas.microsoft.com/office/powerpoint/2010/main" val="170034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2412281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17246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3282129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1823354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1124281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3723180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3662569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114071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17265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2390791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2F9D4E-34CE-4EB2-9706-60F5F547E563}" type="datetimeFigureOut">
              <a:rPr lang="en-IN" smtClean="0"/>
              <a:pPr/>
              <a:t>31-08-2023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C1321E-FAFB-425E-854F-99B61BEB73FB}" type="slidenum">
              <a:rPr lang="en-IN" smtClean="0"/>
              <a:pPr/>
              <a:t>‹#›</a:t>
            </a:fld>
            <a:endParaRPr lang="en-IN"/>
          </a:p>
        </p:txBody>
      </p:sp>
    </p:spTree>
    <p:extLst>
      <p:ext uri="{BB962C8B-B14F-4D97-AF65-F5344CB8AC3E}">
        <p14:creationId xmlns:p14="http://schemas.microsoft.com/office/powerpoint/2010/main" val="246650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2F9D4E-34CE-4EB2-9706-60F5F547E563}" type="datetimeFigureOut">
              <a:rPr lang="en-IN" smtClean="0"/>
              <a:pPr/>
              <a:t>31-08-2023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C1321E-FAFB-425E-854F-99B61BEB73FB}" type="slidenum">
              <a:rPr lang="en-IN" smtClean="0"/>
              <a:pPr/>
              <a:t>‹#›</a:t>
            </a:fld>
            <a:endParaRPr lang="en-IN"/>
          </a:p>
        </p:txBody>
      </p:sp>
    </p:spTree>
    <p:extLst>
      <p:ext uri="{BB962C8B-B14F-4D97-AF65-F5344CB8AC3E}">
        <p14:creationId xmlns:p14="http://schemas.microsoft.com/office/powerpoint/2010/main" val="3765055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mailto:nithyaj@ksrct.ac.in"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519518" y="537882"/>
            <a:ext cx="9278469" cy="6024283"/>
          </a:xfrm>
          <a:prstGeom prst="rect">
            <a:avLst/>
          </a:prstGeom>
        </p:spPr>
      </p:pic>
    </p:spTree>
    <p:extLst>
      <p:ext uri="{BB962C8B-B14F-4D97-AF65-F5344CB8AC3E}">
        <p14:creationId xmlns:p14="http://schemas.microsoft.com/office/powerpoint/2010/main" val="2420394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50593" y="2047965"/>
            <a:ext cx="8324203" cy="922126"/>
          </a:xfrm>
          <a:prstGeom prst="rect">
            <a:avLst/>
          </a:prstGeom>
          <a:noFill/>
        </p:spPr>
        <p:txBody>
          <a:bodyPr wrap="square" lIns="92516" tIns="46259" rIns="92516" bIns="46259" rtlCol="0">
            <a:spAutoFit/>
          </a:bodyPr>
          <a:lstStyle/>
          <a:p>
            <a:pPr marL="289106" indent="-289106">
              <a:buFont typeface="Wingdings" pitchFamily="2" charset="2"/>
              <a:buChar char="Ø"/>
            </a:pPr>
            <a:r>
              <a:rPr lang="en-US" sz="1795" dirty="0">
                <a:latin typeface="Calibri" pitchFamily="34" charset="0"/>
                <a:cs typeface="Calibri" pitchFamily="34" charset="0"/>
              </a:rPr>
              <a:t>I assure that the Ideas which is not already exist </a:t>
            </a:r>
          </a:p>
          <a:p>
            <a:pPr marL="289106" indent="-289106">
              <a:buFont typeface="Wingdings" pitchFamily="2" charset="2"/>
              <a:buChar char="Ø"/>
            </a:pPr>
            <a:r>
              <a:rPr lang="en-US" sz="1795" dirty="0">
                <a:latin typeface="Calibri" pitchFamily="34" charset="0"/>
                <a:cs typeface="Calibri" pitchFamily="34" charset="0"/>
              </a:rPr>
              <a:t>I assure that the Ideas is not  infringement/theft </a:t>
            </a:r>
          </a:p>
          <a:p>
            <a:pPr marL="289106" indent="-289106">
              <a:buFont typeface="Wingdings" pitchFamily="2" charset="2"/>
              <a:buChar char="Ø"/>
            </a:pPr>
            <a:r>
              <a:rPr lang="en-US" sz="1795" dirty="0">
                <a:latin typeface="Calibri" pitchFamily="34" charset="0"/>
                <a:cs typeface="Calibri" pitchFamily="34" charset="0"/>
              </a:rPr>
              <a:t>I assure that the Ideas which are not against established scientific theories/norms</a:t>
            </a:r>
          </a:p>
        </p:txBody>
      </p:sp>
      <p:sp>
        <p:nvSpPr>
          <p:cNvPr id="2" name="TextBox 1"/>
          <p:cNvSpPr txBox="1"/>
          <p:nvPr/>
        </p:nvSpPr>
        <p:spPr>
          <a:xfrm>
            <a:off x="4418506" y="928673"/>
            <a:ext cx="2722870" cy="523114"/>
          </a:xfrm>
          <a:prstGeom prst="rect">
            <a:avLst/>
          </a:prstGeom>
          <a:noFill/>
        </p:spPr>
        <p:txBody>
          <a:bodyPr wrap="square" lIns="92516" tIns="46259" rIns="92516" bIns="46259" rtlCol="0">
            <a:spAutoFit/>
          </a:bodyPr>
          <a:lstStyle/>
          <a:p>
            <a:pPr algn="ctr"/>
            <a:r>
              <a:rPr lang="en-US" sz="2792" b="1" u="sng" dirty="0">
                <a:latin typeface="Calibri" pitchFamily="34" charset="0"/>
                <a:cs typeface="Calibri" pitchFamily="34" charset="0"/>
              </a:rPr>
              <a:t>Assurance</a:t>
            </a:r>
          </a:p>
        </p:txBody>
      </p:sp>
      <p:sp>
        <p:nvSpPr>
          <p:cNvPr id="3" name="TextBox 2"/>
          <p:cNvSpPr txBox="1"/>
          <p:nvPr/>
        </p:nvSpPr>
        <p:spPr>
          <a:xfrm>
            <a:off x="8637005" y="4212351"/>
            <a:ext cx="1633721" cy="645880"/>
          </a:xfrm>
          <a:prstGeom prst="rect">
            <a:avLst/>
          </a:prstGeom>
          <a:noFill/>
        </p:spPr>
        <p:txBody>
          <a:bodyPr wrap="square" lIns="92516" tIns="46259" rIns="92516" bIns="46259" rtlCol="0">
            <a:spAutoFit/>
          </a:bodyPr>
          <a:lstStyle/>
          <a:p>
            <a:r>
              <a:rPr lang="en-US" sz="1795" b="1" dirty="0">
                <a:latin typeface="Calibri" pitchFamily="34" charset="0"/>
                <a:cs typeface="Calibri" pitchFamily="34" charset="0"/>
              </a:rPr>
              <a:t>    SIGNATURE</a:t>
            </a:r>
          </a:p>
          <a:p>
            <a:r>
              <a:rPr lang="en-US" sz="1795" dirty="0">
                <a:latin typeface="Calibri" pitchFamily="34" charset="0"/>
                <a:cs typeface="Calibri" pitchFamily="34" charset="0"/>
              </a:rPr>
              <a:t>        Anisa F</a:t>
            </a:r>
          </a:p>
        </p:txBody>
      </p:sp>
      <p:sp>
        <p:nvSpPr>
          <p:cNvPr id="5" name="Rectangle 4"/>
          <p:cNvSpPr>
            <a:spLocks/>
          </p:cNvSpPr>
          <p:nvPr/>
        </p:nvSpPr>
        <p:spPr>
          <a:xfrm>
            <a:off x="349624" y="215153"/>
            <a:ext cx="11483788" cy="6348412"/>
          </a:xfrm>
          <a:prstGeom prst="rect">
            <a:avLst/>
          </a:prstGeom>
          <a:no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2516" tIns="46259" rIns="92516" bIns="46259" rtlCol="0" anchor="ctr"/>
          <a:lstStyle/>
          <a:p>
            <a:pPr algn="ctr"/>
            <a:endParaRPr lang="en-IN" sz="798" dirty="0"/>
          </a:p>
        </p:txBody>
      </p:sp>
    </p:spTree>
    <p:extLst>
      <p:ext uri="{BB962C8B-B14F-4D97-AF65-F5344CB8AC3E}">
        <p14:creationId xmlns:p14="http://schemas.microsoft.com/office/powerpoint/2010/main" val="3168881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10473" y="2424064"/>
            <a:ext cx="9598910" cy="707886"/>
          </a:xfrm>
          <a:prstGeom prst="rect">
            <a:avLst/>
          </a:prstGeom>
        </p:spPr>
        <p:txBody>
          <a:bodyPr wrap="none">
            <a:spAutoFit/>
          </a:bodyPr>
          <a:lstStyle/>
          <a:p>
            <a:r>
              <a:rPr lang="en-IN" sz="4000" b="1" dirty="0">
                <a:solidFill>
                  <a:srgbClr val="002060"/>
                </a:solidFill>
                <a:latin typeface="Arial" panose="020B0604020202020204" pitchFamily="34" charset="0"/>
                <a:cs typeface="Arial" panose="020B0604020202020204" pitchFamily="34" charset="0"/>
              </a:rPr>
              <a:t>1. Details of </a:t>
            </a:r>
            <a:r>
              <a:rPr lang="en-IN" sz="4000" b="1" dirty="0">
                <a:solidFill>
                  <a:srgbClr val="002060"/>
                </a:solidFill>
              </a:rPr>
              <a:t>Women Innovators/</a:t>
            </a:r>
            <a:r>
              <a:rPr lang="en-IN" sz="4000" b="1" dirty="0">
                <a:solidFill>
                  <a:srgbClr val="002060"/>
                </a:solidFill>
                <a:latin typeface="Arial" panose="020B0604020202020204" pitchFamily="34" charset="0"/>
                <a:cs typeface="Arial" panose="020B0604020202020204" pitchFamily="34" charset="0"/>
              </a:rPr>
              <a:t>Incubate</a:t>
            </a:r>
          </a:p>
        </p:txBody>
      </p:sp>
    </p:spTree>
    <p:extLst>
      <p:ext uri="{BB962C8B-B14F-4D97-AF65-F5344CB8AC3E}">
        <p14:creationId xmlns:p14="http://schemas.microsoft.com/office/powerpoint/2010/main" val="929572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1613" y="560438"/>
            <a:ext cx="11021962" cy="5217326"/>
          </a:xfrm>
          <a:prstGeom prst="rect">
            <a:avLst/>
          </a:prstGeom>
        </p:spPr>
        <p:txBody>
          <a:bodyPr wrap="square">
            <a:spAutoFit/>
          </a:bodyPr>
          <a:lstStyle/>
          <a:p>
            <a:pPr>
              <a:lnSpc>
                <a:spcPct val="150000"/>
              </a:lnSpc>
            </a:pPr>
            <a:r>
              <a:rPr lang="en-IN" sz="1600" dirty="0">
                <a:latin typeface="Arial" panose="020B0604020202020204" pitchFamily="34" charset="0"/>
                <a:cs typeface="Arial" panose="020B0604020202020204" pitchFamily="34" charset="0"/>
              </a:rPr>
              <a:t>1.1 Details of the Host Institute (HI) : </a:t>
            </a:r>
            <a:r>
              <a:rPr lang="en-IN" sz="1600" b="1" dirty="0">
                <a:latin typeface="Arial" panose="020B0604020202020204" pitchFamily="34" charset="0"/>
                <a:cs typeface="Arial" panose="020B0604020202020204" pitchFamily="34" charset="0"/>
              </a:rPr>
              <a:t>K.S.RANGASAMY COLLEGE OF TECHNOLOGY , KSR </a:t>
            </a:r>
            <a:r>
              <a:rPr lang="en-IN" sz="1600" b="1" dirty="0" err="1">
                <a:latin typeface="Arial" panose="020B0604020202020204" pitchFamily="34" charset="0"/>
                <a:cs typeface="Arial" panose="020B0604020202020204" pitchFamily="34" charset="0"/>
              </a:rPr>
              <a:t>Kalvi</a:t>
            </a:r>
            <a:r>
              <a:rPr lang="en-IN" sz="1600" b="1" dirty="0">
                <a:latin typeface="Arial" panose="020B0604020202020204" pitchFamily="34" charset="0"/>
                <a:cs typeface="Arial" panose="020B0604020202020204" pitchFamily="34" charset="0"/>
              </a:rPr>
              <a:t> Nagar, </a:t>
            </a:r>
            <a:r>
              <a:rPr lang="en-IN" sz="1600" b="1" dirty="0" err="1">
                <a:latin typeface="Arial" panose="020B0604020202020204" pitchFamily="34" charset="0"/>
                <a:cs typeface="Arial" panose="020B0604020202020204" pitchFamily="34" charset="0"/>
              </a:rPr>
              <a:t>Tiruchengode</a:t>
            </a:r>
            <a:r>
              <a:rPr lang="en-IN" sz="1600" b="1" dirty="0">
                <a:latin typeface="Arial" panose="020B0604020202020204" pitchFamily="34" charset="0"/>
                <a:cs typeface="Arial" panose="020B0604020202020204" pitchFamily="34" charset="0"/>
              </a:rPr>
              <a:t>, </a:t>
            </a:r>
            <a:r>
              <a:rPr lang="en-IN" sz="1600" b="1" dirty="0" err="1">
                <a:latin typeface="Arial" panose="020B0604020202020204" pitchFamily="34" charset="0"/>
                <a:cs typeface="Arial" panose="020B0604020202020204" pitchFamily="34" charset="0"/>
              </a:rPr>
              <a:t>Namakkal</a:t>
            </a:r>
            <a:r>
              <a:rPr lang="en-IN" sz="1600" b="1" dirty="0">
                <a:latin typeface="Arial" panose="020B0604020202020204" pitchFamily="34" charset="0"/>
                <a:cs typeface="Arial" panose="020B0604020202020204" pitchFamily="34" charset="0"/>
              </a:rPr>
              <a:t> District, Tamil Nadu, India – 637215</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1.2 Name of the Business Incubator (BI): </a:t>
            </a:r>
            <a:r>
              <a:rPr lang="en-IN" sz="1600" b="1" dirty="0" err="1">
                <a:latin typeface="Arial" panose="020B0604020202020204" pitchFamily="34" charset="0"/>
                <a:cs typeface="Arial" panose="020B0604020202020204" pitchFamily="34" charset="0"/>
              </a:rPr>
              <a:t>Dr.N.TIRUVENKADAM</a:t>
            </a:r>
            <a:r>
              <a:rPr lang="en-IN" sz="1600" b="1" dirty="0">
                <a:latin typeface="Arial" panose="020B0604020202020204" pitchFamily="34" charset="0"/>
                <a:cs typeface="Arial" panose="020B0604020202020204" pitchFamily="34" charset="0"/>
              </a:rPr>
              <a:t> </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1.3 Category of the Incubatee: </a:t>
            </a:r>
            <a:r>
              <a:rPr lang="en-IN" sz="1600" b="1" dirty="0">
                <a:latin typeface="Arial" panose="020B0604020202020204" pitchFamily="34" charset="0"/>
                <a:cs typeface="Arial" panose="020B0604020202020204" pitchFamily="34" charset="0"/>
              </a:rPr>
              <a:t>Student</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1.4 Aadhar No.: </a:t>
            </a:r>
            <a:r>
              <a:rPr lang="en-IN" sz="1600" b="1" dirty="0">
                <a:latin typeface="Arial" panose="020B0604020202020204" pitchFamily="34" charset="0"/>
                <a:cs typeface="Arial" panose="020B0604020202020204" pitchFamily="34" charset="0"/>
              </a:rPr>
              <a:t>218598633472</a:t>
            </a:r>
          </a:p>
          <a:p>
            <a:pPr>
              <a:lnSpc>
                <a:spcPct val="150000"/>
              </a:lnSpc>
            </a:pPr>
            <a:r>
              <a:rPr lang="en-IN" sz="1600" dirty="0">
                <a:latin typeface="Arial" panose="020B0604020202020204" pitchFamily="34" charset="0"/>
                <a:cs typeface="Arial" panose="020B0604020202020204" pitchFamily="34" charset="0"/>
              </a:rPr>
              <a:t>1.4.1 Name in  Aadhar: </a:t>
            </a:r>
            <a:r>
              <a:rPr lang="en-IN" sz="1600" b="1" dirty="0">
                <a:latin typeface="Arial" panose="020B0604020202020204" pitchFamily="34" charset="0"/>
                <a:cs typeface="Arial" panose="020B0604020202020204" pitchFamily="34" charset="0"/>
              </a:rPr>
              <a:t>Anisa F</a:t>
            </a:r>
          </a:p>
          <a:p>
            <a:pPr>
              <a:lnSpc>
                <a:spcPct val="150000"/>
              </a:lnSpc>
            </a:pPr>
            <a:r>
              <a:rPr lang="en-IN" sz="1600" dirty="0">
                <a:latin typeface="Arial" panose="020B0604020202020204" pitchFamily="34" charset="0"/>
                <a:cs typeface="Arial" panose="020B0604020202020204" pitchFamily="34" charset="0"/>
              </a:rPr>
              <a:t>14.2  Incubate Name: </a:t>
            </a:r>
            <a:r>
              <a:rPr lang="en-IN" sz="1600" b="1" dirty="0">
                <a:latin typeface="Arial" panose="020B0604020202020204" pitchFamily="34" charset="0"/>
                <a:cs typeface="Arial" panose="020B0604020202020204" pitchFamily="34" charset="0"/>
              </a:rPr>
              <a:t>K.S.RANGASAMY COLLEGE OF TECHNOLOGY </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1.5 State: </a:t>
            </a:r>
            <a:r>
              <a:rPr lang="en-IN" sz="1600" b="1" dirty="0">
                <a:latin typeface="Arial" panose="020B0604020202020204" pitchFamily="34" charset="0"/>
                <a:cs typeface="Arial" panose="020B0604020202020204" pitchFamily="34" charset="0"/>
              </a:rPr>
              <a:t>TAMIL NADU</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1.6 District: </a:t>
            </a:r>
            <a:r>
              <a:rPr lang="en-IN" sz="1600" b="1" dirty="0" err="1">
                <a:latin typeface="Arial" panose="020B0604020202020204" pitchFamily="34" charset="0"/>
                <a:cs typeface="Arial" panose="020B0604020202020204" pitchFamily="34" charset="0"/>
              </a:rPr>
              <a:t>Namakkal</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1.7 Email Id: </a:t>
            </a:r>
            <a:r>
              <a:rPr lang="en-IN" sz="1600" b="1" dirty="0">
                <a:latin typeface="Arial" panose="020B0604020202020204" pitchFamily="34" charset="0"/>
                <a:cs typeface="Arial" panose="020B0604020202020204" pitchFamily="34" charset="0"/>
              </a:rPr>
              <a:t>anisafairoz@gmail.com</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1.8 Mobile Number: </a:t>
            </a:r>
            <a:r>
              <a:rPr lang="en-IN" sz="1600" b="1" dirty="0">
                <a:latin typeface="Arial" panose="020B0604020202020204" pitchFamily="34" charset="0"/>
                <a:cs typeface="Arial" panose="020B0604020202020204" pitchFamily="34" charset="0"/>
              </a:rPr>
              <a:t>9942651212</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1.9 Category: </a:t>
            </a:r>
            <a:r>
              <a:rPr lang="en-IN" sz="1600" b="1" dirty="0">
                <a:latin typeface="Arial" panose="020B0604020202020204" pitchFamily="34" charset="0"/>
                <a:cs typeface="Arial" panose="020B0604020202020204" pitchFamily="34" charset="0"/>
              </a:rPr>
              <a:t>OBC</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1.10 Gender: </a:t>
            </a:r>
            <a:r>
              <a:rPr lang="en-IN" sz="1600" b="1" dirty="0">
                <a:latin typeface="Arial" panose="020B0604020202020204" pitchFamily="34" charset="0"/>
                <a:cs typeface="Arial" panose="020B0604020202020204" pitchFamily="34" charset="0"/>
              </a:rPr>
              <a:t>Female</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1.11 Address: </a:t>
            </a:r>
            <a:r>
              <a:rPr lang="en-IN" sz="1600" b="1" dirty="0">
                <a:latin typeface="Arial" panose="020B0604020202020204" pitchFamily="34" charset="0"/>
                <a:cs typeface="Arial" panose="020B0604020202020204" pitchFamily="34" charset="0"/>
              </a:rPr>
              <a:t>18-B </a:t>
            </a:r>
            <a:r>
              <a:rPr lang="en-IN" sz="1600" b="1" dirty="0" err="1">
                <a:latin typeface="Arial" panose="020B0604020202020204" pitchFamily="34" charset="0"/>
                <a:cs typeface="Arial" panose="020B0604020202020204" pitchFamily="34" charset="0"/>
              </a:rPr>
              <a:t>Pykara</a:t>
            </a:r>
            <a:r>
              <a:rPr lang="en-IN" sz="1600" b="1" dirty="0">
                <a:latin typeface="Arial" panose="020B0604020202020204" pitchFamily="34" charset="0"/>
                <a:cs typeface="Arial" panose="020B0604020202020204" pitchFamily="34" charset="0"/>
              </a:rPr>
              <a:t> Street, </a:t>
            </a:r>
            <a:r>
              <a:rPr lang="en-IN" sz="1600" b="1" dirty="0" err="1">
                <a:latin typeface="Arial" panose="020B0604020202020204" pitchFamily="34" charset="0"/>
                <a:cs typeface="Arial" panose="020B0604020202020204" pitchFamily="34" charset="0"/>
              </a:rPr>
              <a:t>Shevapet</a:t>
            </a:r>
            <a:r>
              <a:rPr lang="en-IN" sz="1600" b="1" dirty="0">
                <a:latin typeface="Arial" panose="020B0604020202020204" pitchFamily="34" charset="0"/>
                <a:cs typeface="Arial" panose="020B0604020202020204" pitchFamily="34" charset="0"/>
              </a:rPr>
              <a:t>, Salem - 2</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64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01871" y="2706454"/>
            <a:ext cx="4233851" cy="707886"/>
          </a:xfrm>
          <a:prstGeom prst="rect">
            <a:avLst/>
          </a:prstGeom>
        </p:spPr>
        <p:txBody>
          <a:bodyPr wrap="none">
            <a:spAutoFit/>
          </a:bodyPr>
          <a:lstStyle/>
          <a:p>
            <a:r>
              <a:rPr lang="en-IN" sz="4000" b="1" dirty="0">
                <a:latin typeface="Arial" panose="020B0604020202020204" pitchFamily="34" charset="0"/>
                <a:cs typeface="Arial" panose="020B0604020202020204" pitchFamily="34" charset="0"/>
              </a:rPr>
              <a:t>2. Details of Idea</a:t>
            </a:r>
          </a:p>
        </p:txBody>
      </p:sp>
    </p:spTree>
    <p:extLst>
      <p:ext uri="{BB962C8B-B14F-4D97-AF65-F5344CB8AC3E}">
        <p14:creationId xmlns:p14="http://schemas.microsoft.com/office/powerpoint/2010/main" val="1539455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7419" y="678426"/>
            <a:ext cx="10471356" cy="5027017"/>
          </a:xfrm>
          <a:prstGeom prst="rect">
            <a:avLst/>
          </a:prstGeom>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2.1 Title of proposed idea/innovation:</a:t>
            </a:r>
          </a:p>
          <a:p>
            <a:pPr>
              <a:lnSpc>
                <a:spcPct val="150000"/>
              </a:lnSpc>
            </a:pPr>
            <a:endParaRPr lang="en-IN" dirty="0">
              <a:latin typeface="Arial" panose="020B0604020202020204" pitchFamily="34" charset="0"/>
              <a:cs typeface="Arial" panose="020B0604020202020204" pitchFamily="34" charset="0"/>
            </a:endParaRPr>
          </a:p>
          <a:p>
            <a:pPr>
              <a:lnSpc>
                <a:spcPct val="150000"/>
              </a:lnSpc>
            </a:pPr>
            <a:r>
              <a:rPr lang="en-IN" dirty="0">
                <a:latin typeface="Arial" panose="020B0604020202020204" pitchFamily="34" charset="0"/>
                <a:cs typeface="Arial" panose="020B0604020202020204" pitchFamily="34" charset="0"/>
              </a:rPr>
              <a:t>	</a:t>
            </a:r>
            <a:r>
              <a:rPr lang="en-US" sz="1800" spc="25" dirty="0">
                <a:solidFill>
                  <a:srgbClr val="231F20"/>
                </a:solidFill>
                <a:latin typeface="Arial" panose="020B0604020202020204" pitchFamily="34" charset="0"/>
                <a:cs typeface="Arial" panose="020B0604020202020204" pitchFamily="34" charset="0"/>
              </a:rPr>
              <a:t> " Treasure Traders</a:t>
            </a:r>
            <a:r>
              <a:rPr lang="en-US" spc="25" dirty="0">
                <a:solidFill>
                  <a:srgbClr val="231F20"/>
                </a:solidFill>
                <a:latin typeface="Arial" panose="020B0604020202020204" pitchFamily="34" charset="0"/>
                <a:cs typeface="Arial" panose="020B0604020202020204" pitchFamily="34" charset="0"/>
              </a:rPr>
              <a:t> : Journey through India </a:t>
            </a:r>
            <a:r>
              <a:rPr lang="en-US" sz="1800" spc="25" dirty="0">
                <a:solidFill>
                  <a:srgbClr val="231F20"/>
                </a:solidFill>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a:p>
            <a:pPr>
              <a:lnSpc>
                <a:spcPct val="150000"/>
              </a:lnSpc>
            </a:pPr>
            <a:endParaRPr lang="en-IN" dirty="0">
              <a:latin typeface="Arial" panose="020B0604020202020204" pitchFamily="34" charset="0"/>
              <a:cs typeface="Arial" panose="020B0604020202020204" pitchFamily="34" charset="0"/>
            </a:endParaRPr>
          </a:p>
          <a:p>
            <a:pPr>
              <a:lnSpc>
                <a:spcPct val="150000"/>
              </a:lnSpc>
            </a:pPr>
            <a:endParaRPr lang="en-IN" dirty="0">
              <a:latin typeface="Arial" panose="020B0604020202020204" pitchFamily="34" charset="0"/>
              <a:cs typeface="Arial" panose="020B0604020202020204" pitchFamily="34" charset="0"/>
            </a:endParaRPr>
          </a:p>
          <a:p>
            <a:pPr>
              <a:lnSpc>
                <a:spcPct val="150000"/>
              </a:lnSpc>
            </a:pPr>
            <a:r>
              <a:rPr lang="en-IN" b="1" dirty="0">
                <a:latin typeface="Arial" panose="020B0604020202020204" pitchFamily="34" charset="0"/>
                <a:cs typeface="Arial" panose="020B0604020202020204" pitchFamily="34" charset="0"/>
              </a:rPr>
              <a:t>2.2 Whether the idea involves the use of existing intellectual property or not, give brief detail there of:</a:t>
            </a:r>
          </a:p>
          <a:p>
            <a:pPr>
              <a:lnSpc>
                <a:spcPct val="150000"/>
              </a:lnSpc>
            </a:pPr>
            <a:r>
              <a:rPr lang="en-IN" dirty="0">
                <a:latin typeface="Arial" panose="020B0604020202020204" pitchFamily="34" charset="0"/>
                <a:cs typeface="Arial" panose="020B0604020202020204" pitchFamily="34" charset="0"/>
              </a:rPr>
              <a:t>	</a:t>
            </a:r>
          </a:p>
          <a:p>
            <a:pPr>
              <a:lnSpc>
                <a:spcPct val="150000"/>
              </a:lnSpc>
            </a:pP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No, the innovation lies in the integration of immersive cultural experiences, realistic trading mechanics, interactive learning, and cross-cultural exchange, all packaged into an engaging board game.</a:t>
            </a:r>
            <a:endParaRPr lang="en-IN" dirty="0">
              <a:latin typeface="Arial" panose="020B0604020202020204" pitchFamily="34" charset="0"/>
              <a:cs typeface="Arial" panose="020B0604020202020204" pitchFamily="34" charset="0"/>
            </a:endParaRPr>
          </a:p>
          <a:p>
            <a:pPr>
              <a:lnSpc>
                <a:spcPct val="150000"/>
              </a:lnSpc>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1991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505122"/>
            <a:ext cx="11051458" cy="5847755"/>
          </a:xfrm>
          <a:prstGeom prst="rect">
            <a:avLst/>
          </a:prstGeom>
        </p:spPr>
        <p:txBody>
          <a:bodyPr wrap="square">
            <a:spAutoFit/>
          </a:bodyPr>
          <a:lstStyle/>
          <a:p>
            <a:r>
              <a:rPr lang="en-IN" sz="1700" b="1" dirty="0">
                <a:latin typeface="Arial" panose="020B0604020202020204" pitchFamily="34" charset="0"/>
                <a:cs typeface="Arial" panose="020B0604020202020204" pitchFamily="34" charset="0"/>
              </a:rPr>
              <a:t>2.3 Briefly explain the newness/uniqueness of the innovation:</a:t>
            </a:r>
          </a:p>
          <a:p>
            <a:endParaRPr lang="en-IN" sz="1700" dirty="0">
              <a:latin typeface="Arial" panose="020B0604020202020204" pitchFamily="34" charset="0"/>
              <a:cs typeface="Arial" panose="020B0604020202020204" pitchFamily="34" charset="0"/>
            </a:endParaRPr>
          </a:p>
          <a:p>
            <a:pPr marL="541910" lvl="1" indent="-270955" algn="just">
              <a:buFont typeface="Arial"/>
              <a:buChar char="•"/>
            </a:pPr>
            <a:r>
              <a:rPr lang="en-US" sz="1700" b="1" spc="25" dirty="0">
                <a:solidFill>
                  <a:srgbClr val="231F20"/>
                </a:solidFill>
                <a:latin typeface="Arial" panose="020B0604020202020204" pitchFamily="34" charset="0"/>
                <a:cs typeface="Arial" panose="020B0604020202020204" pitchFamily="34" charset="0"/>
              </a:rPr>
              <a:t>Immersive cultural experience: </a:t>
            </a:r>
            <a:r>
              <a:rPr lang="en-US" sz="1700" spc="25" dirty="0">
                <a:solidFill>
                  <a:srgbClr val="231F20"/>
                </a:solidFill>
                <a:latin typeface="Arial" panose="020B0604020202020204" pitchFamily="34" charset="0"/>
                <a:cs typeface="Arial" panose="020B0604020202020204" pitchFamily="34" charset="0"/>
              </a:rPr>
              <a:t>Integrating the diverse culture, traditions, and climates of Indian cities.</a:t>
            </a:r>
          </a:p>
          <a:p>
            <a:pPr marL="541910" lvl="1" indent="-270955" algn="just">
              <a:buFont typeface="Arial"/>
              <a:buChar char="•"/>
            </a:pPr>
            <a:r>
              <a:rPr lang="en-US" sz="1700" b="1" spc="25" dirty="0">
                <a:solidFill>
                  <a:srgbClr val="231F20"/>
                </a:solidFill>
                <a:latin typeface="Arial" panose="020B0604020202020204" pitchFamily="34" charset="0"/>
                <a:cs typeface="Arial" panose="020B0604020202020204" pitchFamily="34" charset="0"/>
              </a:rPr>
              <a:t>Realistic trading mechanics: </a:t>
            </a:r>
            <a:r>
              <a:rPr lang="en-US" sz="1700" spc="25" dirty="0">
                <a:solidFill>
                  <a:srgbClr val="231F20"/>
                </a:solidFill>
                <a:latin typeface="Arial" panose="020B0604020202020204" pitchFamily="34" charset="0"/>
                <a:cs typeface="Arial" panose="020B0604020202020204" pitchFamily="34" charset="0"/>
              </a:rPr>
              <a:t>Simulating real-world market dynamics and economic principles.</a:t>
            </a:r>
          </a:p>
          <a:p>
            <a:pPr marL="541910" lvl="1" indent="-270955" algn="just">
              <a:buFont typeface="Arial"/>
              <a:buChar char="•"/>
            </a:pPr>
            <a:r>
              <a:rPr lang="en-US" sz="1700" b="1" spc="25" dirty="0">
                <a:solidFill>
                  <a:srgbClr val="231F20"/>
                </a:solidFill>
                <a:latin typeface="Arial" panose="020B0604020202020204" pitchFamily="34" charset="0"/>
                <a:cs typeface="Arial" panose="020B0604020202020204" pitchFamily="34" charset="0"/>
              </a:rPr>
              <a:t>Interactive learning: </a:t>
            </a:r>
            <a:r>
              <a:rPr lang="en-US" sz="1700" spc="25" dirty="0">
                <a:solidFill>
                  <a:srgbClr val="231F20"/>
                </a:solidFill>
                <a:latin typeface="Arial" panose="020B0604020202020204" pitchFamily="34" charset="0"/>
                <a:cs typeface="Arial" panose="020B0604020202020204" pitchFamily="34" charset="0"/>
              </a:rPr>
              <a:t>Engaging and enjoyable gameplay that promotes critical thinking and knowledge retention.</a:t>
            </a:r>
          </a:p>
          <a:p>
            <a:pPr marL="541910" lvl="1" indent="-270955" algn="just">
              <a:buFont typeface="Arial"/>
              <a:buChar char="•"/>
            </a:pPr>
            <a:r>
              <a:rPr lang="en-US" sz="1700" b="1" spc="25" dirty="0">
                <a:solidFill>
                  <a:srgbClr val="231F20"/>
                </a:solidFill>
                <a:latin typeface="Arial" panose="020B0604020202020204" pitchFamily="34" charset="0"/>
                <a:cs typeface="Arial" panose="020B0604020202020204" pitchFamily="34" charset="0"/>
              </a:rPr>
              <a:t>Customizable gameplay: </a:t>
            </a:r>
            <a:r>
              <a:rPr lang="en-US" sz="1700" spc="25" dirty="0">
                <a:solidFill>
                  <a:srgbClr val="231F20"/>
                </a:solidFill>
                <a:latin typeface="Arial" panose="020B0604020202020204" pitchFamily="34" charset="0"/>
                <a:cs typeface="Arial" panose="020B0604020202020204" pitchFamily="34" charset="0"/>
              </a:rPr>
              <a:t>Adaptable difficulty levels and rule variations for different preferences and skill levels.</a:t>
            </a:r>
          </a:p>
          <a:p>
            <a:pPr marL="541910" lvl="1" indent="-270955" algn="just">
              <a:buFont typeface="Arial"/>
              <a:buChar char="•"/>
            </a:pPr>
            <a:r>
              <a:rPr lang="en-US" sz="1700" b="1" spc="25" dirty="0">
                <a:solidFill>
                  <a:srgbClr val="231F20"/>
                </a:solidFill>
                <a:latin typeface="Arial" panose="020B0604020202020204" pitchFamily="34" charset="0"/>
                <a:cs typeface="Arial" panose="020B0604020202020204" pitchFamily="34" charset="0"/>
              </a:rPr>
              <a:t>Cross-cultural exchange: </a:t>
            </a:r>
            <a:r>
              <a:rPr lang="en-US" sz="1700" spc="25" dirty="0">
                <a:solidFill>
                  <a:srgbClr val="231F20"/>
                </a:solidFill>
                <a:latin typeface="Arial" panose="020B0604020202020204" pitchFamily="34" charset="0"/>
                <a:cs typeface="Arial" panose="020B0604020202020204" pitchFamily="34" charset="0"/>
              </a:rPr>
              <a:t>Promoting communication, negotiation skills, and appreciation for different perspectives.</a:t>
            </a:r>
            <a:endParaRPr lang="en-IN" sz="1700" dirty="0">
              <a:latin typeface="Arial" panose="020B0604020202020204" pitchFamily="34" charset="0"/>
              <a:cs typeface="Arial" panose="020B0604020202020204" pitchFamily="34" charset="0"/>
            </a:endParaRPr>
          </a:p>
          <a:p>
            <a:endParaRPr lang="en-IN" sz="1700" dirty="0">
              <a:latin typeface="Arial" panose="020B0604020202020204" pitchFamily="34" charset="0"/>
              <a:cs typeface="Arial" panose="020B0604020202020204" pitchFamily="34" charset="0"/>
            </a:endParaRPr>
          </a:p>
          <a:p>
            <a:r>
              <a:rPr lang="en-IN" sz="1700" b="1" dirty="0">
                <a:latin typeface="Arial" panose="020B0604020202020204" pitchFamily="34" charset="0"/>
                <a:cs typeface="Arial" panose="020B0604020202020204" pitchFamily="34" charset="0"/>
              </a:rPr>
              <a:t>2.4 Concept &amp; Objective:</a:t>
            </a:r>
          </a:p>
          <a:p>
            <a:r>
              <a:rPr lang="en-IN" sz="1700" dirty="0">
                <a:latin typeface="Arial" panose="020B0604020202020204" pitchFamily="34" charset="0"/>
                <a:cs typeface="Arial" panose="020B0604020202020204" pitchFamily="34" charset="0"/>
              </a:rPr>
              <a:t>	</a:t>
            </a:r>
          </a:p>
          <a:p>
            <a:pPr marL="728155" lvl="1" indent="-457200" algn="just">
              <a:buFont typeface="Arial" panose="020B0604020202020204" pitchFamily="34" charset="0"/>
              <a:buChar char="•"/>
            </a:pPr>
            <a:r>
              <a:rPr lang="en-US" sz="1700" spc="25" dirty="0">
                <a:solidFill>
                  <a:srgbClr val="231F20"/>
                </a:solidFill>
                <a:latin typeface="Arial" panose="020B0604020202020204" pitchFamily="34" charset="0"/>
                <a:cs typeface="Arial" panose="020B0604020202020204" pitchFamily="34" charset="0"/>
              </a:rPr>
              <a:t>"Treasure Traders: Journey through India" is a board game that combines entertainment and education, allowing players to embark on a journey across India to explore famous cities, learn about their unique goods, and engage in strategic trading activities.</a:t>
            </a:r>
          </a:p>
          <a:p>
            <a:pPr marL="728155" lvl="1" indent="-457200" algn="just">
              <a:buFont typeface="Arial" panose="020B0604020202020204" pitchFamily="34" charset="0"/>
              <a:buChar char="•"/>
            </a:pPr>
            <a:r>
              <a:rPr lang="en-US" sz="1700" spc="25" dirty="0">
                <a:solidFill>
                  <a:srgbClr val="231F20"/>
                </a:solidFill>
                <a:latin typeface="Arial" panose="020B0604020202020204" pitchFamily="34" charset="0"/>
                <a:cs typeface="Arial" panose="020B0604020202020204" pitchFamily="34" charset="0"/>
              </a:rPr>
              <a:t>The objective of the game is for players to accumulate the most wealth by making shrewd trading decisions, leveraging market conditions, and capitalizing on the diversity of goods found in Indian cities. </a:t>
            </a:r>
          </a:p>
          <a:p>
            <a:pPr marL="728155" lvl="1" indent="-457200" algn="just">
              <a:buFont typeface="Arial" panose="020B0604020202020204" pitchFamily="34" charset="0"/>
              <a:buChar char="•"/>
            </a:pPr>
            <a:r>
              <a:rPr lang="en-US" sz="1700" spc="25" dirty="0">
                <a:solidFill>
                  <a:srgbClr val="231F20"/>
                </a:solidFill>
                <a:latin typeface="Arial" panose="020B0604020202020204" pitchFamily="34" charset="0"/>
                <a:cs typeface="Arial" panose="020B0604020202020204" pitchFamily="34" charset="0"/>
              </a:rPr>
              <a:t>Through gameplay, players will enhance their knowledge of Indian culture, geography, and trading practices while honing their strategic thinking and decision-making skills.</a:t>
            </a:r>
          </a:p>
          <a:p>
            <a:endParaRPr lang="en-IN"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200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5509200"/>
          </a:xfrm>
          <a:prstGeom prst="rect">
            <a:avLst/>
          </a:prstGeom>
        </p:spPr>
        <p:txBody>
          <a:bodyPr wrap="square">
            <a:spAutoFit/>
          </a:bodyPr>
          <a:lstStyle/>
          <a:p>
            <a:r>
              <a:rPr lang="en-IN" sz="1600" b="1" dirty="0">
                <a:latin typeface="Arial" panose="020B0604020202020204" pitchFamily="34" charset="0"/>
                <a:cs typeface="Arial" panose="020B0604020202020204" pitchFamily="34" charset="0"/>
              </a:rPr>
              <a:t>2.5 Specify the potential areas of application in the industry/market in brief:</a:t>
            </a:r>
          </a:p>
          <a:p>
            <a:endParaRPr lang="en-IN" sz="1600" dirty="0">
              <a:latin typeface="Arial" panose="020B0604020202020204" pitchFamily="34" charset="0"/>
              <a:cs typeface="Arial" panose="020B0604020202020204" pitchFamily="34" charset="0"/>
            </a:endParaRPr>
          </a:p>
          <a:p>
            <a:pPr marL="541910" lvl="1" indent="-270955" algn="just">
              <a:lnSpc>
                <a:spcPct val="150000"/>
              </a:lnSpc>
              <a:buFont typeface="Arial"/>
              <a:buChar char="•"/>
            </a:pPr>
            <a:r>
              <a:rPr lang="en-US" sz="1600" b="1" spc="25" dirty="0">
                <a:solidFill>
                  <a:srgbClr val="231F20"/>
                </a:solidFill>
                <a:latin typeface="Arial" panose="020B0604020202020204" pitchFamily="34" charset="0"/>
                <a:cs typeface="Arial" panose="020B0604020202020204" pitchFamily="34" charset="0"/>
              </a:rPr>
              <a:t>Educational Institutions:</a:t>
            </a:r>
            <a:r>
              <a:rPr lang="en-US" sz="1600" spc="25" dirty="0">
                <a:solidFill>
                  <a:srgbClr val="231F20"/>
                </a:solidFill>
                <a:latin typeface="Arial" panose="020B0604020202020204" pitchFamily="34" charset="0"/>
                <a:cs typeface="Arial" panose="020B0604020202020204" pitchFamily="34" charset="0"/>
              </a:rPr>
              <a:t> Marketing the game to schools, colleges, and educational institutions as a tool to teach students about Indian culture, geography, economics, and trading principles.</a:t>
            </a:r>
            <a:endParaRPr lang="en-US" sz="1600" b="1" spc="25" dirty="0">
              <a:solidFill>
                <a:srgbClr val="231F20"/>
              </a:solidFill>
              <a:latin typeface="Arial" panose="020B0604020202020204" pitchFamily="34" charset="0"/>
              <a:cs typeface="Arial" panose="020B0604020202020204" pitchFamily="34" charset="0"/>
            </a:endParaRPr>
          </a:p>
          <a:p>
            <a:pPr marL="541910" lvl="1" indent="-270955" algn="just">
              <a:lnSpc>
                <a:spcPct val="150000"/>
              </a:lnSpc>
              <a:buFont typeface="Arial"/>
              <a:buChar char="•"/>
            </a:pPr>
            <a:r>
              <a:rPr lang="en-US" sz="1600" b="1" spc="25" dirty="0">
                <a:solidFill>
                  <a:srgbClr val="231F20"/>
                </a:solidFill>
                <a:latin typeface="Arial" panose="020B0604020202020204" pitchFamily="34" charset="0"/>
                <a:cs typeface="Arial" panose="020B0604020202020204" pitchFamily="34" charset="0"/>
              </a:rPr>
              <a:t>Tourism and Travel Industry:</a:t>
            </a:r>
            <a:r>
              <a:rPr lang="en-US" sz="1600" spc="25" dirty="0">
                <a:solidFill>
                  <a:srgbClr val="231F20"/>
                </a:solidFill>
                <a:latin typeface="Arial" panose="020B0604020202020204" pitchFamily="34" charset="0"/>
                <a:cs typeface="Arial" panose="020B0604020202020204" pitchFamily="34" charset="0"/>
              </a:rPr>
              <a:t> Collaborating with travel agencies, tourist attractions, or hotels to promote the game as a cultural and educational experience for tourists visiting India.</a:t>
            </a:r>
          </a:p>
          <a:p>
            <a:pPr marL="541910" lvl="1" indent="-270955" algn="just">
              <a:lnSpc>
                <a:spcPct val="150000"/>
              </a:lnSpc>
              <a:buFont typeface="Arial"/>
              <a:buChar char="•"/>
            </a:pPr>
            <a:r>
              <a:rPr lang="en-US" sz="1600" b="1" spc="25" dirty="0">
                <a:solidFill>
                  <a:srgbClr val="231F20"/>
                </a:solidFill>
                <a:latin typeface="Arial" panose="020B0604020202020204" pitchFamily="34" charset="0"/>
                <a:cs typeface="Arial" panose="020B0604020202020204" pitchFamily="34" charset="0"/>
              </a:rPr>
              <a:t>Gift Shops, Souvenir Shops and Online Retail Platforms:</a:t>
            </a:r>
            <a:r>
              <a:rPr lang="en-US" sz="1600" spc="25" dirty="0">
                <a:solidFill>
                  <a:srgbClr val="231F20"/>
                </a:solidFill>
                <a:latin typeface="Arial" panose="020B0604020202020204" pitchFamily="34" charset="0"/>
                <a:cs typeface="Arial" panose="020B0604020202020204" pitchFamily="34" charset="0"/>
              </a:rPr>
              <a:t> Partnering with gift and souvenir shops to feature the game as a unique and educational souvenir related to Indian culture and trading heritage. Leveraging e-commerce platforms to reach a wider audience, offering the game as an educational and entertaining product with nationwide or global shipping capabilities. </a:t>
            </a:r>
            <a:endParaRPr lang="en-IN" sz="1600" dirty="0">
              <a:latin typeface="Arial" panose="020B0604020202020204" pitchFamily="34" charset="0"/>
              <a:cs typeface="Arial" panose="020B0604020202020204" pitchFamily="34" charset="0"/>
            </a:endParaRPr>
          </a:p>
          <a:p>
            <a:endParaRPr lang="en-IN" sz="1600" dirty="0">
              <a:latin typeface="Arial" panose="020B0604020202020204" pitchFamily="34" charset="0"/>
              <a:cs typeface="Arial" panose="020B0604020202020204" pitchFamily="34" charset="0"/>
            </a:endParaRPr>
          </a:p>
          <a:p>
            <a:r>
              <a:rPr lang="en-IN" sz="1600" b="1" dirty="0">
                <a:latin typeface="Arial" panose="020B0604020202020204" pitchFamily="34" charset="0"/>
                <a:cs typeface="Arial" panose="020B0604020202020204" pitchFamily="34" charset="0"/>
              </a:rPr>
              <a:t>2.6 Briefly provide the market data for the potential idea/ innovation:</a:t>
            </a:r>
          </a:p>
          <a:p>
            <a:r>
              <a:rPr lang="en-IN"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Growing board game industry offers opportunities.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Emphasis on culture fits educational trends.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Capitalizes on Indian tourism surge.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Appeals globally, fostering cross-cultural exchange.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Collaborations expand reach through partnerships.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1573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803D2EB9-46B9-3CFB-D1CF-D524AB4C39C7}"/>
              </a:ext>
            </a:extLst>
          </p:cNvPr>
          <p:cNvGraphicFramePr>
            <a:graphicFrameLocks noGrp="1"/>
          </p:cNvGraphicFramePr>
          <p:nvPr>
            <p:extLst>
              <p:ext uri="{D42A27DB-BD31-4B8C-83A1-F6EECF244321}">
                <p14:modId xmlns:p14="http://schemas.microsoft.com/office/powerpoint/2010/main" val="2817812970"/>
              </p:ext>
            </p:extLst>
          </p:nvPr>
        </p:nvGraphicFramePr>
        <p:xfrm>
          <a:off x="398709" y="950796"/>
          <a:ext cx="2517351" cy="2292552"/>
        </p:xfrm>
        <a:graphic>
          <a:graphicData uri="http://schemas.openxmlformats.org/drawingml/2006/table">
            <a:tbl>
              <a:tblPr firstRow="1" bandRow="1">
                <a:tableStyleId>{5C22544A-7EE6-4342-B048-85BDC9FD1C3A}</a:tableStyleId>
              </a:tblPr>
              <a:tblGrid>
                <a:gridCol w="2517351">
                  <a:extLst>
                    <a:ext uri="{9D8B030D-6E8A-4147-A177-3AD203B41FA5}">
                      <a16:colId xmlns:a16="http://schemas.microsoft.com/office/drawing/2014/main" val="963179360"/>
                    </a:ext>
                  </a:extLst>
                </a:gridCol>
              </a:tblGrid>
              <a:tr h="260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solidFill>
                            <a:srgbClr val="000000"/>
                          </a:solidFill>
                          <a:latin typeface="Arial" panose="020B0604020202020204" pitchFamily="34" charset="0"/>
                          <a:cs typeface="Arial" panose="020B0604020202020204" pitchFamily="34" charset="0"/>
                        </a:rPr>
                        <a:t>Revenue Streams:</a:t>
                      </a:r>
                    </a:p>
                  </a:txBody>
                  <a:tcPr anchor="ctr"/>
                </a:tc>
                <a:extLst>
                  <a:ext uri="{0D108BD9-81ED-4DB2-BD59-A6C34878D82A}">
                    <a16:rowId xmlns:a16="http://schemas.microsoft.com/office/drawing/2014/main" val="3111839904"/>
                  </a:ext>
                </a:extLst>
              </a:tr>
              <a:tr h="1942032">
                <a:tc>
                  <a:txBody>
                    <a:bodyPr/>
                    <a:lstStyle/>
                    <a:p>
                      <a:pPr marL="410209" lvl="1" indent="-205105">
                        <a:lnSpc>
                          <a:spcPts val="2659"/>
                        </a:lnSpc>
                        <a:buFont typeface="Arial"/>
                        <a:buChar char="•"/>
                      </a:pPr>
                      <a:r>
                        <a:rPr lang="en-US" sz="1600" dirty="0">
                          <a:solidFill>
                            <a:srgbClr val="000000"/>
                          </a:solidFill>
                          <a:latin typeface="Arial" panose="020B0604020202020204" pitchFamily="34" charset="0"/>
                          <a:cs typeface="Arial" panose="020B0604020202020204" pitchFamily="34" charset="0"/>
                        </a:rPr>
                        <a:t>Sale of Board</a:t>
                      </a:r>
                    </a:p>
                    <a:p>
                      <a:pPr marL="410209" lvl="1" indent="-205105">
                        <a:lnSpc>
                          <a:spcPts val="2659"/>
                        </a:lnSpc>
                        <a:buFont typeface="Arial"/>
                        <a:buChar char="•"/>
                      </a:pPr>
                      <a:r>
                        <a:rPr lang="en-US" sz="1600" dirty="0">
                          <a:solidFill>
                            <a:srgbClr val="000000"/>
                          </a:solidFill>
                          <a:latin typeface="Arial" panose="020B0604020202020204" pitchFamily="34" charset="0"/>
                          <a:cs typeface="Arial" panose="020B0604020202020204" pitchFamily="34" charset="0"/>
                        </a:rPr>
                        <a:t>Expansion Pack Games or DLCs</a:t>
                      </a:r>
                    </a:p>
                    <a:p>
                      <a:pPr marL="410209" lvl="1" indent="-205105">
                        <a:lnSpc>
                          <a:spcPts val="2659"/>
                        </a:lnSpc>
                        <a:buFont typeface="Arial"/>
                        <a:buChar char="•"/>
                      </a:pPr>
                      <a:r>
                        <a:rPr lang="en-US" sz="1600" dirty="0">
                          <a:solidFill>
                            <a:srgbClr val="000000"/>
                          </a:solidFill>
                          <a:latin typeface="Arial" panose="020B0604020202020204" pitchFamily="34" charset="0"/>
                          <a:cs typeface="Arial" panose="020B0604020202020204" pitchFamily="34" charset="0"/>
                        </a:rPr>
                        <a:t>Merchandise and Accessories</a:t>
                      </a:r>
                      <a:r>
                        <a:rPr lang="en-IN" sz="1600" dirty="0">
                          <a:solidFill>
                            <a:srgbClr val="000000"/>
                          </a:solidFill>
                          <a:latin typeface="Arial" panose="020B0604020202020204" pitchFamily="34" charset="0"/>
                          <a:cs typeface="Arial" panose="020B0604020202020204" pitchFamily="34" charset="0"/>
                        </a:rPr>
                        <a:t>.</a:t>
                      </a:r>
                      <a:endParaRPr lang="en-US" sz="1600" dirty="0">
                        <a:solidFill>
                          <a:srgbClr val="00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37870786"/>
                  </a:ext>
                </a:extLst>
              </a:tr>
            </a:tbl>
          </a:graphicData>
        </a:graphic>
      </p:graphicFrame>
      <p:graphicFrame>
        <p:nvGraphicFramePr>
          <p:cNvPr id="2" name="Table 3">
            <a:extLst>
              <a:ext uri="{FF2B5EF4-FFF2-40B4-BE49-F238E27FC236}">
                <a16:creationId xmlns:a16="http://schemas.microsoft.com/office/drawing/2014/main" id="{7FA15B4B-E33B-B8AC-5382-55E10B5DDF7A}"/>
              </a:ext>
            </a:extLst>
          </p:cNvPr>
          <p:cNvGraphicFramePr>
            <a:graphicFrameLocks noGrp="1"/>
          </p:cNvGraphicFramePr>
          <p:nvPr>
            <p:extLst>
              <p:ext uri="{D42A27DB-BD31-4B8C-83A1-F6EECF244321}">
                <p14:modId xmlns:p14="http://schemas.microsoft.com/office/powerpoint/2010/main" val="481907335"/>
              </p:ext>
            </p:extLst>
          </p:nvPr>
        </p:nvGraphicFramePr>
        <p:xfrm>
          <a:off x="3229024" y="950796"/>
          <a:ext cx="2817234" cy="2292552"/>
        </p:xfrm>
        <a:graphic>
          <a:graphicData uri="http://schemas.openxmlformats.org/drawingml/2006/table">
            <a:tbl>
              <a:tblPr firstRow="1" bandRow="1">
                <a:tableStyleId>{5C22544A-7EE6-4342-B048-85BDC9FD1C3A}</a:tableStyleId>
              </a:tblPr>
              <a:tblGrid>
                <a:gridCol w="2817234">
                  <a:extLst>
                    <a:ext uri="{9D8B030D-6E8A-4147-A177-3AD203B41FA5}">
                      <a16:colId xmlns:a16="http://schemas.microsoft.com/office/drawing/2014/main" val="963179360"/>
                    </a:ext>
                  </a:extLst>
                </a:gridCol>
              </a:tblGrid>
              <a:tr h="260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b="1" kern="1200" dirty="0">
                          <a:solidFill>
                            <a:srgbClr val="000000"/>
                          </a:solidFill>
                          <a:latin typeface="Arial" panose="020B0604020202020204" pitchFamily="34" charset="0"/>
                          <a:ea typeface="+mn-ea"/>
                          <a:cs typeface="Arial" panose="020B0604020202020204" pitchFamily="34" charset="0"/>
                        </a:rPr>
                        <a:t>Key Activities:</a:t>
                      </a:r>
                    </a:p>
                  </a:txBody>
                  <a:tcPr anchor="ctr"/>
                </a:tc>
                <a:extLst>
                  <a:ext uri="{0D108BD9-81ED-4DB2-BD59-A6C34878D82A}">
                    <a16:rowId xmlns:a16="http://schemas.microsoft.com/office/drawing/2014/main" val="3111839904"/>
                  </a:ext>
                </a:extLst>
              </a:tr>
              <a:tr h="1942032">
                <a:tc>
                  <a:txBody>
                    <a:bodyPr/>
                    <a:lstStyle/>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Game Development</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Production and Manufacturing</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Marketing and Promotion</a:t>
                      </a:r>
                    </a:p>
                  </a:txBody>
                  <a:tcPr/>
                </a:tc>
                <a:extLst>
                  <a:ext uri="{0D108BD9-81ED-4DB2-BD59-A6C34878D82A}">
                    <a16:rowId xmlns:a16="http://schemas.microsoft.com/office/drawing/2014/main" val="2737870786"/>
                  </a:ext>
                </a:extLst>
              </a:tr>
            </a:tbl>
          </a:graphicData>
        </a:graphic>
      </p:graphicFrame>
      <p:graphicFrame>
        <p:nvGraphicFramePr>
          <p:cNvPr id="4" name="Table 3">
            <a:extLst>
              <a:ext uri="{FF2B5EF4-FFF2-40B4-BE49-F238E27FC236}">
                <a16:creationId xmlns:a16="http://schemas.microsoft.com/office/drawing/2014/main" id="{697E1C6A-E0C1-9CCF-B126-DAB6AACB5E45}"/>
              </a:ext>
            </a:extLst>
          </p:cNvPr>
          <p:cNvGraphicFramePr>
            <a:graphicFrameLocks noGrp="1"/>
          </p:cNvGraphicFramePr>
          <p:nvPr>
            <p:extLst>
              <p:ext uri="{D42A27DB-BD31-4B8C-83A1-F6EECF244321}">
                <p14:modId xmlns:p14="http://schemas.microsoft.com/office/powerpoint/2010/main" val="2524044965"/>
              </p:ext>
            </p:extLst>
          </p:nvPr>
        </p:nvGraphicFramePr>
        <p:xfrm>
          <a:off x="6359222" y="927174"/>
          <a:ext cx="2817234" cy="2292552"/>
        </p:xfrm>
        <a:graphic>
          <a:graphicData uri="http://schemas.openxmlformats.org/drawingml/2006/table">
            <a:tbl>
              <a:tblPr firstRow="1" bandRow="1">
                <a:tableStyleId>{5C22544A-7EE6-4342-B048-85BDC9FD1C3A}</a:tableStyleId>
              </a:tblPr>
              <a:tblGrid>
                <a:gridCol w="2817234">
                  <a:extLst>
                    <a:ext uri="{9D8B030D-6E8A-4147-A177-3AD203B41FA5}">
                      <a16:colId xmlns:a16="http://schemas.microsoft.com/office/drawing/2014/main" val="963179360"/>
                    </a:ext>
                  </a:extLst>
                </a:gridCol>
              </a:tblGrid>
              <a:tr h="260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b="1" kern="1200" dirty="0">
                          <a:solidFill>
                            <a:srgbClr val="000000"/>
                          </a:solidFill>
                          <a:latin typeface="Arial" panose="020B0604020202020204" pitchFamily="34" charset="0"/>
                          <a:ea typeface="+mn-ea"/>
                          <a:cs typeface="Arial" panose="020B0604020202020204" pitchFamily="34" charset="0"/>
                        </a:rPr>
                        <a:t>Key Resources:</a:t>
                      </a:r>
                    </a:p>
                  </a:txBody>
                  <a:tcPr anchor="ctr"/>
                </a:tc>
                <a:extLst>
                  <a:ext uri="{0D108BD9-81ED-4DB2-BD59-A6C34878D82A}">
                    <a16:rowId xmlns:a16="http://schemas.microsoft.com/office/drawing/2014/main" val="3111839904"/>
                  </a:ext>
                </a:extLst>
              </a:tr>
              <a:tr h="1942032">
                <a:tc>
                  <a:txBody>
                    <a:bodyPr/>
                    <a:lstStyle/>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Game Designers and Artists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Manufacturing Partners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Distribution Channels</a:t>
                      </a:r>
                    </a:p>
                  </a:txBody>
                  <a:tcPr/>
                </a:tc>
                <a:extLst>
                  <a:ext uri="{0D108BD9-81ED-4DB2-BD59-A6C34878D82A}">
                    <a16:rowId xmlns:a16="http://schemas.microsoft.com/office/drawing/2014/main" val="2737870786"/>
                  </a:ext>
                </a:extLst>
              </a:tr>
            </a:tbl>
          </a:graphicData>
        </a:graphic>
      </p:graphicFrame>
      <p:graphicFrame>
        <p:nvGraphicFramePr>
          <p:cNvPr id="5" name="Table 3">
            <a:extLst>
              <a:ext uri="{FF2B5EF4-FFF2-40B4-BE49-F238E27FC236}">
                <a16:creationId xmlns:a16="http://schemas.microsoft.com/office/drawing/2014/main" id="{B4DD9775-A971-89B9-5663-B12DDA12E594}"/>
              </a:ext>
            </a:extLst>
          </p:cNvPr>
          <p:cNvGraphicFramePr>
            <a:graphicFrameLocks noGrp="1"/>
          </p:cNvGraphicFramePr>
          <p:nvPr>
            <p:extLst>
              <p:ext uri="{D42A27DB-BD31-4B8C-83A1-F6EECF244321}">
                <p14:modId xmlns:p14="http://schemas.microsoft.com/office/powerpoint/2010/main" val="3039644583"/>
              </p:ext>
            </p:extLst>
          </p:nvPr>
        </p:nvGraphicFramePr>
        <p:xfrm>
          <a:off x="9489420" y="916326"/>
          <a:ext cx="2517351" cy="2339796"/>
        </p:xfrm>
        <a:graphic>
          <a:graphicData uri="http://schemas.openxmlformats.org/drawingml/2006/table">
            <a:tbl>
              <a:tblPr firstRow="1" bandRow="1">
                <a:tableStyleId>{5C22544A-7EE6-4342-B048-85BDC9FD1C3A}</a:tableStyleId>
              </a:tblPr>
              <a:tblGrid>
                <a:gridCol w="2517351">
                  <a:extLst>
                    <a:ext uri="{9D8B030D-6E8A-4147-A177-3AD203B41FA5}">
                      <a16:colId xmlns:a16="http://schemas.microsoft.com/office/drawing/2014/main" val="963179360"/>
                    </a:ext>
                  </a:extLst>
                </a:gridCol>
              </a:tblGrid>
              <a:tr h="377403">
                <a:tc>
                  <a:txBody>
                    <a:bodyPr/>
                    <a:lstStyle/>
                    <a:p>
                      <a:pPr algn="ctr">
                        <a:lnSpc>
                          <a:spcPts val="2659"/>
                        </a:lnSpc>
                      </a:pPr>
                      <a:r>
                        <a:rPr lang="en-US" sz="1700" b="1" kern="1200" dirty="0">
                          <a:solidFill>
                            <a:srgbClr val="000000"/>
                          </a:solidFill>
                          <a:latin typeface="Arial" panose="020B0604020202020204" pitchFamily="34" charset="0"/>
                          <a:ea typeface="+mn-ea"/>
                          <a:cs typeface="Arial" panose="020B0604020202020204" pitchFamily="34" charset="0"/>
                        </a:rPr>
                        <a:t>Customer Segments:</a:t>
                      </a:r>
                    </a:p>
                  </a:txBody>
                  <a:tcPr anchor="ctr"/>
                </a:tc>
                <a:extLst>
                  <a:ext uri="{0D108BD9-81ED-4DB2-BD59-A6C34878D82A}">
                    <a16:rowId xmlns:a16="http://schemas.microsoft.com/office/drawing/2014/main" val="3111839904"/>
                  </a:ext>
                </a:extLst>
              </a:tr>
              <a:tr h="1942032">
                <a:tc>
                  <a:txBody>
                    <a:bodyPr/>
                    <a:lstStyle/>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Board Game Enthusiasts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Cultural Enthusiasts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Gift Shoppers</a:t>
                      </a:r>
                    </a:p>
                  </a:txBody>
                  <a:tcPr/>
                </a:tc>
                <a:extLst>
                  <a:ext uri="{0D108BD9-81ED-4DB2-BD59-A6C34878D82A}">
                    <a16:rowId xmlns:a16="http://schemas.microsoft.com/office/drawing/2014/main" val="2737870786"/>
                  </a:ext>
                </a:extLst>
              </a:tr>
            </a:tbl>
          </a:graphicData>
        </a:graphic>
      </p:graphicFrame>
      <p:graphicFrame>
        <p:nvGraphicFramePr>
          <p:cNvPr id="6" name="Table 3">
            <a:extLst>
              <a:ext uri="{FF2B5EF4-FFF2-40B4-BE49-F238E27FC236}">
                <a16:creationId xmlns:a16="http://schemas.microsoft.com/office/drawing/2014/main" id="{6387F06C-72B5-AC1A-7F2C-F4D45708DFCF}"/>
              </a:ext>
            </a:extLst>
          </p:cNvPr>
          <p:cNvGraphicFramePr>
            <a:graphicFrameLocks noGrp="1"/>
          </p:cNvGraphicFramePr>
          <p:nvPr>
            <p:extLst>
              <p:ext uri="{D42A27DB-BD31-4B8C-83A1-F6EECF244321}">
                <p14:modId xmlns:p14="http://schemas.microsoft.com/office/powerpoint/2010/main" val="137572700"/>
              </p:ext>
            </p:extLst>
          </p:nvPr>
        </p:nvGraphicFramePr>
        <p:xfrm>
          <a:off x="1246815" y="3851785"/>
          <a:ext cx="2817234" cy="2507106"/>
        </p:xfrm>
        <a:graphic>
          <a:graphicData uri="http://schemas.openxmlformats.org/drawingml/2006/table">
            <a:tbl>
              <a:tblPr firstRow="1" bandRow="1">
                <a:tableStyleId>{5C22544A-7EE6-4342-B048-85BDC9FD1C3A}</a:tableStyleId>
              </a:tblPr>
              <a:tblGrid>
                <a:gridCol w="2817234">
                  <a:extLst>
                    <a:ext uri="{9D8B030D-6E8A-4147-A177-3AD203B41FA5}">
                      <a16:colId xmlns:a16="http://schemas.microsoft.com/office/drawing/2014/main" val="963179360"/>
                    </a:ext>
                  </a:extLst>
                </a:gridCol>
              </a:tblGrid>
              <a:tr h="597187">
                <a:tc>
                  <a:txBody>
                    <a:bodyPr/>
                    <a:lstStyle/>
                    <a:p>
                      <a:pPr marL="0" algn="ctr" defTabSz="914400" rtl="0" eaLnBrk="1" latinLnBrk="0" hangingPunct="1">
                        <a:lnSpc>
                          <a:spcPts val="2659"/>
                        </a:lnSpc>
                      </a:pPr>
                      <a:r>
                        <a:rPr lang="en-US" sz="1700" b="1" kern="1200" dirty="0">
                          <a:solidFill>
                            <a:srgbClr val="000000"/>
                          </a:solidFill>
                          <a:latin typeface="Arial" panose="020B0604020202020204" pitchFamily="34" charset="0"/>
                          <a:ea typeface="+mn-ea"/>
                          <a:cs typeface="Arial" panose="020B0604020202020204" pitchFamily="34" charset="0"/>
                        </a:rPr>
                        <a:t>Customer Relationships:</a:t>
                      </a:r>
                    </a:p>
                  </a:txBody>
                  <a:tcPr anchor="ctr"/>
                </a:tc>
                <a:extLst>
                  <a:ext uri="{0D108BD9-81ED-4DB2-BD59-A6C34878D82A}">
                    <a16:rowId xmlns:a16="http://schemas.microsoft.com/office/drawing/2014/main" val="3111839904"/>
                  </a:ext>
                </a:extLst>
              </a:tr>
              <a:tr h="1909919">
                <a:tc>
                  <a:txBody>
                    <a:bodyPr/>
                    <a:lstStyle/>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Engaging Community</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Customer Support</a:t>
                      </a:r>
                    </a:p>
                  </a:txBody>
                  <a:tcPr/>
                </a:tc>
                <a:extLst>
                  <a:ext uri="{0D108BD9-81ED-4DB2-BD59-A6C34878D82A}">
                    <a16:rowId xmlns:a16="http://schemas.microsoft.com/office/drawing/2014/main" val="2737870786"/>
                  </a:ext>
                </a:extLst>
              </a:tr>
            </a:tbl>
          </a:graphicData>
        </a:graphic>
      </p:graphicFrame>
      <p:graphicFrame>
        <p:nvGraphicFramePr>
          <p:cNvPr id="7" name="Table 3">
            <a:extLst>
              <a:ext uri="{FF2B5EF4-FFF2-40B4-BE49-F238E27FC236}">
                <a16:creationId xmlns:a16="http://schemas.microsoft.com/office/drawing/2014/main" id="{D4032953-8EDA-2671-9E3D-086C6A1EDB76}"/>
              </a:ext>
            </a:extLst>
          </p:cNvPr>
          <p:cNvGraphicFramePr>
            <a:graphicFrameLocks noGrp="1"/>
          </p:cNvGraphicFramePr>
          <p:nvPr>
            <p:extLst>
              <p:ext uri="{D42A27DB-BD31-4B8C-83A1-F6EECF244321}">
                <p14:modId xmlns:p14="http://schemas.microsoft.com/office/powerpoint/2010/main" val="2221625728"/>
              </p:ext>
            </p:extLst>
          </p:nvPr>
        </p:nvGraphicFramePr>
        <p:xfrm>
          <a:off x="7645731" y="3851785"/>
          <a:ext cx="2817234" cy="2507107"/>
        </p:xfrm>
        <a:graphic>
          <a:graphicData uri="http://schemas.openxmlformats.org/drawingml/2006/table">
            <a:tbl>
              <a:tblPr firstRow="1" bandRow="1">
                <a:tableStyleId>{5C22544A-7EE6-4342-B048-85BDC9FD1C3A}</a:tableStyleId>
              </a:tblPr>
              <a:tblGrid>
                <a:gridCol w="2817234">
                  <a:extLst>
                    <a:ext uri="{9D8B030D-6E8A-4147-A177-3AD203B41FA5}">
                      <a16:colId xmlns:a16="http://schemas.microsoft.com/office/drawing/2014/main" val="963179360"/>
                    </a:ext>
                  </a:extLst>
                </a:gridCol>
              </a:tblGrid>
              <a:tr h="0">
                <a:tc>
                  <a:txBody>
                    <a:bodyPr/>
                    <a:lstStyle/>
                    <a:p>
                      <a:pPr marL="0" marR="0" lvl="0" indent="0" algn="ctr" defTabSz="914400" rtl="0" eaLnBrk="1" fontAlgn="auto" latinLnBrk="0" hangingPunct="1">
                        <a:lnSpc>
                          <a:spcPts val="2659"/>
                        </a:lnSpc>
                        <a:spcBef>
                          <a:spcPts val="0"/>
                        </a:spcBef>
                        <a:spcAft>
                          <a:spcPts val="0"/>
                        </a:spcAft>
                        <a:buClrTx/>
                        <a:buSzTx/>
                        <a:buFontTx/>
                        <a:buNone/>
                        <a:tabLst/>
                        <a:defRPr/>
                      </a:pPr>
                      <a:r>
                        <a:rPr lang="en-US" sz="1700" b="1" kern="1200" dirty="0">
                          <a:solidFill>
                            <a:srgbClr val="000000"/>
                          </a:solidFill>
                          <a:latin typeface="Arial" panose="020B0604020202020204" pitchFamily="34" charset="0"/>
                          <a:ea typeface="+mn-ea"/>
                          <a:cs typeface="Arial" panose="020B0604020202020204" pitchFamily="34" charset="0"/>
                        </a:rPr>
                        <a:t>Cost Structure:</a:t>
                      </a:r>
                    </a:p>
                  </a:txBody>
                  <a:tcPr anchor="ctr"/>
                </a:tc>
                <a:extLst>
                  <a:ext uri="{0D108BD9-81ED-4DB2-BD59-A6C34878D82A}">
                    <a16:rowId xmlns:a16="http://schemas.microsoft.com/office/drawing/2014/main" val="3111839904"/>
                  </a:ext>
                </a:extLst>
              </a:tr>
              <a:tr h="1942032">
                <a:tc>
                  <a:txBody>
                    <a:bodyPr/>
                    <a:lstStyle/>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Game Development Costs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Manufacturing Costs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Marketing and Promotion Expenses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Operational Costs</a:t>
                      </a:r>
                    </a:p>
                  </a:txBody>
                  <a:tcPr/>
                </a:tc>
                <a:extLst>
                  <a:ext uri="{0D108BD9-81ED-4DB2-BD59-A6C34878D82A}">
                    <a16:rowId xmlns:a16="http://schemas.microsoft.com/office/drawing/2014/main" val="2737870786"/>
                  </a:ext>
                </a:extLst>
              </a:tr>
            </a:tbl>
          </a:graphicData>
        </a:graphic>
      </p:graphicFrame>
      <p:graphicFrame>
        <p:nvGraphicFramePr>
          <p:cNvPr id="8" name="Table 3">
            <a:extLst>
              <a:ext uri="{FF2B5EF4-FFF2-40B4-BE49-F238E27FC236}">
                <a16:creationId xmlns:a16="http://schemas.microsoft.com/office/drawing/2014/main" id="{0DE57996-9C7F-BDAA-C888-0B047A2E9FB8}"/>
              </a:ext>
            </a:extLst>
          </p:cNvPr>
          <p:cNvGraphicFramePr>
            <a:graphicFrameLocks noGrp="1"/>
          </p:cNvGraphicFramePr>
          <p:nvPr>
            <p:extLst>
              <p:ext uri="{D42A27DB-BD31-4B8C-83A1-F6EECF244321}">
                <p14:modId xmlns:p14="http://schemas.microsoft.com/office/powerpoint/2010/main" val="3054559306"/>
              </p:ext>
            </p:extLst>
          </p:nvPr>
        </p:nvGraphicFramePr>
        <p:xfrm>
          <a:off x="4446273" y="3851786"/>
          <a:ext cx="2817234" cy="2414356"/>
        </p:xfrm>
        <a:graphic>
          <a:graphicData uri="http://schemas.openxmlformats.org/drawingml/2006/table">
            <a:tbl>
              <a:tblPr firstRow="1" bandRow="1">
                <a:tableStyleId>{5C22544A-7EE6-4342-B048-85BDC9FD1C3A}</a:tableStyleId>
              </a:tblPr>
              <a:tblGrid>
                <a:gridCol w="2817234">
                  <a:extLst>
                    <a:ext uri="{9D8B030D-6E8A-4147-A177-3AD203B41FA5}">
                      <a16:colId xmlns:a16="http://schemas.microsoft.com/office/drawing/2014/main" val="963179360"/>
                    </a:ext>
                  </a:extLst>
                </a:gridCol>
              </a:tblGrid>
              <a:tr h="334741">
                <a:tc>
                  <a:txBody>
                    <a:bodyPr/>
                    <a:lstStyle/>
                    <a:p>
                      <a:pPr marL="0" marR="0" lvl="0" indent="0" algn="ctr" defTabSz="914400" rtl="0" eaLnBrk="1" fontAlgn="auto" latinLnBrk="0" hangingPunct="1">
                        <a:lnSpc>
                          <a:spcPts val="2659"/>
                        </a:lnSpc>
                        <a:spcBef>
                          <a:spcPts val="0"/>
                        </a:spcBef>
                        <a:spcAft>
                          <a:spcPts val="0"/>
                        </a:spcAft>
                        <a:buClrTx/>
                        <a:buSzTx/>
                        <a:buFontTx/>
                        <a:buNone/>
                        <a:tabLst/>
                        <a:defRPr/>
                      </a:pPr>
                      <a:r>
                        <a:rPr lang="en-US" sz="1700" b="1" kern="1200" dirty="0">
                          <a:solidFill>
                            <a:srgbClr val="000000"/>
                          </a:solidFill>
                          <a:latin typeface="Arial" panose="020B0604020202020204" pitchFamily="34" charset="0"/>
                          <a:ea typeface="+mn-ea"/>
                          <a:cs typeface="Arial" panose="020B0604020202020204" pitchFamily="34" charset="0"/>
                        </a:rPr>
                        <a:t>Channels:</a:t>
                      </a:r>
                    </a:p>
                  </a:txBody>
                  <a:tcPr anchor="ctr"/>
                </a:tc>
                <a:extLst>
                  <a:ext uri="{0D108BD9-81ED-4DB2-BD59-A6C34878D82A}">
                    <a16:rowId xmlns:a16="http://schemas.microsoft.com/office/drawing/2014/main" val="3111839904"/>
                  </a:ext>
                </a:extLst>
              </a:tr>
              <a:tr h="2016592">
                <a:tc>
                  <a:txBody>
                    <a:bodyPr/>
                    <a:lstStyle/>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Online Sales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Retail Partnerships</a:t>
                      </a:r>
                    </a:p>
                    <a:p>
                      <a:pPr marL="410209" lvl="1" indent="-205105" algn="l" defTabSz="914400" rtl="0" eaLnBrk="1" latinLnBrk="0" hangingPunct="1">
                        <a:lnSpc>
                          <a:spcPts val="2659"/>
                        </a:lnSpc>
                        <a:buFont typeface="Arial"/>
                        <a:buChar char="•"/>
                      </a:pPr>
                      <a:r>
                        <a:rPr lang="en-US" sz="1600" kern="1200" dirty="0">
                          <a:solidFill>
                            <a:srgbClr val="000000"/>
                          </a:solidFill>
                          <a:latin typeface="Arial" panose="020B0604020202020204" pitchFamily="34" charset="0"/>
                          <a:ea typeface="+mn-ea"/>
                          <a:cs typeface="Arial" panose="020B0604020202020204" pitchFamily="34" charset="0"/>
                        </a:rPr>
                        <a:t>Conventions and Events</a:t>
                      </a:r>
                    </a:p>
                  </a:txBody>
                  <a:tcPr/>
                </a:tc>
                <a:extLst>
                  <a:ext uri="{0D108BD9-81ED-4DB2-BD59-A6C34878D82A}">
                    <a16:rowId xmlns:a16="http://schemas.microsoft.com/office/drawing/2014/main" val="2737870786"/>
                  </a:ext>
                </a:extLst>
              </a:tr>
            </a:tbl>
          </a:graphicData>
        </a:graphic>
      </p:graphicFrame>
      <p:sp>
        <p:nvSpPr>
          <p:cNvPr id="10" name="TextBox 9">
            <a:extLst>
              <a:ext uri="{FF2B5EF4-FFF2-40B4-BE49-F238E27FC236}">
                <a16:creationId xmlns:a16="http://schemas.microsoft.com/office/drawing/2014/main" id="{96ECD74F-7192-60F8-A8F6-BC6D190C9B11}"/>
              </a:ext>
            </a:extLst>
          </p:cNvPr>
          <p:cNvSpPr txBox="1"/>
          <p:nvPr/>
        </p:nvSpPr>
        <p:spPr>
          <a:xfrm>
            <a:off x="4842387" y="184912"/>
            <a:ext cx="2507226"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Business Model</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8037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4637423"/>
          </a:xfrm>
          <a:prstGeom prst="rect">
            <a:avLst/>
          </a:prstGeom>
        </p:spPr>
        <p:txBody>
          <a:bodyPr wrap="square">
            <a:spAutoFit/>
          </a:bodyPr>
          <a:lstStyle/>
          <a:p>
            <a:pPr>
              <a:lnSpc>
                <a:spcPct val="150000"/>
              </a:lnSpc>
            </a:pPr>
            <a:r>
              <a:rPr lang="en-IN" sz="1600" b="1" dirty="0">
                <a:latin typeface="Arial" panose="020B0604020202020204" pitchFamily="34" charset="0"/>
                <a:cs typeface="Arial" panose="020B0604020202020204" pitchFamily="34" charset="0"/>
              </a:rPr>
              <a:t>2.7 Name and details of Mentors:</a:t>
            </a:r>
          </a:p>
          <a:p>
            <a:pPr>
              <a:lnSpc>
                <a:spcPct val="150000"/>
              </a:lnSpc>
            </a:pPr>
            <a:endParaRPr lang="en-IN" sz="1700" dirty="0">
              <a:latin typeface="Arial" panose="020B0604020202020204" pitchFamily="34" charset="0"/>
              <a:cs typeface="Arial" panose="020B0604020202020204" pitchFamily="34" charset="0"/>
            </a:endParaRPr>
          </a:p>
          <a:p>
            <a:pPr>
              <a:lnSpc>
                <a:spcPct val="150000"/>
              </a:lnSpc>
            </a:pPr>
            <a:r>
              <a:rPr lang="en-IN" sz="1700" dirty="0">
                <a:latin typeface="Arial" panose="020B0604020202020204" pitchFamily="34" charset="0"/>
                <a:cs typeface="Arial" panose="020B0604020202020204" pitchFamily="34" charset="0"/>
              </a:rPr>
              <a:t>	</a:t>
            </a:r>
            <a:r>
              <a:rPr lang="en-US" sz="1700" dirty="0" err="1">
                <a:latin typeface="Arial" panose="020B0604020202020204" pitchFamily="34" charset="0"/>
                <a:cs typeface="Arial" panose="020B0604020202020204" pitchFamily="34" charset="0"/>
              </a:rPr>
              <a:t>Dr.J.Nithya</a:t>
            </a:r>
            <a:endParaRPr lang="en-US" sz="1700" dirty="0">
              <a:latin typeface="Arial" panose="020B0604020202020204" pitchFamily="34" charset="0"/>
              <a:cs typeface="Arial" panose="020B0604020202020204" pitchFamily="34" charset="0"/>
            </a:endParaRPr>
          </a:p>
          <a:p>
            <a:pPr>
              <a:lnSpc>
                <a:spcPct val="150000"/>
              </a:lnSpc>
            </a:pPr>
            <a:r>
              <a:rPr lang="en-US" sz="1700" dirty="0">
                <a:latin typeface="Arial" panose="020B0604020202020204" pitchFamily="34" charset="0"/>
                <a:cs typeface="Arial" panose="020B0604020202020204" pitchFamily="34" charset="0"/>
              </a:rPr>
              <a:t>	Professor</a:t>
            </a:r>
          </a:p>
          <a:p>
            <a:pPr>
              <a:lnSpc>
                <a:spcPct val="150000"/>
              </a:lnSpc>
            </a:pPr>
            <a:r>
              <a:rPr lang="en-US" sz="1700" dirty="0">
                <a:latin typeface="Arial" panose="020B0604020202020204" pitchFamily="34" charset="0"/>
                <a:cs typeface="Arial" panose="020B0604020202020204" pitchFamily="34" charset="0"/>
              </a:rPr>
              <a:t>	</a:t>
            </a:r>
            <a:endParaRPr lang="en-IN" sz="1700" dirty="0">
              <a:latin typeface="Arial" panose="020B0604020202020204" pitchFamily="34" charset="0"/>
              <a:cs typeface="Arial" panose="020B0604020202020204" pitchFamily="34" charset="0"/>
            </a:endParaRPr>
          </a:p>
          <a:p>
            <a:pPr>
              <a:lnSpc>
                <a:spcPct val="150000"/>
              </a:lnSpc>
            </a:pPr>
            <a:r>
              <a:rPr lang="en-IN" sz="1600" b="1" dirty="0">
                <a:latin typeface="Arial" panose="020B0604020202020204" pitchFamily="34" charset="0"/>
                <a:cs typeface="Arial" panose="020B0604020202020204" pitchFamily="34" charset="0"/>
              </a:rPr>
              <a:t>2.8 Experience and Qualification of Mentors:</a:t>
            </a:r>
          </a:p>
          <a:p>
            <a:pPr>
              <a:lnSpc>
                <a:spcPct val="150000"/>
              </a:lnSpc>
            </a:pPr>
            <a:r>
              <a:rPr lang="en-IN" sz="1600" b="1"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pPr>
              <a:lnSpc>
                <a:spcPct val="150000"/>
              </a:lnSpc>
            </a:pPr>
            <a:r>
              <a:rPr lang="en-US" sz="1600" dirty="0">
                <a:latin typeface="Arial" panose="020B0604020202020204" pitchFamily="34" charset="0"/>
                <a:cs typeface="Arial" panose="020B0604020202020204" pitchFamily="34" charset="0"/>
              </a:rPr>
              <a:t>	24 years of teaching experience</a:t>
            </a:r>
          </a:p>
          <a:p>
            <a:pPr>
              <a:lnSpc>
                <a:spcPct val="150000"/>
              </a:lnSpc>
            </a:pPr>
            <a:r>
              <a:rPr lang="en-IN" sz="1600" b="1" dirty="0">
                <a:latin typeface="Arial" panose="020B0604020202020204" pitchFamily="34" charset="0"/>
                <a:cs typeface="Arial" panose="020B0604020202020204" pitchFamily="34" charset="0"/>
              </a:rPr>
              <a:t>	</a:t>
            </a:r>
            <a:r>
              <a:rPr lang="en-IN" sz="1600" b="1" dirty="0" err="1">
                <a:latin typeface="Arial" panose="020B0604020202020204" pitchFamily="34" charset="0"/>
                <a:cs typeface="Arial" panose="020B0604020202020204" pitchFamily="34" charset="0"/>
              </a:rPr>
              <a:t>B.E.,M.E.,PhD</a:t>
            </a:r>
            <a:endParaRPr lang="en-IN" sz="1600" b="1" dirty="0">
              <a:latin typeface="Arial" panose="020B0604020202020204" pitchFamily="34" charset="0"/>
              <a:cs typeface="Arial" panose="020B0604020202020204" pitchFamily="34" charset="0"/>
            </a:endParaRPr>
          </a:p>
          <a:p>
            <a:pPr>
              <a:lnSpc>
                <a:spcPct val="150000"/>
              </a:lnSpc>
            </a:pPr>
            <a:r>
              <a:rPr lang="en-IN" sz="1700" dirty="0">
                <a:latin typeface="Arial" panose="020B0604020202020204" pitchFamily="34" charset="0"/>
                <a:cs typeface="Arial" panose="020B0604020202020204" pitchFamily="34" charset="0"/>
              </a:rPr>
              <a:t>	</a:t>
            </a:r>
          </a:p>
          <a:p>
            <a:pPr>
              <a:lnSpc>
                <a:spcPct val="150000"/>
              </a:lnSpc>
            </a:pPr>
            <a:r>
              <a:rPr lang="en-IN" sz="1700" dirty="0">
                <a:latin typeface="Arial" panose="020B0604020202020204" pitchFamily="34" charset="0"/>
                <a:cs typeface="Arial" panose="020B0604020202020204" pitchFamily="34" charset="0"/>
              </a:rPr>
              <a:t>	</a:t>
            </a:r>
          </a:p>
          <a:p>
            <a:pPr>
              <a:lnSpc>
                <a:spcPct val="150000"/>
              </a:lnSpc>
            </a:pPr>
            <a:endParaRPr lang="en-IN"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6805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5099088"/>
          </a:xfrm>
          <a:prstGeom prst="rect">
            <a:avLst/>
          </a:prstGeom>
        </p:spPr>
        <p:txBody>
          <a:bodyPr wrap="square">
            <a:spAutoFit/>
          </a:bodyPr>
          <a:lstStyle/>
          <a:p>
            <a:pPr>
              <a:lnSpc>
                <a:spcPct val="150000"/>
              </a:lnSpc>
            </a:pPr>
            <a:r>
              <a:rPr lang="en-IN" sz="1600" b="1" dirty="0">
                <a:latin typeface="Arial" panose="020B0604020202020204" pitchFamily="34" charset="0"/>
                <a:cs typeface="Arial" panose="020B0604020202020204" pitchFamily="34" charset="0"/>
              </a:rPr>
              <a:t>2.9 Contact Details of Mentors:</a:t>
            </a:r>
          </a:p>
          <a:p>
            <a:pPr>
              <a:lnSpc>
                <a:spcPct val="150000"/>
              </a:lnSpc>
            </a:pPr>
            <a:endParaRPr lang="en-IN" sz="1700" dirty="0">
              <a:latin typeface="Arial" panose="020B0604020202020204" pitchFamily="34" charset="0"/>
              <a:cs typeface="Arial" panose="020B0604020202020204" pitchFamily="34" charset="0"/>
            </a:endParaRPr>
          </a:p>
          <a:p>
            <a:pPr>
              <a:lnSpc>
                <a:spcPct val="150000"/>
              </a:lnSpc>
            </a:pPr>
            <a:r>
              <a:rPr lang="en-IN" sz="1700" dirty="0">
                <a:latin typeface="Arial" panose="020B0604020202020204" pitchFamily="34" charset="0"/>
                <a:cs typeface="Arial" panose="020B0604020202020204" pitchFamily="34" charset="0"/>
              </a:rPr>
              <a:t>	Mail id: </a:t>
            </a:r>
            <a:r>
              <a:rPr lang="en-US" sz="1700" dirty="0">
                <a:latin typeface="Arial" panose="020B0604020202020204" pitchFamily="34" charset="0"/>
                <a:cs typeface="Arial" panose="020B0604020202020204" pitchFamily="34" charset="0"/>
                <a:hlinkClick r:id="rId2"/>
              </a:rPr>
              <a:t>nithyaj@ksrct.ac.in</a:t>
            </a:r>
            <a:endParaRPr lang="en-US" sz="1700" dirty="0">
              <a:latin typeface="Arial" panose="020B0604020202020204" pitchFamily="34" charset="0"/>
              <a:cs typeface="Arial" panose="020B0604020202020204" pitchFamily="34" charset="0"/>
            </a:endParaRPr>
          </a:p>
          <a:p>
            <a:pPr>
              <a:lnSpc>
                <a:spcPct val="150000"/>
              </a:lnSpc>
            </a:pPr>
            <a:r>
              <a:rPr lang="en-US" sz="1700" dirty="0">
                <a:latin typeface="Arial" panose="020B0604020202020204" pitchFamily="34" charset="0"/>
                <a:cs typeface="Arial" panose="020B0604020202020204" pitchFamily="34" charset="0"/>
              </a:rPr>
              <a:t>	Phone No.: 9443846125</a:t>
            </a:r>
          </a:p>
          <a:p>
            <a:pPr>
              <a:lnSpc>
                <a:spcPct val="150000"/>
              </a:lnSpc>
            </a:pPr>
            <a:endParaRPr lang="en-IN" sz="1700" dirty="0">
              <a:latin typeface="Arial" panose="020B0604020202020204" pitchFamily="34" charset="0"/>
              <a:cs typeface="Arial" panose="020B0604020202020204" pitchFamily="34" charset="0"/>
            </a:endParaRPr>
          </a:p>
          <a:p>
            <a:pPr>
              <a:lnSpc>
                <a:spcPct val="150000"/>
              </a:lnSpc>
            </a:pPr>
            <a:r>
              <a:rPr lang="en-IN" sz="1600" b="1" dirty="0">
                <a:latin typeface="Arial" panose="020B0604020202020204" pitchFamily="34" charset="0"/>
                <a:cs typeface="Arial" panose="020B0604020202020204" pitchFamily="34" charset="0"/>
              </a:rPr>
              <a:t>2.10 Current Development Status of Innovation:</a:t>
            </a:r>
          </a:p>
          <a:p>
            <a:pPr>
              <a:lnSpc>
                <a:spcPct val="150000"/>
              </a:lnSpc>
            </a:pPr>
            <a:r>
              <a:rPr lang="en-IN" sz="1700" dirty="0">
                <a:latin typeface="Arial" panose="020B0604020202020204" pitchFamily="34" charset="0"/>
                <a:cs typeface="Arial" panose="020B0604020202020204" pitchFamily="34" charset="0"/>
              </a:rPr>
              <a:t>	</a:t>
            </a:r>
          </a:p>
          <a:p>
            <a:pPr>
              <a:lnSpc>
                <a:spcPct val="150000"/>
              </a:lnSpc>
            </a:pPr>
            <a:r>
              <a:rPr lang="en-IN" sz="1700" dirty="0">
                <a:latin typeface="Arial" panose="020B0604020202020204" pitchFamily="34" charset="0"/>
                <a:cs typeface="Arial" panose="020B0604020202020204" pitchFamily="34" charset="0"/>
              </a:rPr>
              <a:t>	</a:t>
            </a:r>
            <a:r>
              <a:rPr lang="en-US" sz="1700" dirty="0">
                <a:latin typeface="Arial" panose="020B0604020202020204" pitchFamily="34" charset="0"/>
                <a:cs typeface="Arial" panose="020B0604020202020204" pitchFamily="34" charset="0"/>
              </a:rPr>
              <a:t>The current development status of the "</a:t>
            </a:r>
            <a:r>
              <a:rPr lang="en-US" sz="1600" spc="25" dirty="0">
                <a:latin typeface="Arial" panose="020B0604020202020204" pitchFamily="34" charset="0"/>
                <a:cs typeface="Arial" panose="020B0604020202020204" pitchFamily="34" charset="0"/>
              </a:rPr>
              <a:t> Treasure Traders: Journey through India </a:t>
            </a:r>
            <a:r>
              <a:rPr lang="en-US" sz="1700" dirty="0">
                <a:latin typeface="Arial" panose="020B0604020202020204" pitchFamily="34" charset="0"/>
                <a:cs typeface="Arial" panose="020B0604020202020204" pitchFamily="34" charset="0"/>
              </a:rPr>
              <a:t>" innovation is in the conceptual stage. The idea has been formulated with a clear vision, innovative features, and potential market applications. However, the detailed design, prototyping, playtesting, production, and distribution processes have not been initiated as of the present.</a:t>
            </a:r>
            <a:endParaRPr lang="en-IN" sz="1700" dirty="0">
              <a:latin typeface="Arial" panose="020B0604020202020204" pitchFamily="34" charset="0"/>
              <a:cs typeface="Arial" panose="020B0604020202020204" pitchFamily="34" charset="0"/>
            </a:endParaRPr>
          </a:p>
          <a:p>
            <a:pPr>
              <a:lnSpc>
                <a:spcPct val="150000"/>
              </a:lnSpc>
            </a:pPr>
            <a:r>
              <a:rPr lang="en-IN" sz="1700" dirty="0">
                <a:latin typeface="Arial" panose="020B0604020202020204" pitchFamily="34" charset="0"/>
                <a:cs typeface="Arial" panose="020B0604020202020204" pitchFamily="34" charset="0"/>
              </a:rPr>
              <a:t>	</a:t>
            </a:r>
          </a:p>
          <a:p>
            <a:pPr>
              <a:lnSpc>
                <a:spcPct val="150000"/>
              </a:lnSpc>
            </a:pPr>
            <a:endParaRPr lang="en-IN" sz="17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0985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3780522"/>
          </a:xfrm>
          <a:prstGeom prst="rect">
            <a:avLst/>
          </a:prstGeom>
        </p:spPr>
        <p:txBody>
          <a:bodyPr wrap="square">
            <a:spAutoFit/>
          </a:bodyPr>
          <a:lstStyle/>
          <a:p>
            <a:pPr>
              <a:lnSpc>
                <a:spcPct val="150000"/>
              </a:lnSpc>
            </a:pPr>
            <a:r>
              <a:rPr lang="en-IN" b="1" dirty="0">
                <a:latin typeface="Arial" panose="020B0604020202020204" pitchFamily="34" charset="0"/>
                <a:cs typeface="Arial" panose="020B0604020202020204" pitchFamily="34" charset="0"/>
              </a:rPr>
              <a:t>2.11 Expected time of completion of idea:</a:t>
            </a:r>
          </a:p>
          <a:p>
            <a:pPr>
              <a:lnSpc>
                <a:spcPct val="150000"/>
              </a:lnSpc>
            </a:pPr>
            <a:r>
              <a:rPr lang="en-IN" b="1"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a:p>
            <a:pPr>
              <a:lnSpc>
                <a:spcPct val="150000"/>
              </a:lnSpc>
            </a:pP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Estimated completion time: 12-18 months, considering design, testing, production, and marketing stages.</a:t>
            </a:r>
            <a:endParaRPr lang="en-IN" dirty="0">
              <a:latin typeface="Arial" panose="020B0604020202020204" pitchFamily="34" charset="0"/>
              <a:cs typeface="Arial" panose="020B0604020202020204" pitchFamily="34" charset="0"/>
            </a:endParaRPr>
          </a:p>
          <a:p>
            <a:pPr>
              <a:lnSpc>
                <a:spcPct val="150000"/>
              </a:lnSpc>
            </a:pPr>
            <a:endParaRPr lang="en-IN" b="1" dirty="0">
              <a:latin typeface="Arial" panose="020B0604020202020204" pitchFamily="34" charset="0"/>
              <a:cs typeface="Arial" panose="020B0604020202020204" pitchFamily="34" charset="0"/>
            </a:endParaRPr>
          </a:p>
          <a:p>
            <a:pPr>
              <a:lnSpc>
                <a:spcPct val="150000"/>
              </a:lnSpc>
            </a:pPr>
            <a:r>
              <a:rPr lang="en-IN" b="1" dirty="0">
                <a:latin typeface="Arial" panose="020B0604020202020204" pitchFamily="34" charset="0"/>
                <a:cs typeface="Arial" panose="020B0604020202020204" pitchFamily="34" charset="0"/>
              </a:rPr>
              <a:t>2.12 Idea Sector: </a:t>
            </a:r>
            <a:endParaRPr lang="en-IN" b="1" u="sng" dirty="0">
              <a:latin typeface="Arial" panose="020B0604020202020204" pitchFamily="34" charset="0"/>
              <a:cs typeface="Arial" panose="020B0604020202020204" pitchFamily="34" charset="0"/>
            </a:endParaRPr>
          </a:p>
          <a:p>
            <a:pPr>
              <a:lnSpc>
                <a:spcPct val="150000"/>
              </a:lnSpc>
            </a:pPr>
            <a:r>
              <a:rPr lang="en-IN" b="1" dirty="0">
                <a:latin typeface="Arial" panose="020B0604020202020204" pitchFamily="34" charset="0"/>
                <a:cs typeface="Arial" panose="020B0604020202020204" pitchFamily="34" charset="0"/>
              </a:rPr>
              <a:t>		</a:t>
            </a:r>
          </a:p>
          <a:p>
            <a:pPr>
              <a:lnSpc>
                <a:spcPct val="150000"/>
              </a:lnSpc>
            </a:pPr>
            <a:r>
              <a:rPr lang="en-I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Sector: Service Sector (Education),</a:t>
            </a:r>
          </a:p>
          <a:p>
            <a:pPr>
              <a:lnSpc>
                <a:spcPct val="150000"/>
              </a:lnSpc>
            </a:pPr>
            <a:r>
              <a:rPr lang="en-US" dirty="0">
                <a:latin typeface="Arial" panose="020B0604020202020204" pitchFamily="34" charset="0"/>
                <a:cs typeface="Arial" panose="020B0604020202020204" pitchFamily="34" charset="0"/>
              </a:rPr>
              <a:t>	Theme: AVGC (Animation, Visual, Gaming, Comics)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312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30665" y="2666113"/>
            <a:ext cx="6370655" cy="707886"/>
          </a:xfrm>
          <a:prstGeom prst="rect">
            <a:avLst/>
          </a:prstGeom>
        </p:spPr>
        <p:txBody>
          <a:bodyPr wrap="none">
            <a:spAutoFit/>
          </a:bodyPr>
          <a:lstStyle/>
          <a:p>
            <a:r>
              <a:rPr lang="en-IN" sz="4000" b="1" dirty="0">
                <a:latin typeface="Arial" panose="020B0604020202020204" pitchFamily="34" charset="0"/>
                <a:cs typeface="Arial" panose="020B0604020202020204" pitchFamily="34" charset="0"/>
              </a:rPr>
              <a:t>3. Financial requirements</a:t>
            </a:r>
          </a:p>
        </p:txBody>
      </p:sp>
    </p:spTree>
    <p:extLst>
      <p:ext uri="{BB962C8B-B14F-4D97-AF65-F5344CB8AC3E}">
        <p14:creationId xmlns:p14="http://schemas.microsoft.com/office/powerpoint/2010/main" val="3444886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98747341"/>
              </p:ext>
            </p:extLst>
          </p:nvPr>
        </p:nvGraphicFramePr>
        <p:xfrm>
          <a:off x="692082" y="770799"/>
          <a:ext cx="10807836" cy="5444358"/>
        </p:xfrm>
        <a:graphic>
          <a:graphicData uri="http://schemas.openxmlformats.org/drawingml/2006/table">
            <a:tbl>
              <a:tblPr/>
              <a:tblGrid>
                <a:gridCol w="3057832">
                  <a:extLst>
                    <a:ext uri="{9D8B030D-6E8A-4147-A177-3AD203B41FA5}">
                      <a16:colId xmlns:a16="http://schemas.microsoft.com/office/drawing/2014/main" val="1122032835"/>
                    </a:ext>
                  </a:extLst>
                </a:gridCol>
                <a:gridCol w="2536723">
                  <a:extLst>
                    <a:ext uri="{9D8B030D-6E8A-4147-A177-3AD203B41FA5}">
                      <a16:colId xmlns:a16="http://schemas.microsoft.com/office/drawing/2014/main" val="3225394754"/>
                    </a:ext>
                  </a:extLst>
                </a:gridCol>
                <a:gridCol w="2477729">
                  <a:extLst>
                    <a:ext uri="{9D8B030D-6E8A-4147-A177-3AD203B41FA5}">
                      <a16:colId xmlns:a16="http://schemas.microsoft.com/office/drawing/2014/main" val="1080507476"/>
                    </a:ext>
                  </a:extLst>
                </a:gridCol>
                <a:gridCol w="2735552">
                  <a:extLst>
                    <a:ext uri="{9D8B030D-6E8A-4147-A177-3AD203B41FA5}">
                      <a16:colId xmlns:a16="http://schemas.microsoft.com/office/drawing/2014/main" val="276517282"/>
                    </a:ext>
                  </a:extLst>
                </a:gridCol>
              </a:tblGrid>
              <a:tr h="371311">
                <a:tc gridSpan="4">
                  <a:txBody>
                    <a:bodyPr/>
                    <a:lstStyle/>
                    <a:p>
                      <a:pPr algn="ctr" fontAlgn="t"/>
                      <a:r>
                        <a:rPr lang="en-IN" sz="1400" b="1" dirty="0">
                          <a:effectLst/>
                          <a:latin typeface="Arial" panose="020B0604020202020204" pitchFamily="34" charset="0"/>
                          <a:cs typeface="Arial" panose="020B0604020202020204" pitchFamily="34" charset="0"/>
                        </a:rPr>
                        <a:t>3.1 Activity-wise break</a:t>
                      </a:r>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321944260"/>
                  </a:ext>
                </a:extLst>
              </a:tr>
              <a:tr h="636555">
                <a:tc>
                  <a:txBody>
                    <a:bodyPr/>
                    <a:lstStyle/>
                    <a:p>
                      <a:pPr algn="l" fontAlgn="t"/>
                      <a:r>
                        <a:rPr lang="en-IN" sz="1400" b="1" dirty="0">
                          <a:effectLst/>
                          <a:latin typeface="Arial" panose="020B0604020202020204" pitchFamily="34" charset="0"/>
                          <a:cs typeface="Arial" panose="020B0604020202020204" pitchFamily="34" charset="0"/>
                        </a:rPr>
                        <a:t>Particular/Item</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IN" sz="1400" b="1" dirty="0">
                          <a:effectLst/>
                          <a:latin typeface="Arial" panose="020B0604020202020204" pitchFamily="34" charset="0"/>
                          <a:cs typeface="Arial" panose="020B0604020202020204" pitchFamily="34" charset="0"/>
                        </a:rPr>
                        <a:t>Total idea project cost </a:t>
                      </a:r>
                    </a:p>
                    <a:p>
                      <a:pPr algn="l" fontAlgn="t"/>
                      <a:r>
                        <a:rPr lang="en-IN" sz="1400" b="1" dirty="0">
                          <a:effectLst/>
                          <a:latin typeface="Arial" panose="020B0604020202020204" pitchFamily="34" charset="0"/>
                          <a:cs typeface="Arial" panose="020B0604020202020204" pitchFamily="34" charset="0"/>
                        </a:rPr>
                        <a:t>(Rs. In lakh)</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IN" sz="1400" b="1" dirty="0">
                          <a:effectLst/>
                          <a:latin typeface="Arial" panose="020B0604020202020204" pitchFamily="34" charset="0"/>
                          <a:cs typeface="Arial" panose="020B0604020202020204" pitchFamily="34" charset="0"/>
                        </a:rPr>
                        <a:t>Amount GOI assistance </a:t>
                      </a:r>
                    </a:p>
                    <a:p>
                      <a:pPr algn="l" fontAlgn="t"/>
                      <a:r>
                        <a:rPr lang="en-IN" sz="1400" b="1" dirty="0">
                          <a:effectLst/>
                          <a:latin typeface="Arial" panose="020B0604020202020204" pitchFamily="34" charset="0"/>
                          <a:cs typeface="Arial" panose="020B0604020202020204" pitchFamily="34" charset="0"/>
                        </a:rPr>
                        <a:t>(Rs. In lakh)</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IN" sz="1400" b="1" dirty="0">
                          <a:effectLst/>
                          <a:latin typeface="Arial" panose="020B0604020202020204" pitchFamily="34" charset="0"/>
                          <a:cs typeface="Arial" panose="020B0604020202020204" pitchFamily="34" charset="0"/>
                        </a:rPr>
                        <a:t>Incubatee share (</a:t>
                      </a:r>
                      <a:r>
                        <a:rPr lang="en-IN" sz="1400" b="1" dirty="0" err="1">
                          <a:effectLst/>
                          <a:latin typeface="Arial" panose="020B0604020202020204" pitchFamily="34" charset="0"/>
                          <a:cs typeface="Arial" panose="020B0604020202020204" pitchFamily="34" charset="0"/>
                        </a:rPr>
                        <a:t>Rs</a:t>
                      </a:r>
                      <a:r>
                        <a:rPr lang="en-IN" sz="1400" b="1" dirty="0">
                          <a:effectLst/>
                          <a:latin typeface="Arial" panose="020B0604020202020204" pitchFamily="34" charset="0"/>
                          <a:cs typeface="Arial" panose="020B0604020202020204" pitchFamily="34" charset="0"/>
                        </a:rPr>
                        <a:t>. In lakh)</a:t>
                      </a:r>
                    </a:p>
                  </a:txBody>
                  <a:tcPr marL="42660" marR="42660" marT="42660" marB="426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37818086"/>
                  </a:ext>
                </a:extLst>
              </a:tr>
              <a:tr h="1659016">
                <a:tc>
                  <a:txBody>
                    <a:bodyPr/>
                    <a:lstStyle/>
                    <a:p>
                      <a:pPr fontAlgn="t"/>
                      <a:r>
                        <a:rPr lang="en-IN" sz="1400" dirty="0">
                          <a:effectLst/>
                          <a:latin typeface="Arial" panose="020B0604020202020204" pitchFamily="34" charset="0"/>
                          <a:cs typeface="Arial" panose="020B0604020202020204" pitchFamily="34" charset="0"/>
                        </a:rPr>
                        <a:t>Technology related Expenditure towards machine usage charges etc., Electricity charges, Procurement of raw material , testing/Calibration charges, other charges essential for development of idea</a:t>
                      </a:r>
                      <a:br>
                        <a:rPr lang="en-IN" sz="1400" dirty="0">
                          <a:effectLst/>
                          <a:latin typeface="Arial" panose="020B0604020202020204" pitchFamily="34" charset="0"/>
                          <a:cs typeface="Arial" panose="020B0604020202020204" pitchFamily="34" charset="0"/>
                        </a:rPr>
                      </a:br>
                      <a:r>
                        <a:rPr lang="en-IN" sz="1400" b="1" dirty="0">
                          <a:effectLst/>
                          <a:latin typeface="Arial" panose="020B0604020202020204" pitchFamily="34" charset="0"/>
                          <a:cs typeface="Arial" panose="020B0604020202020204" pitchFamily="34" charset="0"/>
                        </a:rPr>
                        <a:t>Max (10.00) lakh.</a:t>
                      </a:r>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4,50,000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4,50,000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90797497"/>
                  </a:ext>
                </a:extLst>
              </a:tr>
              <a:tr h="1157468">
                <a:tc>
                  <a:txBody>
                    <a:bodyPr/>
                    <a:lstStyle/>
                    <a:p>
                      <a:pPr fontAlgn="t"/>
                      <a:r>
                        <a:rPr lang="en-IN" sz="1400" dirty="0">
                          <a:effectLst/>
                          <a:latin typeface="Arial" panose="020B0604020202020204" pitchFamily="34" charset="0"/>
                          <a:cs typeface="Arial" panose="020B0604020202020204" pitchFamily="34" charset="0"/>
                        </a:rPr>
                        <a:t>Charges for mentor/handholding supporting team</a:t>
                      </a:r>
                      <a:br>
                        <a:rPr lang="en-IN" sz="1400" dirty="0">
                          <a:effectLst/>
                          <a:latin typeface="Arial" panose="020B0604020202020204" pitchFamily="34" charset="0"/>
                          <a:cs typeface="Arial" panose="020B0604020202020204" pitchFamily="34" charset="0"/>
                        </a:rPr>
                      </a:br>
                      <a:r>
                        <a:rPr lang="en-IN" sz="1400" b="1" dirty="0">
                          <a:effectLst/>
                          <a:latin typeface="Arial" panose="020B0604020202020204" pitchFamily="34" charset="0"/>
                          <a:cs typeface="Arial" panose="020B0604020202020204" pitchFamily="34" charset="0"/>
                        </a:rPr>
                        <a:t>Max (3.00) lakh.</a:t>
                      </a:r>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2,00,000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2,00,000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12165078"/>
                  </a:ext>
                </a:extLst>
              </a:tr>
              <a:tr h="1248697">
                <a:tc>
                  <a:txBody>
                    <a:bodyPr/>
                    <a:lstStyle/>
                    <a:p>
                      <a:pPr fontAlgn="t"/>
                      <a:r>
                        <a:rPr lang="en-IN" sz="1400">
                          <a:effectLst/>
                          <a:latin typeface="Arial" panose="020B0604020202020204" pitchFamily="34" charset="0"/>
                          <a:cs typeface="Arial" panose="020B0604020202020204" pitchFamily="34" charset="0"/>
                        </a:rPr>
                        <a:t>Travelling Expenses or any other item not coverd as above may be allowed as per need for development of the idea</a:t>
                      </a:r>
                      <a:br>
                        <a:rPr lang="en-IN" sz="1400">
                          <a:effectLst/>
                          <a:latin typeface="Arial" panose="020B0604020202020204" pitchFamily="34" charset="0"/>
                          <a:cs typeface="Arial" panose="020B0604020202020204" pitchFamily="34" charset="0"/>
                        </a:rPr>
                      </a:br>
                      <a:r>
                        <a:rPr lang="en-IN" sz="1400" b="1">
                          <a:effectLst/>
                          <a:latin typeface="Arial" panose="020B0604020202020204" pitchFamily="34" charset="0"/>
                          <a:cs typeface="Arial" panose="020B0604020202020204" pitchFamily="34" charset="0"/>
                        </a:rPr>
                        <a:t>Max ( 2.00) lakh.</a:t>
                      </a:r>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1,20,000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1,20,000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41213883"/>
                  </a:ext>
                </a:extLst>
              </a:tr>
              <a:tr h="371311">
                <a:tc>
                  <a:txBody>
                    <a:bodyPr/>
                    <a:lstStyle/>
                    <a:p>
                      <a:pPr algn="r" fontAlgn="t"/>
                      <a:r>
                        <a:rPr lang="en-IN" sz="1400" b="1">
                          <a:effectLst/>
                          <a:latin typeface="Arial" panose="020B0604020202020204" pitchFamily="34" charset="0"/>
                          <a:cs typeface="Arial" panose="020B0604020202020204" pitchFamily="34" charset="0"/>
                        </a:rPr>
                        <a:t>Total</a:t>
                      </a:r>
                      <a:endParaRPr lang="en-IN" sz="140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7,70,000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IN" sz="1400" dirty="0">
                          <a:effectLst/>
                          <a:latin typeface="Arial" panose="020B0604020202020204" pitchFamily="34" charset="0"/>
                          <a:cs typeface="Arial" panose="020B0604020202020204" pitchFamily="34" charset="0"/>
                        </a:rPr>
                        <a:t>7,70,000</a:t>
                      </a: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endParaRPr lang="en-IN" sz="1400" dirty="0">
                        <a:effectLst/>
                        <a:latin typeface="Arial" panose="020B0604020202020204" pitchFamily="34" charset="0"/>
                        <a:cs typeface="Arial" panose="020B0604020202020204" pitchFamily="34" charset="0"/>
                      </a:endParaRPr>
                    </a:p>
                  </a:txBody>
                  <a:tcPr marL="42660" marR="42660" marT="42660" marB="426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3675681"/>
                  </a:ext>
                </a:extLst>
              </a:tr>
            </a:tbl>
          </a:graphicData>
        </a:graphic>
      </p:graphicFrame>
      <p:sp>
        <p:nvSpPr>
          <p:cNvPr id="3" name="Rectangle 2"/>
          <p:cNvSpPr/>
          <p:nvPr/>
        </p:nvSpPr>
        <p:spPr>
          <a:xfrm>
            <a:off x="1348821" y="145270"/>
            <a:ext cx="8346452" cy="369332"/>
          </a:xfrm>
          <a:prstGeom prst="rect">
            <a:avLst/>
          </a:prstGeom>
        </p:spPr>
        <p:txBody>
          <a:bodyPr wrap="none">
            <a:spAutoFit/>
          </a:bodyPr>
          <a:lstStyle/>
          <a:p>
            <a:r>
              <a:rPr lang="en-IN" dirty="0">
                <a:solidFill>
                  <a:srgbClr val="00B050"/>
                </a:solidFill>
              </a:rPr>
              <a:t>Maximum ₹15 lakhs- incubation support under the Ministry’s MSME Innovative Scheme</a:t>
            </a:r>
          </a:p>
        </p:txBody>
      </p:sp>
    </p:spTree>
    <p:extLst>
      <p:ext uri="{BB962C8B-B14F-4D97-AF65-F5344CB8AC3E}">
        <p14:creationId xmlns:p14="http://schemas.microsoft.com/office/powerpoint/2010/main" val="550007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30514" y="2363045"/>
            <a:ext cx="10522389" cy="1323439"/>
          </a:xfrm>
          <a:prstGeom prst="rect">
            <a:avLst/>
          </a:prstGeom>
        </p:spPr>
        <p:txBody>
          <a:bodyPr wrap="square">
            <a:spAutoFit/>
          </a:bodyPr>
          <a:lstStyle/>
          <a:p>
            <a:r>
              <a:rPr lang="en-IN" sz="4000" b="1" dirty="0">
                <a:latin typeface="Arial" panose="020B0604020202020204" pitchFamily="34" charset="0"/>
                <a:cs typeface="Arial" panose="020B0604020202020204" pitchFamily="34" charset="0"/>
              </a:rPr>
              <a:t>4. Other students/Entrepreneurs associated with this project/idea</a:t>
            </a:r>
          </a:p>
        </p:txBody>
      </p:sp>
    </p:spTree>
    <p:extLst>
      <p:ext uri="{BB962C8B-B14F-4D97-AF65-F5344CB8AC3E}">
        <p14:creationId xmlns:p14="http://schemas.microsoft.com/office/powerpoint/2010/main" val="230860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78454118"/>
              </p:ext>
            </p:extLst>
          </p:nvPr>
        </p:nvGraphicFramePr>
        <p:xfrm>
          <a:off x="461681" y="988360"/>
          <a:ext cx="11268638" cy="3660960"/>
        </p:xfrm>
        <a:graphic>
          <a:graphicData uri="http://schemas.openxmlformats.org/drawingml/2006/table">
            <a:tbl>
              <a:tblPr/>
              <a:tblGrid>
                <a:gridCol w="5634319">
                  <a:extLst>
                    <a:ext uri="{9D8B030D-6E8A-4147-A177-3AD203B41FA5}">
                      <a16:colId xmlns:a16="http://schemas.microsoft.com/office/drawing/2014/main" val="511813105"/>
                    </a:ext>
                  </a:extLst>
                </a:gridCol>
                <a:gridCol w="5634319">
                  <a:extLst>
                    <a:ext uri="{9D8B030D-6E8A-4147-A177-3AD203B41FA5}">
                      <a16:colId xmlns:a16="http://schemas.microsoft.com/office/drawing/2014/main" val="1231776591"/>
                    </a:ext>
                  </a:extLst>
                </a:gridCol>
              </a:tblGrid>
              <a:tr h="1220320">
                <a:tc gridSpan="2">
                  <a:txBody>
                    <a:bodyPr/>
                    <a:lstStyle/>
                    <a:p>
                      <a:pPr algn="ctr" fontAlgn="t"/>
                      <a:r>
                        <a:rPr lang="en-IN" sz="1800" b="1" dirty="0">
                          <a:effectLst/>
                          <a:latin typeface="Calibri (Body)"/>
                          <a:cs typeface="Arial" panose="020B0604020202020204" pitchFamily="34" charset="0"/>
                        </a:rPr>
                        <a:t>4. Other students/Entrepreneurs associated with this project/idea</a:t>
                      </a:r>
                      <a:endParaRPr lang="en-IN" sz="1800" dirty="0">
                        <a:effectLst/>
                        <a:latin typeface="Calibri (Body)"/>
                        <a:cs typeface="Arial" panose="020B0604020202020204" pitchFamily="34" charset="0"/>
                      </a:endParaRPr>
                    </a:p>
                  </a:txBody>
                  <a:tcPr marL="75111" marR="75111" marT="75111" marB="751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738556122"/>
                  </a:ext>
                </a:extLst>
              </a:tr>
              <a:tr h="1220320">
                <a:tc>
                  <a:txBody>
                    <a:bodyPr/>
                    <a:lstStyle/>
                    <a:p>
                      <a:pPr algn="ctr" fontAlgn="t"/>
                      <a:r>
                        <a:rPr lang="en-IN" sz="1800" b="1" dirty="0">
                          <a:effectLst/>
                          <a:latin typeface="Calibri (Body)"/>
                          <a:cs typeface="Arial" panose="020B0604020202020204" pitchFamily="34" charset="0"/>
                        </a:rPr>
                        <a:t>Name of the Students</a:t>
                      </a:r>
                    </a:p>
                  </a:txBody>
                  <a:tcPr marL="75111" marR="75111" marT="75111" marB="751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en-IN" sz="1800" b="1" dirty="0">
                          <a:effectLst/>
                          <a:latin typeface="Calibri (Body)"/>
                          <a:cs typeface="Arial" panose="020B0604020202020204" pitchFamily="34" charset="0"/>
                        </a:rPr>
                        <a:t>Aadhar No./Udhyog Aadhar No./Udyam Registration</a:t>
                      </a:r>
                    </a:p>
                  </a:txBody>
                  <a:tcPr marL="75111" marR="75111" marT="75111" marB="751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78096333"/>
                  </a:ext>
                </a:extLst>
              </a:tr>
              <a:tr h="1220320">
                <a:tc>
                  <a:txBody>
                    <a:bodyPr/>
                    <a:lstStyle/>
                    <a:p>
                      <a:pPr algn="ctr" fontAlgn="t"/>
                      <a:r>
                        <a:rPr lang="en-IN" sz="1800" dirty="0" err="1">
                          <a:effectLst/>
                          <a:latin typeface="Calibri (Body)"/>
                          <a:cs typeface="Arial" panose="020B0604020202020204" pitchFamily="34" charset="0"/>
                        </a:rPr>
                        <a:t>Mehasri</a:t>
                      </a:r>
                      <a:r>
                        <a:rPr lang="en-IN" sz="1800" dirty="0">
                          <a:effectLst/>
                          <a:latin typeface="Calibri (Body)"/>
                          <a:cs typeface="Arial" panose="020B0604020202020204" pitchFamily="34" charset="0"/>
                        </a:rPr>
                        <a:t> M A</a:t>
                      </a:r>
                    </a:p>
                  </a:txBody>
                  <a:tcPr marL="75111" marR="75111" marT="75111" marB="751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tc>
                  <a:txBody>
                    <a:bodyPr/>
                    <a:lstStyle/>
                    <a:p>
                      <a:pPr algn="ctr" fontAlgn="t"/>
                      <a:r>
                        <a:rPr lang="en-IN" sz="1800" dirty="0">
                          <a:effectLst/>
                          <a:latin typeface="Calibri (Body)"/>
                          <a:cs typeface="Arial" panose="020B0604020202020204" pitchFamily="34" charset="0"/>
                        </a:rPr>
                        <a:t>473883646807</a:t>
                      </a:r>
                    </a:p>
                  </a:txBody>
                  <a:tcPr marL="75111" marR="75111" marT="75111" marB="751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5"/>
                    </a:solidFill>
                  </a:tcPr>
                </a:tc>
                <a:extLst>
                  <a:ext uri="{0D108BD9-81ED-4DB2-BD59-A6C34878D82A}">
                    <a16:rowId xmlns:a16="http://schemas.microsoft.com/office/drawing/2014/main" val="295737552"/>
                  </a:ext>
                </a:extLst>
              </a:tr>
            </a:tbl>
          </a:graphicData>
        </a:graphic>
      </p:graphicFrame>
    </p:spTree>
    <p:extLst>
      <p:ext uri="{BB962C8B-B14F-4D97-AF65-F5344CB8AC3E}">
        <p14:creationId xmlns:p14="http://schemas.microsoft.com/office/powerpoint/2010/main" val="744477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5586658"/>
          </a:xfrm>
          <a:prstGeom prst="rect">
            <a:avLst/>
          </a:prstGeom>
        </p:spPr>
        <p:txBody>
          <a:bodyPr wrap="square">
            <a:spAutoFit/>
          </a:bodyPr>
          <a:lstStyle/>
          <a:p>
            <a:pPr>
              <a:lnSpc>
                <a:spcPct val="150000"/>
              </a:lnSpc>
            </a:pPr>
            <a:r>
              <a:rPr lang="en-US" sz="1600" b="1" dirty="0">
                <a:latin typeface="Arial" panose="020B0604020202020204" pitchFamily="34" charset="0"/>
                <a:cs typeface="Arial" panose="020B0604020202020204" pitchFamily="34" charset="0"/>
              </a:rPr>
              <a:t>5. Summary of the idea. (Technical solution)</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t>
            </a:r>
            <a:r>
              <a:rPr lang="en-US" sz="1600" spc="25" dirty="0">
                <a:latin typeface="Arial" panose="020B0604020202020204" pitchFamily="34" charset="0"/>
                <a:cs typeface="Arial" panose="020B0604020202020204" pitchFamily="34" charset="0"/>
              </a:rPr>
              <a:t>Treasure Traders: Journey through India </a:t>
            </a:r>
            <a:r>
              <a:rPr lang="en-US" sz="1600" dirty="0">
                <a:latin typeface="Arial" panose="020B0604020202020204" pitchFamily="34" charset="0"/>
                <a:cs typeface="Arial" panose="020B0604020202020204" pitchFamily="34" charset="0"/>
              </a:rPr>
              <a:t>" is a culturally immersive educational board game that uses strategic gameplay to teach players about Indian cities, goods, and trading practices. The game employs randomized mechanics, unique city cards, and economic principles to create engaging, authentic trading scenarios. It targets a diverse audience and can be marketed to educational institutions, tourism, retail, and online platforms. The game's technical solution includes interactive gameplay mechanics, accurate cultural representation, and the potential for expansion packs and digital versions. </a:t>
            </a:r>
            <a:endParaRPr lang="en-IN" sz="1600" dirty="0">
              <a:latin typeface="Arial" panose="020B0604020202020204" pitchFamily="34" charset="0"/>
              <a:cs typeface="Arial" panose="020B0604020202020204" pitchFamily="34" charset="0"/>
            </a:endParaRPr>
          </a:p>
          <a:p>
            <a:pPr>
              <a:lnSpc>
                <a:spcPct val="150000"/>
              </a:lnSpc>
            </a:pPr>
            <a:endParaRPr lang="en-IN" sz="1600" dirty="0">
              <a:latin typeface="Arial" panose="020B0604020202020204" pitchFamily="34" charset="0"/>
              <a:cs typeface="Arial" panose="020B0604020202020204" pitchFamily="34" charset="0"/>
            </a:endParaRPr>
          </a:p>
          <a:p>
            <a:pPr>
              <a:lnSpc>
                <a:spcPct val="150000"/>
              </a:lnSpc>
            </a:pPr>
            <a:r>
              <a:rPr lang="en-US" sz="1600" b="1" dirty="0">
                <a:latin typeface="Arial" panose="020B0604020202020204" pitchFamily="34" charset="0"/>
                <a:cs typeface="Arial" panose="020B0604020202020204" pitchFamily="34" charset="0"/>
              </a:rPr>
              <a:t>6 (a) Is it a new concept?</a:t>
            </a:r>
            <a:endParaRPr lang="en-US" sz="1600" dirty="0">
              <a:latin typeface="Arial" panose="020B0604020202020204" pitchFamily="34" charset="0"/>
              <a:cs typeface="Arial" panose="020B0604020202020204" pitchFamily="34" charset="0"/>
            </a:endParaRPr>
          </a:p>
          <a:p>
            <a:pPr>
              <a:lnSpc>
                <a:spcPct val="150000"/>
              </a:lnSpc>
            </a:pP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Yes, </a:t>
            </a:r>
            <a:r>
              <a:rPr lang="en-US" sz="1600" dirty="0">
                <a:latin typeface="Arial" panose="020B0604020202020204" pitchFamily="34" charset="0"/>
                <a:ea typeface="Calibri" panose="020F0502020204030204" pitchFamily="34" charset="0"/>
                <a:cs typeface="Arial" panose="020B0604020202020204" pitchFamily="34" charset="0"/>
              </a:rPr>
              <a:t>the board game combines cultural immersion, realistic trading mechanics, interactive learning, and customizable gameplay in an engaging and educational experience </a:t>
            </a:r>
          </a:p>
          <a:p>
            <a:pPr>
              <a:lnSpc>
                <a:spcPct val="150000"/>
              </a:lnSpc>
            </a:pPr>
            <a:endParaRPr lang="en-US" sz="1600" b="1" dirty="0">
              <a:latin typeface="Arial" panose="020B0604020202020204" pitchFamily="34" charset="0"/>
              <a:cs typeface="Arial" panose="020B0604020202020204" pitchFamily="34" charset="0"/>
            </a:endParaRPr>
          </a:p>
          <a:p>
            <a:pPr>
              <a:lnSpc>
                <a:spcPct val="150000"/>
              </a:lnSpc>
            </a:pPr>
            <a:r>
              <a:rPr lang="en-US" sz="1600" b="1" dirty="0">
                <a:latin typeface="Arial" panose="020B0604020202020204" pitchFamily="34" charset="0"/>
                <a:cs typeface="Arial" panose="020B0604020202020204" pitchFamily="34" charset="0"/>
              </a:rPr>
              <a:t>(b) Prior art on the concept, if any</a:t>
            </a:r>
          </a:p>
          <a:p>
            <a:pPr>
              <a:lnSpc>
                <a:spcPct val="150000"/>
              </a:lnSpc>
            </a:pP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No</a:t>
            </a:r>
            <a:endParaRPr lang="en-IN" sz="1600" dirty="0">
              <a:latin typeface="Arial" panose="020B0604020202020204" pitchFamily="34" charset="0"/>
              <a:cs typeface="Arial" panose="020B0604020202020204" pitchFamily="34" charset="0"/>
            </a:endParaRPr>
          </a:p>
          <a:p>
            <a:pPr>
              <a:lnSpc>
                <a:spcPct val="150000"/>
              </a:lnSpc>
            </a:pP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1338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4971104"/>
          </a:xfrm>
          <a:prstGeom prst="rect">
            <a:avLst/>
          </a:prstGeom>
        </p:spPr>
        <p:txBody>
          <a:bodyPr wrap="square">
            <a:spAutoFit/>
          </a:bodyPr>
          <a:lstStyle/>
          <a:p>
            <a:pPr algn="just"/>
            <a:r>
              <a:rPr lang="en-US" sz="1600" dirty="0">
                <a:latin typeface="Arial" panose="020B0604020202020204" pitchFamily="34" charset="0"/>
                <a:cs typeface="Arial" panose="020B0604020202020204" pitchFamily="34" charset="0"/>
              </a:rPr>
              <a:t>7. Main Problem Being Addressed in the Project (</a:t>
            </a:r>
            <a:r>
              <a:rPr lang="en-US" sz="1600" b="1" dirty="0">
                <a:latin typeface="Arial" panose="020B0604020202020204" pitchFamily="34" charset="0"/>
                <a:cs typeface="Arial" panose="020B0604020202020204" pitchFamily="34" charset="0"/>
              </a:rPr>
              <a:t>Highlight the specific problem &amp; solution addresses</a:t>
            </a:r>
            <a:r>
              <a:rPr lang="en-US" sz="1600" dirty="0">
                <a:latin typeface="Arial" panose="020B0604020202020204" pitchFamily="34" charset="0"/>
                <a:cs typeface="Arial" panose="020B0604020202020204" pitchFamily="34" charset="0"/>
              </a:rPr>
              <a:t>)</a:t>
            </a:r>
          </a:p>
          <a:p>
            <a:pPr algn="just"/>
            <a:endParaRPr lang="en-US" sz="16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Cultural Immersion: </a:t>
            </a:r>
            <a:r>
              <a:rPr lang="en-US" sz="1600" dirty="0">
                <a:latin typeface="Arial" panose="020B0604020202020204" pitchFamily="34" charset="0"/>
                <a:cs typeface="Arial" panose="020B0604020202020204" pitchFamily="34" charset="0"/>
              </a:rPr>
              <a:t>Integrates the diverse culture, traditions, and climates of Indian cities to offer players an authentic cultural experience.   </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Realistic Trading Mechanics: </a:t>
            </a:r>
            <a:r>
              <a:rPr lang="en-US" sz="1600" dirty="0">
                <a:latin typeface="Arial" panose="020B0604020202020204" pitchFamily="34" charset="0"/>
                <a:cs typeface="Arial" panose="020B0604020202020204" pitchFamily="34" charset="0"/>
              </a:rPr>
              <a:t>Simulates real-world market dynamics and economic principles, enabling players to make strategic decisions and understand trading practices.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Interactive Learning: </a:t>
            </a:r>
            <a:r>
              <a:rPr lang="en-US" sz="1600" dirty="0">
                <a:latin typeface="Arial" panose="020B0604020202020204" pitchFamily="34" charset="0"/>
                <a:cs typeface="Arial" panose="020B0604020202020204" pitchFamily="34" charset="0"/>
              </a:rPr>
              <a:t>Promotes critical thinking and knowledge retention through enjoyable gameplay that teaches players about Indian culture, geography, and trading.</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Customizable Gameplay: </a:t>
            </a:r>
            <a:r>
              <a:rPr lang="en-US" sz="1600" dirty="0">
                <a:latin typeface="Arial" panose="020B0604020202020204" pitchFamily="34" charset="0"/>
                <a:cs typeface="Arial" panose="020B0604020202020204" pitchFamily="34" charset="0"/>
              </a:rPr>
              <a:t>Adapts to different preferences and skill levels with variable difficulty levels and rule variations.</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Cross-Cultural Exchange: </a:t>
            </a:r>
            <a:r>
              <a:rPr lang="en-US" sz="1600" dirty="0">
                <a:latin typeface="Arial" panose="020B0604020202020204" pitchFamily="34" charset="0"/>
                <a:cs typeface="Arial" panose="020B0604020202020204" pitchFamily="34" charset="0"/>
              </a:rPr>
              <a:t>Encourages communication, negotiation skills, and appreciation for different perspectives, fostering cultural understanding.</a:t>
            </a:r>
          </a:p>
          <a:p>
            <a:pPr marL="285750" indent="-285750">
              <a:lnSpc>
                <a:spcPct val="150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Replayability and Variety</a:t>
            </a:r>
            <a:r>
              <a:rPr lang="en-US" sz="1600" dirty="0">
                <a:latin typeface="Arial" panose="020B0604020202020204" pitchFamily="34" charset="0"/>
                <a:cs typeface="Arial" panose="020B0604020202020204" pitchFamily="34" charset="0"/>
              </a:rPr>
              <a:t>: Offers endless entertainment value with a large set of unique city cards and randomized gameplay.	</a:t>
            </a:r>
          </a:p>
        </p:txBody>
      </p:sp>
    </p:spTree>
    <p:extLst>
      <p:ext uri="{BB962C8B-B14F-4D97-AF65-F5344CB8AC3E}">
        <p14:creationId xmlns:p14="http://schemas.microsoft.com/office/powerpoint/2010/main" val="1692057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5509200"/>
          </a:xfrm>
          <a:prstGeom prst="rect">
            <a:avLst/>
          </a:prstGeom>
        </p:spPr>
        <p:txBody>
          <a:bodyPr wrap="square">
            <a:spAutoFit/>
          </a:bodyPr>
          <a:lstStyle/>
          <a:p>
            <a:r>
              <a:rPr lang="en-US" sz="1600" b="1" dirty="0">
                <a:latin typeface="Arial" panose="020B0604020202020204" pitchFamily="34" charset="0"/>
                <a:cs typeface="Arial" panose="020B0604020202020204" pitchFamily="34" charset="0"/>
              </a:rPr>
              <a:t>8. Background for getting the idea?</a:t>
            </a:r>
          </a:p>
          <a:p>
            <a:endParaRPr lang="en-US" sz="1600" b="1" dirty="0">
              <a:latin typeface="Arial" panose="020B0604020202020204" pitchFamily="34" charset="0"/>
              <a:cs typeface="Arial" panose="020B0604020202020204" pitchFamily="34" charset="0"/>
            </a:endParaRPr>
          </a:p>
          <a:p>
            <a:pPr marL="342900" indent="-342900">
              <a:buFont typeface="+mj-lt"/>
              <a:buAutoNum type="alphaLcParenR"/>
            </a:pPr>
            <a:r>
              <a:rPr lang="en-US" sz="1600" b="1" dirty="0">
                <a:latin typeface="Arial" panose="020B0604020202020204" pitchFamily="34" charset="0"/>
                <a:cs typeface="Arial" panose="020B0604020202020204" pitchFamily="34" charset="0"/>
              </a:rPr>
              <a:t>Who is it for?</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is a board game suitable for diverse audiences, including individuals over 10, curious learners, families, and strategic thinkers interested in geography, culture, and economics.</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b) What will it do?</a:t>
            </a:r>
          </a:p>
          <a:p>
            <a:r>
              <a:rPr lang="en-US" sz="1600" dirty="0">
                <a:latin typeface="Arial" panose="020B0604020202020204" pitchFamily="34" charset="0"/>
                <a:cs typeface="Arial" panose="020B0604020202020204" pitchFamily="34" charset="0"/>
              </a:rPr>
              <a:t>	The game offers an immersive experience across India's cities, allowing players to learn about unique goods, cultural aspects, and trading dynamics through strategic trading decisions.</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c) Any unique features? Explain?</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Cultural Immersion:</a:t>
            </a:r>
            <a:r>
              <a:rPr lang="en-US" sz="1600" dirty="0">
                <a:latin typeface="Arial" panose="020B0604020202020204" pitchFamily="34" charset="0"/>
                <a:cs typeface="Arial" panose="020B0604020202020204" pitchFamily="34" charset="0"/>
              </a:rPr>
              <a:t> The game authentically represents diverse Indian cities, their goods, and trading practices, offering players an engaging cultural experience.</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Realistic Trading Mechanics: </a:t>
            </a:r>
            <a:r>
              <a:rPr lang="en-US" sz="1600" dirty="0">
                <a:latin typeface="Arial" panose="020B0604020202020204" pitchFamily="34" charset="0"/>
                <a:cs typeface="Arial" panose="020B0604020202020204" pitchFamily="34" charset="0"/>
              </a:rPr>
              <a:t>By simulating real-world market dynamics and economic principles, players gain insights into trading strategies and decision-making.</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Interactive Learning:</a:t>
            </a:r>
            <a:r>
              <a:rPr lang="en-US" sz="1600" dirty="0">
                <a:latin typeface="Arial" panose="020B0604020202020204" pitchFamily="34" charset="0"/>
                <a:cs typeface="Arial" panose="020B0604020202020204" pitchFamily="34" charset="0"/>
              </a:rPr>
              <a:t> The game combines entertainment with education, enhancing critical thinking and knowledge retention while fostering curiosity about India. Cross-Cultural Exchange: Players practice negotiation skills, communication, and appreciation for different perspectives, promoting cultural understanding. </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Educational Integration:</a:t>
            </a:r>
            <a:r>
              <a:rPr lang="en-US" sz="1600" dirty="0">
                <a:latin typeface="Arial" panose="020B0604020202020204" pitchFamily="34" charset="0"/>
                <a:cs typeface="Arial" panose="020B0604020202020204" pitchFamily="34" charset="0"/>
              </a:rPr>
              <a:t> The game can be used as a teaching tool in schools and colleges, aligning with educational curricula related to culture, geography, and economics.</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Market Potential:</a:t>
            </a:r>
            <a:r>
              <a:rPr lang="en-US" sz="1600" dirty="0">
                <a:latin typeface="Arial" panose="020B0604020202020204" pitchFamily="34" charset="0"/>
                <a:cs typeface="Arial" panose="020B0604020202020204" pitchFamily="34" charset="0"/>
              </a:rPr>
              <a:t> The game's potential to reach educational institutions, tourists, online platforms, and cultural events positions it as a valuable product in various markets.</a:t>
            </a:r>
          </a:p>
        </p:txBody>
      </p:sp>
    </p:spTree>
    <p:extLst>
      <p:ext uri="{BB962C8B-B14F-4D97-AF65-F5344CB8AC3E}">
        <p14:creationId xmlns:p14="http://schemas.microsoft.com/office/powerpoint/2010/main" val="1691606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B845AA-99D5-E325-F903-08007D6CFF08}"/>
              </a:ext>
            </a:extLst>
          </p:cNvPr>
          <p:cNvSpPr/>
          <p:nvPr/>
        </p:nvSpPr>
        <p:spPr>
          <a:xfrm>
            <a:off x="570271" y="632941"/>
            <a:ext cx="11051458" cy="4847994"/>
          </a:xfrm>
          <a:prstGeom prst="rect">
            <a:avLst/>
          </a:prstGeom>
        </p:spPr>
        <p:txBody>
          <a:bodyPr wrap="square">
            <a:spAutoFit/>
          </a:bodyPr>
          <a:lstStyle/>
          <a:p>
            <a:pPr>
              <a:lnSpc>
                <a:spcPct val="150000"/>
              </a:lnSpc>
            </a:pPr>
            <a:r>
              <a:rPr lang="en-US" sz="1600" b="1" dirty="0">
                <a:latin typeface="Arial" panose="020B0604020202020204" pitchFamily="34" charset="0"/>
                <a:cs typeface="Arial" panose="020B0604020202020204" pitchFamily="34" charset="0"/>
              </a:rPr>
              <a:t>9. How simple or complex will the idea’s execution or implementation be? </a:t>
            </a:r>
          </a:p>
          <a:p>
            <a:pPr>
              <a:lnSpc>
                <a:spcPct val="150000"/>
              </a:lnSpc>
            </a:pPr>
            <a:endParaRPr lang="en-US" sz="1600" b="1" dirty="0">
              <a:latin typeface="Arial" panose="020B0604020202020204" pitchFamily="34" charset="0"/>
              <a:cs typeface="Arial" panose="020B0604020202020204" pitchFamily="34" charset="0"/>
            </a:endParaRPr>
          </a:p>
          <a:p>
            <a:pPr>
              <a:lnSpc>
                <a:spcPct val="150000"/>
              </a:lnSpc>
            </a:pPr>
            <a:r>
              <a:rPr lang="en-US" sz="1600" dirty="0">
                <a:latin typeface="Arial" panose="020B0604020202020204" pitchFamily="34" charset="0"/>
                <a:cs typeface="Arial" panose="020B0604020202020204" pitchFamily="34" charset="0"/>
              </a:rPr>
              <a:t>	Creating the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board game involves a moderate level of complexity. Balancing gameplay mechanics, creating authentic artwork, incorporating accurate educational content, playtesting, production, distribution, marketing, and potential expansions require careful planning and execution.</a:t>
            </a:r>
          </a:p>
          <a:p>
            <a:pPr>
              <a:lnSpc>
                <a:spcPct val="150000"/>
              </a:lnSpc>
            </a:pPr>
            <a:endParaRPr lang="en-US" sz="1600" b="1" dirty="0">
              <a:latin typeface="Arial" panose="020B0604020202020204" pitchFamily="34" charset="0"/>
              <a:cs typeface="Arial" panose="020B0604020202020204" pitchFamily="34" charset="0"/>
            </a:endParaRPr>
          </a:p>
          <a:p>
            <a:pPr>
              <a:lnSpc>
                <a:spcPct val="150000"/>
              </a:lnSpc>
            </a:pPr>
            <a:r>
              <a:rPr lang="en-US" sz="1600" b="1" dirty="0">
                <a:latin typeface="Arial" panose="020B0604020202020204" pitchFamily="34" charset="0"/>
                <a:cs typeface="Arial" panose="020B0604020202020204" pitchFamily="34" charset="0"/>
              </a:rPr>
              <a:t>9.1 What are the risk factors involved in executing the idea?</a:t>
            </a:r>
          </a:p>
          <a:p>
            <a:pPr>
              <a:lnSpc>
                <a:spcPct val="150000"/>
              </a:lnSpc>
            </a:pPr>
            <a:endParaRPr lang="en-US" sz="1600" b="1" dirty="0">
              <a:latin typeface="Arial" panose="020B0604020202020204" pitchFamily="34" charset="0"/>
              <a:cs typeface="Arial" panose="020B0604020202020204" pitchFamily="34" charset="0"/>
            </a:endParaRPr>
          </a:p>
          <a:p>
            <a:pPr>
              <a:lnSpc>
                <a:spcPct val="150000"/>
              </a:lnSpc>
            </a:pP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Executing the “</a:t>
            </a:r>
            <a:r>
              <a:rPr lang="en-US" sz="1600" spc="25" dirty="0">
                <a:solidFill>
                  <a:srgbClr val="231F20"/>
                </a:solidFill>
                <a:latin typeface="Arial" panose="020B0604020202020204" pitchFamily="34" charset="0"/>
                <a:cs typeface="Arial" panose="020B0604020202020204" pitchFamily="34" charset="0"/>
              </a:rPr>
              <a:t>Treasure Traders : Journey through India </a:t>
            </a:r>
            <a:r>
              <a:rPr lang="en-US" sz="1600" dirty="0">
                <a:latin typeface="Arial" panose="020B0604020202020204" pitchFamily="34" charset="0"/>
                <a:cs typeface="Arial" panose="020B0604020202020204" pitchFamily="34" charset="0"/>
              </a:rPr>
              <a:t>" idea involves risks such as cultural sensitivity, accurate educational content, game balance, competition, manufacturing delays, market acceptance, legal issues, production quality, logistics, and changing trends. To manage these risks, thorough research, expert collaboration, playtesting, and adaptability are essential.</a:t>
            </a:r>
            <a:endParaRPr lang="en-US" sz="1600" b="1" dirty="0">
              <a:latin typeface="Arial" panose="020B0604020202020204" pitchFamily="34" charset="0"/>
              <a:cs typeface="Arial" panose="020B0604020202020204" pitchFamily="34" charset="0"/>
            </a:endParaRPr>
          </a:p>
          <a:p>
            <a:pPr>
              <a:lnSpc>
                <a:spcPct val="150000"/>
              </a:lnSpc>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0264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E0691-9D10-AE29-95E4-91D2520DAFCC}"/>
              </a:ext>
            </a:extLst>
          </p:cNvPr>
          <p:cNvSpPr/>
          <p:nvPr/>
        </p:nvSpPr>
        <p:spPr>
          <a:xfrm>
            <a:off x="570271" y="632941"/>
            <a:ext cx="11051458" cy="2632003"/>
          </a:xfrm>
          <a:prstGeom prst="rect">
            <a:avLst/>
          </a:prstGeom>
        </p:spPr>
        <p:txBody>
          <a:bodyPr wrap="square">
            <a:spAutoFit/>
          </a:bodyPr>
          <a:lstStyle/>
          <a:p>
            <a:pPr>
              <a:lnSpc>
                <a:spcPct val="150000"/>
              </a:lnSpc>
            </a:pPr>
            <a:r>
              <a:rPr lang="en-US" sz="1600" b="1" dirty="0">
                <a:latin typeface="Arial" panose="020B0604020202020204" pitchFamily="34" charset="0"/>
                <a:cs typeface="Arial" panose="020B0604020202020204" pitchFamily="34" charset="0"/>
              </a:rPr>
              <a:t>10. How soon could the idea be put into operation? (TRL of a prototype)</a:t>
            </a:r>
          </a:p>
          <a:p>
            <a:pPr>
              <a:lnSpc>
                <a:spcPct val="150000"/>
              </a:lnSpc>
            </a:pPr>
            <a:endParaRPr lang="en-US" sz="1600" b="1" dirty="0">
              <a:latin typeface="Arial" panose="020B0604020202020204" pitchFamily="34" charset="0"/>
              <a:cs typeface="Arial" panose="020B0604020202020204" pitchFamily="34" charset="0"/>
            </a:endParaRPr>
          </a:p>
          <a:p>
            <a:pPr>
              <a:lnSpc>
                <a:spcPct val="150000"/>
              </a:lnSpc>
            </a:pPr>
            <a:r>
              <a:rPr lang="en-US" sz="1600" dirty="0">
                <a:latin typeface="Arial" panose="020B0604020202020204" pitchFamily="34" charset="0"/>
                <a:cs typeface="Arial" panose="020B0604020202020204" pitchFamily="34" charset="0"/>
              </a:rPr>
              <a:t>	 It has been conceptualized with a clear vision, but the execution process, including design, artwork, playtesting, production, and distribution, has not yet begun. Therefore, the Technology Readiness Level (TRL) of the prototype is TRL 2.</a:t>
            </a:r>
          </a:p>
          <a:p>
            <a:pPr>
              <a:lnSpc>
                <a:spcPct val="150000"/>
              </a:lnSpc>
            </a:pPr>
            <a:endParaRPr lang="en-US" sz="1600" dirty="0">
              <a:latin typeface="Arial" panose="020B0604020202020204" pitchFamily="34" charset="0"/>
              <a:cs typeface="Arial" panose="020B0604020202020204" pitchFamily="34" charset="0"/>
            </a:endParaRPr>
          </a:p>
          <a:p>
            <a:pPr>
              <a:lnSpc>
                <a:spcPct val="150000"/>
              </a:lnSpc>
            </a:pPr>
            <a:endParaRPr lang="en-US" sz="1600" dirty="0">
              <a:latin typeface="Arial" panose="020B0604020202020204" pitchFamily="34" charset="0"/>
              <a:cs typeface="Arial" panose="020B0604020202020204" pitchFamily="34" charset="0"/>
            </a:endParaRPr>
          </a:p>
        </p:txBody>
      </p:sp>
      <p:pic>
        <p:nvPicPr>
          <p:cNvPr id="1026" name="Picture 2" descr="An Introduction to Technology Readiness Levels (TRLs) - RedKnight  Consultancy | Grant Bid Writers | Funding Bid Writers | Bid Writers">
            <a:extLst>
              <a:ext uri="{FF2B5EF4-FFF2-40B4-BE49-F238E27FC236}">
                <a16:creationId xmlns:a16="http://schemas.microsoft.com/office/drawing/2014/main" id="{C8EAF8C0-923A-276E-88C7-6EF4103DD33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2" b="27151"/>
          <a:stretch/>
        </p:blipFill>
        <p:spPr bwMode="auto">
          <a:xfrm>
            <a:off x="703006" y="3024907"/>
            <a:ext cx="10785987" cy="27564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221" y="984461"/>
            <a:ext cx="10834695" cy="464871"/>
          </a:xfrm>
          <a:prstGeom prst="rect">
            <a:avLst/>
          </a:prstGeom>
        </p:spPr>
        <p:txBody>
          <a:bodyPr wrap="square">
            <a:spAutoFit/>
          </a:bodyPr>
          <a:lstStyle/>
          <a:p>
            <a:pPr>
              <a:lnSpc>
                <a:spcPct val="150000"/>
              </a:lnSpc>
            </a:pPr>
            <a:r>
              <a:rPr lang="en-US" b="1" dirty="0">
                <a:latin typeface="Arial" panose="020B0604020202020204" pitchFamily="34" charset="0"/>
                <a:cs typeface="Arial" panose="020B0604020202020204" pitchFamily="34" charset="0"/>
              </a:rPr>
              <a:t>11. How much investment would you need for prototyping the Idea?</a:t>
            </a:r>
          </a:p>
        </p:txBody>
      </p:sp>
      <p:graphicFrame>
        <p:nvGraphicFramePr>
          <p:cNvPr id="3" name="Table 2">
            <a:extLst>
              <a:ext uri="{FF2B5EF4-FFF2-40B4-BE49-F238E27FC236}">
                <a16:creationId xmlns:a16="http://schemas.microsoft.com/office/drawing/2014/main" id="{992D2D41-712E-5C1A-04E8-4A04A37A171D}"/>
              </a:ext>
            </a:extLst>
          </p:cNvPr>
          <p:cNvGraphicFramePr>
            <a:graphicFrameLocks noGrp="1"/>
          </p:cNvGraphicFramePr>
          <p:nvPr>
            <p:extLst>
              <p:ext uri="{D42A27DB-BD31-4B8C-83A1-F6EECF244321}">
                <p14:modId xmlns:p14="http://schemas.microsoft.com/office/powerpoint/2010/main" val="2072561862"/>
              </p:ext>
            </p:extLst>
          </p:nvPr>
        </p:nvGraphicFramePr>
        <p:xfrm>
          <a:off x="983225" y="1898433"/>
          <a:ext cx="10451691" cy="3589004"/>
        </p:xfrm>
        <a:graphic>
          <a:graphicData uri="http://schemas.openxmlformats.org/drawingml/2006/table">
            <a:tbl>
              <a:tblPr/>
              <a:tblGrid>
                <a:gridCol w="3264310">
                  <a:extLst>
                    <a:ext uri="{9D8B030D-6E8A-4147-A177-3AD203B41FA5}">
                      <a16:colId xmlns:a16="http://schemas.microsoft.com/office/drawing/2014/main" val="3352706188"/>
                    </a:ext>
                  </a:extLst>
                </a:gridCol>
                <a:gridCol w="4729316">
                  <a:extLst>
                    <a:ext uri="{9D8B030D-6E8A-4147-A177-3AD203B41FA5}">
                      <a16:colId xmlns:a16="http://schemas.microsoft.com/office/drawing/2014/main" val="1216793929"/>
                    </a:ext>
                  </a:extLst>
                </a:gridCol>
                <a:gridCol w="2458065">
                  <a:extLst>
                    <a:ext uri="{9D8B030D-6E8A-4147-A177-3AD203B41FA5}">
                      <a16:colId xmlns:a16="http://schemas.microsoft.com/office/drawing/2014/main" val="2144955315"/>
                    </a:ext>
                  </a:extLst>
                </a:gridCol>
              </a:tblGrid>
              <a:tr h="370002">
                <a:tc>
                  <a:txBody>
                    <a:bodyPr/>
                    <a:lstStyle/>
                    <a:p>
                      <a:pPr algn="ctr" rtl="0" fontAlgn="b">
                        <a:spcBef>
                          <a:spcPts val="0"/>
                        </a:spcBef>
                        <a:spcAft>
                          <a:spcPts val="0"/>
                        </a:spcAft>
                      </a:pPr>
                      <a:r>
                        <a:rPr lang="en-IN" sz="1600" b="1" i="0" u="none" strike="noStrike" dirty="0">
                          <a:solidFill>
                            <a:srgbClr val="000000"/>
                          </a:solidFill>
                          <a:effectLst/>
                          <a:latin typeface="Arial" panose="020B0604020202020204" pitchFamily="34" charset="0"/>
                          <a:cs typeface="Arial" panose="020B0604020202020204" pitchFamily="34" charset="0"/>
                        </a:rPr>
                        <a:t>Investment </a:t>
                      </a:r>
                      <a:r>
                        <a:rPr lang="en-IN" sz="1600" b="1" i="0" u="none" strike="noStrike" dirty="0" err="1">
                          <a:solidFill>
                            <a:srgbClr val="000000"/>
                          </a:solidFill>
                          <a:effectLst/>
                          <a:latin typeface="Arial" panose="020B0604020202020204" pitchFamily="34" charset="0"/>
                          <a:cs typeface="Arial" panose="020B0604020202020204" pitchFamily="34" charset="0"/>
                        </a:rPr>
                        <a:t>Categoryx</a:t>
                      </a:r>
                      <a:endParaRPr lang="en-IN" sz="1600" dirty="0">
                        <a:effectLst/>
                        <a:latin typeface="Arial" panose="020B0604020202020204" pitchFamily="34" charset="0"/>
                        <a:cs typeface="Arial" panose="020B0604020202020204" pitchFamily="34" charset="0"/>
                      </a:endParaRPr>
                    </a:p>
                  </a:txBody>
                  <a:tcPr marL="63500" marR="63500" marT="63500" marB="6350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spcBef>
                          <a:spcPts val="0"/>
                        </a:spcBef>
                        <a:spcAft>
                          <a:spcPts val="0"/>
                        </a:spcAft>
                      </a:pPr>
                      <a:r>
                        <a:rPr lang="en-IN" sz="1600" b="1" i="0" u="none" strike="noStrike" dirty="0">
                          <a:solidFill>
                            <a:srgbClr val="000000"/>
                          </a:solidFill>
                          <a:effectLst/>
                          <a:latin typeface="Arial" panose="020B0604020202020204" pitchFamily="34" charset="0"/>
                          <a:cs typeface="Arial" panose="020B0604020202020204" pitchFamily="34" charset="0"/>
                        </a:rPr>
                        <a:t>Considerations</a:t>
                      </a:r>
                      <a:endParaRPr lang="en-IN" sz="1600" dirty="0">
                        <a:effectLst/>
                        <a:latin typeface="Arial" panose="020B0604020202020204" pitchFamily="34" charset="0"/>
                        <a:cs typeface="Arial" panose="020B0604020202020204" pitchFamily="34" charset="0"/>
                      </a:endParaRPr>
                    </a:p>
                  </a:txBody>
                  <a:tcPr marL="63500" marR="63500" marT="63500" marB="6350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spcBef>
                          <a:spcPts val="0"/>
                        </a:spcBef>
                        <a:spcAft>
                          <a:spcPts val="0"/>
                        </a:spcAft>
                      </a:pPr>
                      <a:r>
                        <a:rPr lang="en-IN" sz="1600" b="1" i="0" u="none" strike="noStrike" dirty="0">
                          <a:solidFill>
                            <a:srgbClr val="000000"/>
                          </a:solidFill>
                          <a:effectLst/>
                          <a:latin typeface="Arial" panose="020B0604020202020204" pitchFamily="34" charset="0"/>
                          <a:cs typeface="Arial" panose="020B0604020202020204" pitchFamily="34" charset="0"/>
                        </a:rPr>
                        <a:t>Investment Amount</a:t>
                      </a:r>
                      <a:endParaRPr lang="en-IN" sz="1600" dirty="0">
                        <a:effectLst/>
                        <a:latin typeface="Arial" panose="020B0604020202020204" pitchFamily="34" charset="0"/>
                        <a:cs typeface="Arial" panose="020B0604020202020204" pitchFamily="34" charset="0"/>
                      </a:endParaRPr>
                    </a:p>
                  </a:txBody>
                  <a:tcPr marL="63500" marR="63500" marT="63500" marB="6350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378352"/>
                  </a:ext>
                </a:extLst>
              </a:tr>
              <a:tr h="385437">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b="0" i="0" u="none" strike="noStrike" dirty="0">
                          <a:solidFill>
                            <a:srgbClr val="000000"/>
                          </a:solidFill>
                          <a:effectLst/>
                          <a:latin typeface="Arial" panose="020B0604020202020204" pitchFamily="34" charset="0"/>
                          <a:cs typeface="Arial" panose="020B0604020202020204" pitchFamily="34" charset="0"/>
                        </a:rPr>
                        <a:t>Artwork and Illustrations</a:t>
                      </a:r>
                      <a:endParaRPr lang="en-IN" sz="1600" dirty="0">
                        <a:effectLst/>
                        <a:latin typeface="Arial" panose="020B0604020202020204" pitchFamily="34" charset="0"/>
                        <a:cs typeface="Arial" panose="020B0604020202020204" pitchFamily="34" charset="0"/>
                      </a:endParaRPr>
                    </a:p>
                    <a:p>
                      <a:pPr algn="ctr" rtl="0" fontAlgn="ctr">
                        <a:spcBef>
                          <a:spcPts val="0"/>
                        </a:spcBef>
                        <a:spcAft>
                          <a:spcPts val="0"/>
                        </a:spcAft>
                      </a:pPr>
                      <a:endParaRPr lang="en-IN"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1600" b="0" i="0" u="none" strike="noStrike" dirty="0">
                          <a:solidFill>
                            <a:srgbClr val="000000"/>
                          </a:solidFill>
                          <a:effectLst/>
                          <a:latin typeface="Arial" panose="020B0604020202020204" pitchFamily="34" charset="0"/>
                          <a:cs typeface="Arial" panose="020B0604020202020204" pitchFamily="34" charset="0"/>
                        </a:rPr>
                        <a:t>Hiring designers</a:t>
                      </a:r>
                      <a:endParaRPr lang="en-US"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1,54,000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5994645"/>
                  </a:ext>
                </a:extLst>
              </a:tr>
              <a:tr h="370002">
                <a:tc vMerge="1">
                  <a:txBody>
                    <a:bodyPr/>
                    <a:lstStyle/>
                    <a:p>
                      <a:pPr algn="ctr" rtl="0" fontAlgn="ctr">
                        <a:spcBef>
                          <a:spcPts val="0"/>
                        </a:spcBef>
                        <a:spcAft>
                          <a:spcPts val="0"/>
                        </a:spcAft>
                      </a:pPr>
                      <a:endParaRPr lang="en-IN"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1600" b="0" i="0" u="none" strike="noStrike" dirty="0">
                          <a:solidFill>
                            <a:srgbClr val="000000"/>
                          </a:solidFill>
                          <a:effectLst/>
                          <a:latin typeface="Arial" panose="020B0604020202020204" pitchFamily="34" charset="0"/>
                          <a:cs typeface="Arial" panose="020B0604020202020204" pitchFamily="34" charset="0"/>
                        </a:rPr>
                        <a:t>Hiring illustration artist</a:t>
                      </a:r>
                      <a:endParaRPr lang="en-US"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1,15,500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5272940"/>
                  </a:ext>
                </a:extLst>
              </a:tr>
              <a:tr h="406402">
                <a:tc vMerge="1">
                  <a:txBody>
                    <a:bodyPr/>
                    <a:lstStyle/>
                    <a:p>
                      <a:pPr algn="ctr" rtl="0" fontAlgn="ctr">
                        <a:spcBef>
                          <a:spcPts val="0"/>
                        </a:spcBef>
                        <a:spcAft>
                          <a:spcPts val="0"/>
                        </a:spcAft>
                      </a:pPr>
                      <a:endParaRPr lang="en-IN"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1600" b="0" i="0" u="none" strike="noStrike" dirty="0">
                          <a:solidFill>
                            <a:srgbClr val="000000"/>
                          </a:solidFill>
                          <a:effectLst/>
                          <a:latin typeface="Arial" panose="020B0604020202020204" pitchFamily="34" charset="0"/>
                          <a:cs typeface="Arial" panose="020B0604020202020204" pitchFamily="34" charset="0"/>
                        </a:rPr>
                        <a:t>Licensing fees</a:t>
                      </a:r>
                      <a:endParaRPr lang="en-US"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77,000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9788691"/>
                  </a:ext>
                </a:extLst>
              </a:tr>
              <a:tr h="370002">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dirty="0">
                          <a:effectLst/>
                          <a:latin typeface="Arial" panose="020B0604020202020204" pitchFamily="34" charset="0"/>
                          <a:cs typeface="Arial" panose="020B0604020202020204" pitchFamily="34" charset="0"/>
                        </a:rPr>
                        <a:t>Equipment</a:t>
                      </a: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IN" sz="1600" dirty="0">
                          <a:effectLst/>
                          <a:latin typeface="Arial" panose="020B0604020202020204" pitchFamily="34" charset="0"/>
                          <a:cs typeface="Arial" panose="020B0604020202020204" pitchFamily="34" charset="0"/>
                        </a:rPr>
                        <a:t>Raw materials</a:t>
                      </a: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1,15,500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0167206"/>
                  </a:ext>
                </a:extLst>
              </a:tr>
              <a:tr h="370002">
                <a:tc vMerge="1">
                  <a:txBody>
                    <a:bodyPr/>
                    <a:lstStyle/>
                    <a:p>
                      <a:pPr algn="ctr" rtl="0" fontAlgn="ctr">
                        <a:spcBef>
                          <a:spcPts val="0"/>
                        </a:spcBef>
                        <a:spcAft>
                          <a:spcPts val="0"/>
                        </a:spcAft>
                      </a:pPr>
                      <a:endParaRPr lang="en-IN"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spcBef>
                          <a:spcPts val="0"/>
                        </a:spcBef>
                        <a:spcAft>
                          <a:spcPts val="0"/>
                        </a:spcAft>
                      </a:pPr>
                      <a:r>
                        <a:rPr lang="en-US" sz="1600" dirty="0">
                          <a:effectLst/>
                          <a:latin typeface="Arial" panose="020B0604020202020204" pitchFamily="34" charset="0"/>
                          <a:cs typeface="Arial" panose="020B0604020202020204" pitchFamily="34" charset="0"/>
                        </a:rPr>
                        <a:t>Hiring printing press</a:t>
                      </a: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1,15,500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137943"/>
                  </a:ext>
                </a:extLst>
              </a:tr>
              <a:tr h="37000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dirty="0">
                          <a:effectLst/>
                          <a:latin typeface="Arial" panose="020B0604020202020204" pitchFamily="34" charset="0"/>
                          <a:cs typeface="Arial" panose="020B0604020202020204" pitchFamily="34" charset="0"/>
                        </a:rPr>
                        <a:t>Quality Checking</a:t>
                      </a: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pPr algn="ctr" rtl="0" fontAlgn="ctr">
                        <a:spcBef>
                          <a:spcPts val="0"/>
                        </a:spcBef>
                        <a:spcAft>
                          <a:spcPts val="0"/>
                        </a:spcAft>
                      </a:pPr>
                      <a:endParaRPr lang="en-US"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77,000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9680566"/>
                  </a:ext>
                </a:extLst>
              </a:tr>
              <a:tr h="370002">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dirty="0">
                          <a:effectLst/>
                          <a:latin typeface="Arial" panose="020B0604020202020204" pitchFamily="34" charset="0"/>
                          <a:cs typeface="Arial" panose="020B0604020202020204" pitchFamily="34" charset="0"/>
                        </a:rPr>
                        <a:t>Game Testing</a:t>
                      </a: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hMerge="1">
                  <a:txBody>
                    <a:bodyPr/>
                    <a:lstStyle/>
                    <a:p>
                      <a:pPr algn="ctr" rtl="0" fontAlgn="ctr">
                        <a:spcBef>
                          <a:spcPts val="0"/>
                        </a:spcBef>
                        <a:spcAft>
                          <a:spcPts val="0"/>
                        </a:spcAft>
                      </a:pPr>
                      <a:endParaRPr lang="en-US"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1,15,500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5767444"/>
                  </a:ext>
                </a:extLst>
              </a:tr>
              <a:tr h="572125">
                <a:tc>
                  <a:txBody>
                    <a:bodyPr/>
                    <a:lstStyle/>
                    <a:p>
                      <a:pPr algn="ctr" rtl="0" fontAlgn="ctr">
                        <a:spcBef>
                          <a:spcPts val="0"/>
                        </a:spcBef>
                        <a:spcAft>
                          <a:spcPts val="0"/>
                        </a:spcAft>
                      </a:pPr>
                      <a:r>
                        <a:rPr lang="en-IN" sz="1600" b="0" i="0" u="none" strike="noStrike" dirty="0">
                          <a:solidFill>
                            <a:srgbClr val="000000"/>
                          </a:solidFill>
                          <a:effectLst/>
                          <a:latin typeface="Arial" panose="020B0604020202020204" pitchFamily="34" charset="0"/>
                          <a:cs typeface="Arial" panose="020B0604020202020204" pitchFamily="34" charset="0"/>
                        </a:rPr>
                        <a:t>Total</a:t>
                      </a:r>
                      <a:endParaRPr lang="en-IN" sz="1600" dirty="0">
                        <a:effectLst/>
                        <a:latin typeface="Arial" panose="020B0604020202020204" pitchFamily="34" charset="0"/>
                        <a:cs typeface="Arial" panose="020B0604020202020204" pitchFamily="34" charset="0"/>
                      </a:endParaRPr>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t">
                        <a:spcBef>
                          <a:spcPts val="0"/>
                        </a:spcBef>
                        <a:spcAft>
                          <a:spcPts val="0"/>
                        </a:spcAft>
                      </a:pPr>
                      <a:r>
                        <a:rPr lang="en-IN" sz="1600" b="0" i="0" u="none" strike="noStrike" dirty="0">
                          <a:solidFill>
                            <a:srgbClr val="000000"/>
                          </a:solidFill>
                          <a:effectLst/>
                          <a:latin typeface="Arial" panose="020B0604020202020204" pitchFamily="34" charset="0"/>
                          <a:cs typeface="Arial" panose="020B0604020202020204" pitchFamily="34" charset="0"/>
                        </a:rPr>
                        <a:t>-</a:t>
                      </a:r>
                      <a:endParaRPr lang="en-IN" sz="1600" dirty="0">
                        <a:effectLst/>
                        <a:latin typeface="Arial" panose="020B0604020202020204" pitchFamily="34" charset="0"/>
                        <a:cs typeface="Arial" panose="020B0604020202020204" pitchFamily="34" charset="0"/>
                      </a:endParaRPr>
                    </a:p>
                  </a:txBody>
                  <a:tcPr marL="63500" marR="63500" marT="63500" marB="635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b"/>
                      <a:r>
                        <a:rPr lang="en-IN" sz="1600" dirty="0">
                          <a:effectLst/>
                          <a:latin typeface="Arial" panose="020B0604020202020204" pitchFamily="34" charset="0"/>
                          <a:cs typeface="Arial" panose="020B0604020202020204" pitchFamily="34" charset="0"/>
                        </a:rPr>
                        <a:t>7,70,000</a:t>
                      </a:r>
                    </a:p>
                  </a:txBody>
                  <a:tcPr marL="22860" marR="22860" marT="15240" marB="1524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82468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1635" y="720851"/>
            <a:ext cx="10576268" cy="1893339"/>
          </a:xfrm>
          <a:prstGeom prst="rect">
            <a:avLst/>
          </a:prstGeom>
        </p:spPr>
        <p:txBody>
          <a:bodyPr wrap="square">
            <a:spAutoFit/>
          </a:bodyPr>
          <a:lstStyle/>
          <a:p>
            <a:pPr>
              <a:lnSpc>
                <a:spcPct val="150000"/>
              </a:lnSpc>
            </a:pPr>
            <a:r>
              <a:rPr lang="en-US" sz="1600" b="1" dirty="0">
                <a:latin typeface="Arial" panose="020B0604020202020204" pitchFamily="34" charset="0"/>
                <a:cs typeface="Arial" panose="020B0604020202020204" pitchFamily="34" charset="0"/>
              </a:rPr>
              <a:t>12. (a) How do you intend to protect your idea (i.e. your intellectual property or IP)? </a:t>
            </a:r>
          </a:p>
          <a:p>
            <a:pPr>
              <a:lnSpc>
                <a:spcPct val="150000"/>
              </a:lnSpc>
            </a:pPr>
            <a:endParaRPr lang="en-US" sz="1600" b="1" dirty="0">
              <a:latin typeface="Arial" panose="020B0604020202020204" pitchFamily="34" charset="0"/>
              <a:cs typeface="Arial" panose="020B0604020202020204" pitchFamily="34" charset="0"/>
            </a:endParaRPr>
          </a:p>
          <a:p>
            <a:pPr>
              <a:lnSpc>
                <a:spcPct val="150000"/>
              </a:lnSpc>
            </a:pPr>
            <a:r>
              <a:rPr lang="en-US" sz="1600" dirty="0">
                <a:latin typeface="Arial" panose="020B0604020202020204" pitchFamily="34" charset="0"/>
                <a:cs typeface="Arial" panose="020B0604020202020204" pitchFamily="34" charset="0"/>
              </a:rPr>
              <a:t>	To safeguard the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board game idea, strategies like copyrighting artwork, design, and written content, trademarking the game's identifiers, and using NDAs with collaborators will be employed.</a:t>
            </a:r>
          </a:p>
        </p:txBody>
      </p:sp>
      <p:sp>
        <p:nvSpPr>
          <p:cNvPr id="3" name="Rectangle 2">
            <a:extLst>
              <a:ext uri="{FF2B5EF4-FFF2-40B4-BE49-F238E27FC236}">
                <a16:creationId xmlns:a16="http://schemas.microsoft.com/office/drawing/2014/main" id="{63C938E3-7FBB-AEC4-3005-1FAECF6F83EC}"/>
              </a:ext>
            </a:extLst>
          </p:cNvPr>
          <p:cNvSpPr/>
          <p:nvPr/>
        </p:nvSpPr>
        <p:spPr>
          <a:xfrm>
            <a:off x="835742" y="3275068"/>
            <a:ext cx="10736826" cy="2262671"/>
          </a:xfrm>
          <a:prstGeom prst="rect">
            <a:avLst/>
          </a:prstGeom>
        </p:spPr>
        <p:txBody>
          <a:bodyPr wrap="square">
            <a:spAutoFit/>
          </a:bodyPr>
          <a:lstStyle/>
          <a:p>
            <a:pPr algn="just">
              <a:lnSpc>
                <a:spcPct val="150000"/>
              </a:lnSpc>
            </a:pPr>
            <a:r>
              <a:rPr lang="en-US" sz="1600" b="1" dirty="0">
                <a:latin typeface="Arial" panose="020B0604020202020204" pitchFamily="34" charset="0"/>
                <a:cs typeface="Arial" panose="020B0604020202020204" pitchFamily="34" charset="0"/>
              </a:rPr>
              <a:t>(b) Related Background. (Data related to or supporting your solution should not be in this section)</a:t>
            </a:r>
          </a:p>
          <a:p>
            <a:pPr algn="just">
              <a:lnSpc>
                <a:spcPct val="150000"/>
              </a:lnSpc>
            </a:pPr>
            <a:endParaRPr lang="en-US" sz="1600" b="1" dirty="0">
              <a:latin typeface="Arial" panose="020B0604020202020204" pitchFamily="34" charset="0"/>
              <a:cs typeface="Arial" panose="020B0604020202020204" pitchFamily="34" charset="0"/>
            </a:endParaRPr>
          </a:p>
          <a:p>
            <a:pPr algn="just">
              <a:lnSpc>
                <a:spcPct val="150000"/>
              </a:lnSpc>
            </a:pP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game combines entertainment and education by allowing players to explore famous cities, learn about their unique goods, and engage in strategic trading activities by taking business games as a starting point. As a business game is a chance-based game, we’ve tried to implement this concept into a skill-based game.</a:t>
            </a:r>
            <a:endParaRPr lang="en-US" sz="1600" b="1" dirty="0">
              <a:latin typeface="Arial" panose="020B0604020202020204" pitchFamily="34" charset="0"/>
              <a:cs typeface="Arial" panose="020B0604020202020204" pitchFamily="34" charset="0"/>
            </a:endParaRPr>
          </a:p>
          <a:p>
            <a:pPr algn="just">
              <a:lnSpc>
                <a:spcPct val="150000"/>
              </a:lnSpc>
            </a:pP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1905" y="335845"/>
            <a:ext cx="10888189" cy="5262979"/>
          </a:xfrm>
          <a:prstGeom prst="rect">
            <a:avLst/>
          </a:prstGeom>
        </p:spPr>
        <p:txBody>
          <a:bodyPr wrap="square">
            <a:spAutoFit/>
          </a:bodyPr>
          <a:lstStyle/>
          <a:p>
            <a:pPr algn="just"/>
            <a:r>
              <a:rPr lang="en-US" sz="1600" b="1" dirty="0">
                <a:latin typeface="Arial" panose="020B0604020202020204" pitchFamily="34" charset="0"/>
                <a:cs typeface="Arial" panose="020B0604020202020204" pitchFamily="34" charset="0"/>
              </a:rPr>
              <a:t>13. How is this project made and used (how the innovation is implemented?) </a:t>
            </a:r>
          </a:p>
          <a:p>
            <a:pPr algn="just"/>
            <a:endParaRPr lang="en-US" sz="1600" b="1" dirty="0">
              <a:latin typeface="Arial" panose="020B0604020202020204" pitchFamily="34" charset="0"/>
              <a:cs typeface="Arial" panose="020B0604020202020204" pitchFamily="34" charset="0"/>
            </a:endParaRPr>
          </a:p>
          <a:p>
            <a:pPr algn="just"/>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project is implemented through these,</a:t>
            </a:r>
          </a:p>
          <a:p>
            <a:pPr algn="just"/>
            <a:r>
              <a:rPr lang="en-US" sz="1600" dirty="0">
                <a:latin typeface="Arial" panose="020B0604020202020204" pitchFamily="34" charset="0"/>
                <a:cs typeface="Arial" panose="020B0604020202020204" pitchFamily="34" charset="0"/>
              </a:rPr>
              <a:t> </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Conceptualization: Formulate the game idea, mechanics, and educational content.</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Design: Create game components, artwork, and mechanics.</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Prototyping: Develop a playable prototype for testing.</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Playtesting: Refine mechanics based on player feedback.</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Production: Source materials and manufacture components.</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Marketing: Promote the game through various channels.</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Distribution: Make the game available for purchase.</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Engagement: Build a community and gather feedback.</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Future Development: Consider expansions and adaptations.</a:t>
            </a:r>
          </a:p>
          <a:p>
            <a:pPr algn="just"/>
            <a:endParaRPr lang="en-US" sz="1600" b="1" dirty="0">
              <a:latin typeface="Arial" panose="020B0604020202020204" pitchFamily="34" charset="0"/>
              <a:cs typeface="Arial" panose="020B0604020202020204" pitchFamily="34" charset="0"/>
            </a:endParaRPr>
          </a:p>
          <a:p>
            <a:pPr algn="just"/>
            <a:r>
              <a:rPr lang="en-US" sz="1600" b="1" dirty="0">
                <a:latin typeface="Arial" panose="020B0604020202020204" pitchFamily="34" charset="0"/>
                <a:cs typeface="Arial" panose="020B0604020202020204" pitchFamily="34" charset="0"/>
              </a:rPr>
              <a:t>How does the technical innovation actually work and what is the detailed process to achieve the technical innovation? </a:t>
            </a:r>
          </a:p>
          <a:p>
            <a:pPr algn="just"/>
            <a:endParaRPr lang="en-US" sz="1600" b="1" dirty="0">
              <a:latin typeface="Arial" panose="020B0604020202020204" pitchFamily="34" charset="0"/>
              <a:cs typeface="Arial" panose="020B0604020202020204" pitchFamily="34" charset="0"/>
            </a:endParaRPr>
          </a:p>
          <a:p>
            <a:pPr algn="just"/>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The technical innovation of "</a:t>
            </a:r>
            <a:r>
              <a:rPr lang="en-US" sz="1600" spc="25" dirty="0">
                <a:solidFill>
                  <a:srgbClr val="231F20"/>
                </a:solidFill>
                <a:latin typeface="Arial" panose="020B0604020202020204" pitchFamily="34" charset="0"/>
                <a:cs typeface="Arial" panose="020B0604020202020204" pitchFamily="34" charset="0"/>
              </a:rPr>
              <a:t> Treasure Traders : Journey through India </a:t>
            </a:r>
            <a:r>
              <a:rPr lang="en-US" sz="1600" dirty="0">
                <a:latin typeface="Arial" panose="020B0604020202020204" pitchFamily="34" charset="0"/>
                <a:cs typeface="Arial" panose="020B0604020202020204" pitchFamily="34" charset="0"/>
              </a:rPr>
              <a:t>" involves combining a card-based system with economic simulation and educational content. Randomized gameplay, decision trees, and player interaction create an immersive trading experience. The game mechanics, including scoring, feedback, and artwork, work together to seamlessly merge entertainment and education, offering an engaging and educational board game.</a:t>
            </a:r>
            <a:endParaRPr lang="en-US" sz="1600" b="1" dirty="0">
              <a:latin typeface="Arial" panose="020B0604020202020204" pitchFamily="34" charset="0"/>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04E91AC-902C-F61A-D53B-2D4589BBE9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 t="4737" r="3563" b="6134"/>
          <a:stretch/>
        </p:blipFill>
        <p:spPr>
          <a:xfrm>
            <a:off x="974275" y="966705"/>
            <a:ext cx="5853514" cy="3043123"/>
          </a:xfrm>
          <a:prstGeom prst="rect">
            <a:avLst/>
          </a:prstGeom>
        </p:spPr>
      </p:pic>
      <p:sp>
        <p:nvSpPr>
          <p:cNvPr id="2" name="Rectangle 1"/>
          <p:cNvSpPr/>
          <p:nvPr/>
        </p:nvSpPr>
        <p:spPr>
          <a:xfrm>
            <a:off x="609600" y="497932"/>
            <a:ext cx="10753165" cy="369332"/>
          </a:xfrm>
          <a:prstGeom prst="rect">
            <a:avLst/>
          </a:prstGeom>
        </p:spPr>
        <p:txBody>
          <a:bodyPr wrap="square">
            <a:spAutoFit/>
          </a:bodyPr>
          <a:lstStyle/>
          <a:p>
            <a:r>
              <a:rPr lang="en-US" b="1" dirty="0"/>
              <a:t>14. Upload a Block diagram/ flow chart/ Circuit Diagram/Pictures of a proposed idea. </a:t>
            </a:r>
          </a:p>
        </p:txBody>
      </p:sp>
      <p:pic>
        <p:nvPicPr>
          <p:cNvPr id="4" name="Picture 3">
            <a:extLst>
              <a:ext uri="{FF2B5EF4-FFF2-40B4-BE49-F238E27FC236}">
                <a16:creationId xmlns:a16="http://schemas.microsoft.com/office/drawing/2014/main" id="{BCE26846-7669-DBA3-E3A9-A0D5EE6E8C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18983" y="1069402"/>
            <a:ext cx="3685863" cy="5290665"/>
          </a:xfrm>
          <a:prstGeom prst="rect">
            <a:avLst/>
          </a:prstGeom>
        </p:spPr>
      </p:pic>
      <p:pic>
        <p:nvPicPr>
          <p:cNvPr id="5" name="Picture 4">
            <a:extLst>
              <a:ext uri="{FF2B5EF4-FFF2-40B4-BE49-F238E27FC236}">
                <a16:creationId xmlns:a16="http://schemas.microsoft.com/office/drawing/2014/main" id="{3F6832D9-E22B-C86F-F12B-0A60334D29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25510" y="3913413"/>
            <a:ext cx="1682979" cy="2380450"/>
          </a:xfrm>
          <a:prstGeom prst="rect">
            <a:avLst/>
          </a:prstGeom>
        </p:spPr>
      </p:pic>
      <p:pic>
        <p:nvPicPr>
          <p:cNvPr id="9" name="Picture 8">
            <a:extLst>
              <a:ext uri="{FF2B5EF4-FFF2-40B4-BE49-F238E27FC236}">
                <a16:creationId xmlns:a16="http://schemas.microsoft.com/office/drawing/2014/main" id="{01D32CCE-172B-8580-EC41-9E72FE05E6D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01213" y="4109269"/>
            <a:ext cx="4414684" cy="24832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954"/>
            <a:ext cx="12192000" cy="68639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3130</TotalTime>
  <Words>2250</Words>
  <Application>Microsoft Office PowerPoint</Application>
  <PresentationFormat>Widescreen</PresentationFormat>
  <Paragraphs>228</Paragraphs>
  <Slides>26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(Body)</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MEHA MURALI</cp:lastModifiedBy>
  <cp:revision>102</cp:revision>
  <dcterms:created xsi:type="dcterms:W3CDTF">2022-11-05T11:50:36Z</dcterms:created>
  <dcterms:modified xsi:type="dcterms:W3CDTF">2023-08-31T06:59:28Z</dcterms:modified>
</cp:coreProperties>
</file>