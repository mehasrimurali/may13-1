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6" r:id="rId6"/>
    <p:sldId id="261" r:id="rId7"/>
    <p:sldId id="267" r:id="rId8"/>
    <p:sldId id="262" r:id="rId9"/>
    <p:sldId id="265" r:id="rId10"/>
    <p:sldId id="268" r:id="rId11"/>
    <p:sldId id="263" r:id="rId12"/>
    <p:sldId id="264"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Canva Sans 1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21.svg"/><Relationship Id="rId4" Type="http://schemas.openxmlformats.org/officeDocument/2006/relationships/image" Target="../media/image7.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2" name="Freeform 2"/>
          <p:cNvSpPr/>
          <p:nvPr/>
        </p:nvSpPr>
        <p:spPr>
          <a:xfrm>
            <a:off x="11087100" y="4704883"/>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latin typeface="Arial" panose="020B0604020202020204" pitchFamily="34" charset="0"/>
              <a:cs typeface="Arial" panose="020B0604020202020204" pitchFamily="34" charset="0"/>
            </a:endParaRPr>
          </a:p>
        </p:txBody>
      </p:sp>
      <p:sp>
        <p:nvSpPr>
          <p:cNvPr id="3" name="TextBox 3"/>
          <p:cNvSpPr txBox="1"/>
          <p:nvPr/>
        </p:nvSpPr>
        <p:spPr>
          <a:xfrm>
            <a:off x="1028700" y="5021218"/>
            <a:ext cx="10058400" cy="1512850"/>
          </a:xfrm>
          <a:prstGeom prst="rect">
            <a:avLst/>
          </a:prstGeom>
        </p:spPr>
        <p:txBody>
          <a:bodyPr lIns="0" tIns="0" rIns="0" bIns="0" rtlCol="0" anchor="t">
            <a:spAutoFit/>
          </a:bodyPr>
          <a:lstStyle/>
          <a:p>
            <a:pPr>
              <a:lnSpc>
                <a:spcPts val="5968"/>
              </a:lnSpc>
            </a:pPr>
            <a:r>
              <a:rPr lang="en-US" sz="4973" b="1" spc="338" dirty="0">
                <a:solidFill>
                  <a:srgbClr val="000000"/>
                </a:solidFill>
                <a:latin typeface="Arial" panose="020B0604020202020204" pitchFamily="34" charset="0"/>
                <a:cs typeface="Arial" panose="020B0604020202020204" pitchFamily="34" charset="0"/>
              </a:rPr>
              <a:t>Indian Traders: Journey Across the Subcontinent</a:t>
            </a:r>
          </a:p>
        </p:txBody>
      </p:sp>
      <p:sp>
        <p:nvSpPr>
          <p:cNvPr id="4" name="Freeform 4"/>
          <p:cNvSpPr/>
          <p:nvPr/>
        </p:nvSpPr>
        <p:spPr>
          <a:xfrm>
            <a:off x="9046764" y="4533900"/>
            <a:ext cx="859236" cy="859236"/>
          </a:xfrm>
          <a:custGeom>
            <a:avLst/>
            <a:gdLst/>
            <a:ahLst/>
            <a:cxnLst/>
            <a:rect l="l" t="t" r="r" b="b"/>
            <a:pathLst>
              <a:path w="859236" h="859236">
                <a:moveTo>
                  <a:pt x="0" y="0"/>
                </a:moveTo>
                <a:lnTo>
                  <a:pt x="859237" y="0"/>
                </a:lnTo>
                <a:lnTo>
                  <a:pt x="859237" y="859236"/>
                </a:lnTo>
                <a:lnTo>
                  <a:pt x="0" y="859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latin typeface="Arial" panose="020B0604020202020204" pitchFamily="34" charset="0"/>
              <a:cs typeface="Arial" panose="020B0604020202020204" pitchFamily="34" charset="0"/>
            </a:endParaRPr>
          </a:p>
        </p:txBody>
      </p:sp>
      <p:sp>
        <p:nvSpPr>
          <p:cNvPr id="5" name="Freeform 5"/>
          <p:cNvSpPr/>
          <p:nvPr/>
        </p:nvSpPr>
        <p:spPr>
          <a:xfrm rot="7682761">
            <a:off x="-1383321" y="-18594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9534786">
            <a:off x="15064895" y="-340421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3189890" y="831288"/>
            <a:ext cx="5361332" cy="1287348"/>
          </a:xfrm>
          <a:custGeom>
            <a:avLst/>
            <a:gdLst/>
            <a:ahLst/>
            <a:cxnLst/>
            <a:rect l="l" t="t" r="r" b="b"/>
            <a:pathLst>
              <a:path w="5361332" h="1287348">
                <a:moveTo>
                  <a:pt x="0" y="0"/>
                </a:moveTo>
                <a:lnTo>
                  <a:pt x="5361332" y="0"/>
                </a:lnTo>
                <a:lnTo>
                  <a:pt x="5361332" y="1287347"/>
                </a:lnTo>
                <a:lnTo>
                  <a:pt x="0" y="1287347"/>
                </a:lnTo>
                <a:lnTo>
                  <a:pt x="0" y="0"/>
                </a:lnTo>
                <a:close/>
              </a:path>
            </a:pathLst>
          </a:custGeom>
          <a:blipFill>
            <a:blip r:embed="rId8"/>
            <a:stretch>
              <a:fillRect/>
            </a:stretch>
          </a:blipFill>
        </p:spPr>
      </p:sp>
      <p:sp>
        <p:nvSpPr>
          <p:cNvPr id="9" name="Freeform 9"/>
          <p:cNvSpPr/>
          <p:nvPr/>
        </p:nvSpPr>
        <p:spPr>
          <a:xfrm>
            <a:off x="9493257" y="576155"/>
            <a:ext cx="2275356" cy="1797612"/>
          </a:xfrm>
          <a:custGeom>
            <a:avLst/>
            <a:gdLst/>
            <a:ahLst/>
            <a:cxnLst/>
            <a:rect l="l" t="t" r="r" b="b"/>
            <a:pathLst>
              <a:path w="2275356" h="1797612">
                <a:moveTo>
                  <a:pt x="0" y="0"/>
                </a:moveTo>
                <a:lnTo>
                  <a:pt x="2275356" y="0"/>
                </a:lnTo>
                <a:lnTo>
                  <a:pt x="2275356" y="1797613"/>
                </a:lnTo>
                <a:lnTo>
                  <a:pt x="0" y="1797613"/>
                </a:lnTo>
                <a:lnTo>
                  <a:pt x="0" y="0"/>
                </a:lnTo>
                <a:close/>
              </a:path>
            </a:pathLst>
          </a:custGeom>
          <a:blipFill>
            <a:blip r:embed="rId9"/>
            <a:stretch>
              <a:fillRect/>
            </a:stretch>
          </a:blipFill>
        </p:spPr>
      </p:sp>
      <p:sp>
        <p:nvSpPr>
          <p:cNvPr id="10" name="TextBox 10"/>
          <p:cNvSpPr txBox="1"/>
          <p:nvPr/>
        </p:nvSpPr>
        <p:spPr>
          <a:xfrm>
            <a:off x="12552796" y="5805375"/>
            <a:ext cx="4964513" cy="1706749"/>
          </a:xfrm>
          <a:prstGeom prst="rect">
            <a:avLst/>
          </a:prstGeom>
        </p:spPr>
        <p:txBody>
          <a:bodyPr lIns="0" tIns="0" rIns="0" bIns="0" rtlCol="0" anchor="t">
            <a:spAutoFit/>
          </a:bodyPr>
          <a:lstStyle/>
          <a:p>
            <a:pPr algn="ctr">
              <a:lnSpc>
                <a:spcPts val="3422"/>
              </a:lnSpc>
            </a:pPr>
            <a:r>
              <a:rPr lang="en-US" sz="2166" spc="108" dirty="0">
                <a:solidFill>
                  <a:srgbClr val="FFFFFF"/>
                </a:solidFill>
                <a:latin typeface="Arial" panose="020B0604020202020204" pitchFamily="34" charset="0"/>
                <a:cs typeface="Arial" panose="020B0604020202020204" pitchFamily="34" charset="0"/>
              </a:rPr>
              <a:t>Presented By: </a:t>
            </a:r>
          </a:p>
          <a:p>
            <a:pPr algn="ctr">
              <a:lnSpc>
                <a:spcPts val="3422"/>
              </a:lnSpc>
            </a:pPr>
            <a:r>
              <a:rPr lang="en-US" sz="2166" spc="108" dirty="0" err="1">
                <a:solidFill>
                  <a:srgbClr val="FFFFFF"/>
                </a:solidFill>
                <a:latin typeface="Arial" panose="020B0604020202020204" pitchFamily="34" charset="0"/>
                <a:cs typeface="Arial" panose="020B0604020202020204" pitchFamily="34" charset="0"/>
              </a:rPr>
              <a:t>Anisa.F</a:t>
            </a:r>
            <a:r>
              <a:rPr lang="en-US" sz="2166" spc="108" dirty="0">
                <a:solidFill>
                  <a:srgbClr val="FFFFFF"/>
                </a:solidFill>
                <a:latin typeface="Arial" panose="020B0604020202020204" pitchFamily="34" charset="0"/>
                <a:cs typeface="Arial" panose="020B0604020202020204" pitchFamily="34" charset="0"/>
              </a:rPr>
              <a:t> (73772221109)</a:t>
            </a:r>
          </a:p>
          <a:p>
            <a:pPr algn="ctr">
              <a:lnSpc>
                <a:spcPts val="3422"/>
              </a:lnSpc>
            </a:pPr>
            <a:r>
              <a:rPr lang="en-US" sz="2166" spc="108" dirty="0" err="1">
                <a:solidFill>
                  <a:srgbClr val="FFFFFF"/>
                </a:solidFill>
                <a:latin typeface="Arial" panose="020B0604020202020204" pitchFamily="34" charset="0"/>
                <a:cs typeface="Arial" panose="020B0604020202020204" pitchFamily="34" charset="0"/>
              </a:rPr>
              <a:t>Mehasri.M.A</a:t>
            </a:r>
            <a:r>
              <a:rPr lang="en-US" sz="2166" spc="108" dirty="0">
                <a:solidFill>
                  <a:srgbClr val="FFFFFF"/>
                </a:solidFill>
                <a:latin typeface="Arial" panose="020B0604020202020204" pitchFamily="34" charset="0"/>
                <a:cs typeface="Arial" panose="020B0604020202020204" pitchFamily="34" charset="0"/>
              </a:rPr>
              <a:t> (73772221160)</a:t>
            </a:r>
          </a:p>
          <a:p>
            <a:pPr algn="ctr">
              <a:lnSpc>
                <a:spcPts val="3422"/>
              </a:lnSpc>
            </a:pPr>
            <a:r>
              <a:rPr lang="en-US" sz="2166" spc="108" dirty="0">
                <a:solidFill>
                  <a:srgbClr val="FFFFFF"/>
                </a:solidFill>
                <a:latin typeface="Arial" panose="020B0604020202020204" pitchFamily="34" charset="0"/>
                <a:cs typeface="Arial" panose="020B0604020202020204" pitchFamily="34" charset="0"/>
              </a:rPr>
              <a:t>I year IT-A</a:t>
            </a:r>
          </a:p>
        </p:txBody>
      </p:sp>
      <p:sp>
        <p:nvSpPr>
          <p:cNvPr id="11" name="TextBox 11"/>
          <p:cNvSpPr txBox="1"/>
          <p:nvPr/>
        </p:nvSpPr>
        <p:spPr>
          <a:xfrm>
            <a:off x="5870556" y="2894920"/>
            <a:ext cx="8883055" cy="614014"/>
          </a:xfrm>
          <a:prstGeom prst="rect">
            <a:avLst/>
          </a:prstGeom>
        </p:spPr>
        <p:txBody>
          <a:bodyPr lIns="0" tIns="0" rIns="0" bIns="0" rtlCol="0" anchor="t">
            <a:spAutoFit/>
          </a:bodyPr>
          <a:lstStyle/>
          <a:p>
            <a:pPr algn="ctr">
              <a:lnSpc>
                <a:spcPts val="5076"/>
              </a:lnSpc>
            </a:pPr>
            <a:r>
              <a:rPr lang="en-US" sz="4230" b="1" spc="287" dirty="0">
                <a:solidFill>
                  <a:srgbClr val="F35000"/>
                </a:solidFill>
                <a:latin typeface="Arial" panose="020B0604020202020204" pitchFamily="34" charset="0"/>
                <a:cs typeface="Arial" panose="020B0604020202020204" pitchFamily="34" charset="0"/>
              </a:rPr>
              <a:t>MSME IDEA HACKATHON 3.0</a:t>
            </a:r>
          </a:p>
        </p:txBody>
      </p:sp>
      <p:sp>
        <p:nvSpPr>
          <p:cNvPr id="12" name="Freeform 12"/>
          <p:cNvSpPr/>
          <p:nvPr/>
        </p:nvSpPr>
        <p:spPr>
          <a:xfrm>
            <a:off x="15413639" y="703721"/>
            <a:ext cx="1482680" cy="1542480"/>
          </a:xfrm>
          <a:custGeom>
            <a:avLst/>
            <a:gdLst/>
            <a:ahLst/>
            <a:cxnLst/>
            <a:rect l="l" t="t" r="r" b="b"/>
            <a:pathLst>
              <a:path w="1482680" h="1542480">
                <a:moveTo>
                  <a:pt x="0" y="0"/>
                </a:moveTo>
                <a:lnTo>
                  <a:pt x="1482681" y="0"/>
                </a:lnTo>
                <a:lnTo>
                  <a:pt x="1482681" y="1542480"/>
                </a:lnTo>
                <a:lnTo>
                  <a:pt x="0" y="1542480"/>
                </a:lnTo>
                <a:lnTo>
                  <a:pt x="0" y="0"/>
                </a:lnTo>
                <a:close/>
              </a:path>
            </a:pathLst>
          </a:custGeom>
          <a:blipFill>
            <a:blip r:embed="rId10"/>
            <a:stretch>
              <a:fillRect/>
            </a:stretch>
          </a:blipFill>
        </p:spPr>
      </p:sp>
      <p:sp>
        <p:nvSpPr>
          <p:cNvPr id="13" name="TextBox 13"/>
          <p:cNvSpPr txBox="1"/>
          <p:nvPr/>
        </p:nvSpPr>
        <p:spPr>
          <a:xfrm>
            <a:off x="11972091" y="7734300"/>
            <a:ext cx="5858709" cy="1851020"/>
          </a:xfrm>
          <a:prstGeom prst="rect">
            <a:avLst/>
          </a:prstGeom>
        </p:spPr>
        <p:txBody>
          <a:bodyPr wrap="square" lIns="0" tIns="0" rIns="0" bIns="0" rtlCol="0" anchor="t">
            <a:spAutoFit/>
          </a:bodyPr>
          <a:lstStyle/>
          <a:p>
            <a:pPr algn="ctr">
              <a:lnSpc>
                <a:spcPts val="3726"/>
              </a:lnSpc>
            </a:pPr>
            <a:r>
              <a:rPr lang="en-US" sz="2166" spc="108" dirty="0">
                <a:solidFill>
                  <a:srgbClr val="FFFFFF"/>
                </a:solidFill>
                <a:latin typeface="Arial" panose="020B0604020202020204" pitchFamily="34" charset="0"/>
                <a:cs typeface="Arial" panose="020B0604020202020204" pitchFamily="34" charset="0"/>
              </a:rPr>
              <a:t>Project Mentor:</a:t>
            </a:r>
          </a:p>
          <a:p>
            <a:pPr algn="ctr">
              <a:lnSpc>
                <a:spcPts val="3726"/>
              </a:lnSpc>
            </a:pPr>
            <a:r>
              <a:rPr lang="en-US" sz="2166" spc="108" dirty="0" err="1">
                <a:solidFill>
                  <a:srgbClr val="FFFFFF"/>
                </a:solidFill>
                <a:latin typeface="Arial" panose="020B0604020202020204" pitchFamily="34" charset="0"/>
                <a:cs typeface="Arial" panose="020B0604020202020204" pitchFamily="34" charset="0"/>
              </a:rPr>
              <a:t>DrJ.NithyaB.E.,M.E.,PhD</a:t>
            </a:r>
            <a:r>
              <a:rPr lang="en-US" sz="2166" spc="108" dirty="0">
                <a:solidFill>
                  <a:srgbClr val="FFFFFF"/>
                </a:solidFill>
                <a:latin typeface="Arial" panose="020B0604020202020204" pitchFamily="34" charset="0"/>
                <a:cs typeface="Arial" panose="020B0604020202020204" pitchFamily="34" charset="0"/>
              </a:rPr>
              <a:t>,</a:t>
            </a:r>
          </a:p>
          <a:p>
            <a:pPr algn="ctr">
              <a:lnSpc>
                <a:spcPts val="3726"/>
              </a:lnSpc>
            </a:pPr>
            <a:r>
              <a:rPr lang="en-US" sz="2166" spc="108" dirty="0">
                <a:solidFill>
                  <a:srgbClr val="FFFFFF"/>
                </a:solidFill>
                <a:latin typeface="Arial" panose="020B0604020202020204" pitchFamily="34" charset="0"/>
                <a:cs typeface="Arial" panose="020B0604020202020204" pitchFamily="34" charset="0"/>
              </a:rPr>
              <a:t>Department of Information Technology</a:t>
            </a:r>
          </a:p>
          <a:p>
            <a:pPr algn="ctr">
              <a:lnSpc>
                <a:spcPts val="3726"/>
              </a:lnSpc>
            </a:pPr>
            <a:r>
              <a:rPr lang="en-US" sz="2166" spc="108" dirty="0">
                <a:solidFill>
                  <a:srgbClr val="FFFFFF"/>
                </a:solidFill>
                <a:latin typeface="Arial" panose="020B0604020202020204" pitchFamily="34" charset="0"/>
                <a:cs typeface="Arial" panose="020B0604020202020204" pitchFamily="34" charset="0"/>
              </a:rPr>
              <a:t>nithyaj@ksrct.ac.in</a:t>
            </a:r>
          </a:p>
        </p:txBody>
      </p:sp>
      <p:sp>
        <p:nvSpPr>
          <p:cNvPr id="14" name="TextBox 14"/>
          <p:cNvSpPr txBox="1"/>
          <p:nvPr/>
        </p:nvSpPr>
        <p:spPr>
          <a:xfrm>
            <a:off x="1043960" y="6931244"/>
            <a:ext cx="9776440" cy="1336456"/>
          </a:xfrm>
          <a:prstGeom prst="rect">
            <a:avLst/>
          </a:prstGeom>
        </p:spPr>
        <p:txBody>
          <a:bodyPr wrap="square" lIns="0" tIns="0" rIns="0" bIns="0" rtlCol="0" anchor="t">
            <a:spAutoFit/>
          </a:bodyPr>
          <a:lstStyle/>
          <a:p>
            <a:pPr algn="just">
              <a:lnSpc>
                <a:spcPts val="5467"/>
              </a:lnSpc>
            </a:pPr>
            <a:r>
              <a:rPr lang="en-US" sz="3054" spc="30" dirty="0">
                <a:solidFill>
                  <a:srgbClr val="000000"/>
                </a:solidFill>
                <a:latin typeface="Arial" panose="020B0604020202020204" pitchFamily="34" charset="0"/>
                <a:cs typeface="Arial" panose="020B0604020202020204" pitchFamily="34" charset="0"/>
              </a:rPr>
              <a:t>Sector: Service Sector (Education),</a:t>
            </a:r>
          </a:p>
          <a:p>
            <a:pPr algn="just">
              <a:lnSpc>
                <a:spcPts val="5467"/>
              </a:lnSpc>
            </a:pPr>
            <a:r>
              <a:rPr lang="en-US" sz="3054" spc="30" dirty="0">
                <a:solidFill>
                  <a:srgbClr val="000000"/>
                </a:solidFill>
                <a:latin typeface="Arial" panose="020B0604020202020204" pitchFamily="34" charset="0"/>
                <a:cs typeface="Arial" panose="020B0604020202020204" pitchFamily="34" charset="0"/>
              </a:rPr>
              <a:t>Theme: AVGC (Animation, Visual, Gaming, Comics)</a:t>
            </a:r>
          </a:p>
        </p:txBody>
      </p:sp>
      <p:sp>
        <p:nvSpPr>
          <p:cNvPr id="15" name="TextBox 15"/>
          <p:cNvSpPr txBox="1"/>
          <p:nvPr/>
        </p:nvSpPr>
        <p:spPr>
          <a:xfrm>
            <a:off x="1043960" y="4021757"/>
            <a:ext cx="6728440" cy="454868"/>
          </a:xfrm>
          <a:prstGeom prst="rect">
            <a:avLst/>
          </a:prstGeom>
        </p:spPr>
        <p:txBody>
          <a:bodyPr wrap="square" lIns="0" tIns="0" rIns="0" bIns="0" rtlCol="0" anchor="t">
            <a:spAutoFit/>
          </a:bodyPr>
          <a:lstStyle/>
          <a:p>
            <a:pPr>
              <a:lnSpc>
                <a:spcPts val="3780"/>
              </a:lnSpc>
              <a:spcBef>
                <a:spcPct val="0"/>
              </a:spcBef>
            </a:pPr>
            <a:r>
              <a:rPr lang="en-US" sz="2700" spc="27" dirty="0">
                <a:solidFill>
                  <a:srgbClr val="000000"/>
                </a:solidFill>
                <a:latin typeface="Arial" panose="020B0604020202020204" pitchFamily="34" charset="0"/>
                <a:cs typeface="Arial" panose="020B0604020202020204" pitchFamily="34" charset="0"/>
              </a:rPr>
              <a:t>Department of Information Technology</a:t>
            </a:r>
          </a:p>
        </p:txBody>
      </p:sp>
      <p:pic>
        <p:nvPicPr>
          <p:cNvPr id="17" name="Picture 16">
            <a:extLst>
              <a:ext uri="{FF2B5EF4-FFF2-40B4-BE49-F238E27FC236}">
                <a16:creationId xmlns:a16="http://schemas.microsoft.com/office/drawing/2014/main" id="{41FC6BB1-94E7-FCBB-FAE1-8524A2A0F89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972091" y="701680"/>
            <a:ext cx="2945730" cy="13435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2" name="Freeform 2"/>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latin typeface="Arial" panose="020B0604020202020204" pitchFamily="34" charset="0"/>
              <a:cs typeface="Arial" panose="020B0604020202020204" pitchFamily="34" charset="0"/>
            </a:endParaRPr>
          </a:p>
        </p:txBody>
      </p:sp>
      <p:sp>
        <p:nvSpPr>
          <p:cNvPr id="3" name="TextBox 3"/>
          <p:cNvSpPr txBox="1"/>
          <p:nvPr/>
        </p:nvSpPr>
        <p:spPr>
          <a:xfrm>
            <a:off x="1133475" y="4457700"/>
            <a:ext cx="16305979" cy="729622"/>
          </a:xfrm>
          <a:prstGeom prst="rect">
            <a:avLst/>
          </a:prstGeom>
        </p:spPr>
        <p:txBody>
          <a:bodyPr lIns="0" tIns="0" rIns="0" bIns="0" rtlCol="0" anchor="t">
            <a:spAutoFit/>
          </a:bodyPr>
          <a:lstStyle/>
          <a:p>
            <a:pPr marL="0" lvl="0" indent="0">
              <a:lnSpc>
                <a:spcPts val="5979"/>
              </a:lnSpc>
              <a:spcBef>
                <a:spcPct val="0"/>
              </a:spcBef>
            </a:pPr>
            <a:r>
              <a:rPr lang="en-US" sz="4333" b="1" spc="216" dirty="0">
                <a:solidFill>
                  <a:srgbClr val="F47C00"/>
                </a:solidFill>
                <a:latin typeface="Arial" panose="020B0604020202020204" pitchFamily="34" charset="0"/>
                <a:cs typeface="Arial" panose="020B0604020202020204" pitchFamily="34" charset="0"/>
              </a:rPr>
              <a:t>Newness/uniqueness of the innovation:</a:t>
            </a:r>
          </a:p>
        </p:txBody>
      </p:sp>
      <p:sp>
        <p:nvSpPr>
          <p:cNvPr id="4" name="Freeform 4"/>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4"/>
            <a:stretch>
              <a:fillRect/>
            </a:stretch>
          </a:blipFill>
        </p:spPr>
      </p:sp>
      <p:sp>
        <p:nvSpPr>
          <p:cNvPr id="5" name="Freeform 5"/>
          <p:cNvSpPr/>
          <p:nvPr/>
        </p:nvSpPr>
        <p:spPr>
          <a:xfrm>
            <a:off x="0" y="465263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066800" y="5638864"/>
            <a:ext cx="16230600" cy="3809504"/>
          </a:xfrm>
          <a:prstGeom prst="rect">
            <a:avLst/>
          </a:prstGeom>
        </p:spPr>
        <p:txBody>
          <a:bodyPr lIns="0" tIns="0" rIns="0" bIns="0" rtlCol="0" anchor="t">
            <a:spAutoFit/>
          </a:bodyPr>
          <a:lstStyle/>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Immersive cultural experience: </a:t>
            </a:r>
            <a:r>
              <a:rPr lang="en-US" sz="2400" spc="25" dirty="0">
                <a:solidFill>
                  <a:srgbClr val="231F20"/>
                </a:solidFill>
                <a:latin typeface="Arial" panose="020B0604020202020204" pitchFamily="34" charset="0"/>
                <a:cs typeface="Arial" panose="020B0604020202020204" pitchFamily="34" charset="0"/>
              </a:rPr>
              <a:t>Integrating the diverse culture, traditions, and climates of Indian cities.</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Realistic trading mechanics: </a:t>
            </a:r>
            <a:r>
              <a:rPr lang="en-US" sz="2400" spc="25" dirty="0">
                <a:solidFill>
                  <a:srgbClr val="231F20"/>
                </a:solidFill>
                <a:latin typeface="Arial" panose="020B0604020202020204" pitchFamily="34" charset="0"/>
                <a:cs typeface="Arial" panose="020B0604020202020204" pitchFamily="34" charset="0"/>
              </a:rPr>
              <a:t>Simulating real-world market dynamics and economic principles.</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Interactive learning: </a:t>
            </a:r>
            <a:r>
              <a:rPr lang="en-US" sz="2400" spc="25" dirty="0">
                <a:solidFill>
                  <a:srgbClr val="231F20"/>
                </a:solidFill>
                <a:latin typeface="Arial" panose="020B0604020202020204" pitchFamily="34" charset="0"/>
                <a:cs typeface="Arial" panose="020B0604020202020204" pitchFamily="34" charset="0"/>
              </a:rPr>
              <a:t>Engaging and enjoyable gameplay that promotes critical thinking and knowledge retention.</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Customizable gameplay: </a:t>
            </a:r>
            <a:r>
              <a:rPr lang="en-US" sz="2400" spc="25" dirty="0">
                <a:solidFill>
                  <a:srgbClr val="231F20"/>
                </a:solidFill>
                <a:latin typeface="Arial" panose="020B0604020202020204" pitchFamily="34" charset="0"/>
                <a:cs typeface="Arial" panose="020B0604020202020204" pitchFamily="34" charset="0"/>
              </a:rPr>
              <a:t>Adaptable difficulty levels and rule variations for different preferences and skill levels.</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Cross-cultural exchange: </a:t>
            </a:r>
            <a:r>
              <a:rPr lang="en-US" sz="2400" spc="25" dirty="0">
                <a:solidFill>
                  <a:srgbClr val="231F20"/>
                </a:solidFill>
                <a:latin typeface="Arial" panose="020B0604020202020204" pitchFamily="34" charset="0"/>
                <a:cs typeface="Arial" panose="020B0604020202020204" pitchFamily="34" charset="0"/>
              </a:rPr>
              <a:t>Promoting communication, negotiation skills, and appreciation for different perspectives.</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Replayability and variety: </a:t>
            </a:r>
            <a:r>
              <a:rPr lang="en-US" sz="2400" spc="25" dirty="0">
                <a:solidFill>
                  <a:srgbClr val="231F20"/>
                </a:solidFill>
                <a:latin typeface="Arial" panose="020B0604020202020204" pitchFamily="34" charset="0"/>
                <a:cs typeface="Arial" panose="020B0604020202020204" pitchFamily="34" charset="0"/>
              </a:rPr>
              <a:t>100 unique city cards and randomized gameplay for endless entertainment value.</a:t>
            </a:r>
          </a:p>
        </p:txBody>
      </p:sp>
      <p:sp>
        <p:nvSpPr>
          <p:cNvPr id="7" name="TextBox 3">
            <a:extLst>
              <a:ext uri="{FF2B5EF4-FFF2-40B4-BE49-F238E27FC236}">
                <a16:creationId xmlns:a16="http://schemas.microsoft.com/office/drawing/2014/main" id="{4121103C-93E3-DC04-2DFA-A08FBADDECB9}"/>
              </a:ext>
            </a:extLst>
          </p:cNvPr>
          <p:cNvSpPr txBox="1"/>
          <p:nvPr/>
        </p:nvSpPr>
        <p:spPr>
          <a:xfrm>
            <a:off x="1104900" y="2083304"/>
            <a:ext cx="16305979" cy="729622"/>
          </a:xfrm>
          <a:prstGeom prst="rect">
            <a:avLst/>
          </a:prstGeom>
        </p:spPr>
        <p:txBody>
          <a:bodyPr lIns="0" tIns="0" rIns="0" bIns="0" rtlCol="0" anchor="t">
            <a:spAutoFit/>
          </a:bodyPr>
          <a:lstStyle/>
          <a:p>
            <a:pPr marL="0" lvl="0" indent="0">
              <a:lnSpc>
                <a:spcPts val="5979"/>
              </a:lnSpc>
              <a:spcBef>
                <a:spcPct val="0"/>
              </a:spcBef>
            </a:pPr>
            <a:r>
              <a:rPr lang="en-US" sz="4333" b="1" spc="216" dirty="0">
                <a:solidFill>
                  <a:srgbClr val="F47C00"/>
                </a:solidFill>
                <a:latin typeface="Arial" panose="020B0604020202020204" pitchFamily="34" charset="0"/>
                <a:cs typeface="Arial" panose="020B0604020202020204" pitchFamily="34" charset="0"/>
              </a:rPr>
              <a:t>Problem Statement:</a:t>
            </a:r>
          </a:p>
        </p:txBody>
      </p:sp>
      <p:sp>
        <p:nvSpPr>
          <p:cNvPr id="8" name="TextBox 6">
            <a:extLst>
              <a:ext uri="{FF2B5EF4-FFF2-40B4-BE49-F238E27FC236}">
                <a16:creationId xmlns:a16="http://schemas.microsoft.com/office/drawing/2014/main" id="{ED3BE7F1-478C-03A0-4919-061B39FA9515}"/>
              </a:ext>
            </a:extLst>
          </p:cNvPr>
          <p:cNvSpPr txBox="1"/>
          <p:nvPr/>
        </p:nvSpPr>
        <p:spPr>
          <a:xfrm>
            <a:off x="1009035" y="3009900"/>
            <a:ext cx="16230600" cy="1039515"/>
          </a:xfrm>
          <a:prstGeom prst="rect">
            <a:avLst/>
          </a:prstGeom>
        </p:spPr>
        <p:txBody>
          <a:bodyPr lIns="0" tIns="0" rIns="0" bIns="0" rtlCol="0" anchor="t">
            <a:spAutoFit/>
          </a:bodyPr>
          <a:lstStyle/>
          <a:p>
            <a:pPr marL="270955" lvl="1" algn="just">
              <a:lnSpc>
                <a:spcPct val="150000"/>
              </a:lnSpc>
            </a:pPr>
            <a:r>
              <a:rPr lang="en-US" sz="2400" spc="25" dirty="0">
                <a:solidFill>
                  <a:srgbClr val="231F20"/>
                </a:solidFill>
                <a:latin typeface="Arial" panose="020B0604020202020204" pitchFamily="34" charset="0"/>
                <a:cs typeface="Arial" panose="020B0604020202020204" pitchFamily="34" charset="0"/>
              </a:rPr>
              <a:t>The lack of an engaging and educational board game prevents players from learning about the diverse goods and trading opportunities in Indian cities while experiencing the cultural richness of the country.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2" name="TextBox 2"/>
          <p:cNvSpPr txBox="1"/>
          <p:nvPr/>
        </p:nvSpPr>
        <p:spPr>
          <a:xfrm>
            <a:off x="1028700" y="2519064"/>
            <a:ext cx="10299933" cy="729691"/>
          </a:xfrm>
          <a:prstGeom prst="rect">
            <a:avLst/>
          </a:prstGeom>
        </p:spPr>
        <p:txBody>
          <a:bodyPr lIns="0" tIns="0" rIns="0" bIns="0" rtlCol="0" anchor="t">
            <a:spAutoFit/>
          </a:bodyPr>
          <a:lstStyle/>
          <a:p>
            <a:pPr>
              <a:lnSpc>
                <a:spcPts val="5975"/>
              </a:lnSpc>
              <a:spcBef>
                <a:spcPct val="0"/>
              </a:spcBef>
            </a:pPr>
            <a:r>
              <a:rPr lang="en-US" sz="4329" b="1" spc="216" dirty="0">
                <a:solidFill>
                  <a:srgbClr val="F35000"/>
                </a:solidFill>
                <a:latin typeface="Arial" panose="020B0604020202020204" pitchFamily="34" charset="0"/>
                <a:cs typeface="Arial" panose="020B0604020202020204" pitchFamily="34" charset="0"/>
              </a:rPr>
              <a:t>Concept:</a:t>
            </a:r>
          </a:p>
        </p:txBody>
      </p:sp>
      <p:sp>
        <p:nvSpPr>
          <p:cNvPr id="3" name="Freeform 3"/>
          <p:cNvSpPr/>
          <p:nvPr/>
        </p:nvSpPr>
        <p:spPr>
          <a:xfrm>
            <a:off x="0" y="465263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3467100"/>
            <a:ext cx="16230600" cy="1666610"/>
          </a:xfrm>
          <a:prstGeom prst="rect">
            <a:avLst/>
          </a:prstGeom>
        </p:spPr>
        <p:txBody>
          <a:bodyPr lIns="0" tIns="0" rIns="0" bIns="0" rtlCol="0" anchor="t">
            <a:spAutoFit/>
          </a:bodyPr>
          <a:lstStyle/>
          <a:p>
            <a:pPr marL="728155" lvl="1" indent="-457200" algn="just">
              <a:lnSpc>
                <a:spcPct val="150000"/>
              </a:lnSpc>
              <a:buFont typeface="Arial" panose="020B0604020202020204" pitchFamily="34" charset="0"/>
              <a:buChar char="•"/>
            </a:pPr>
            <a:r>
              <a:rPr lang="en-US" sz="2510" spc="25" dirty="0">
                <a:solidFill>
                  <a:srgbClr val="231F20"/>
                </a:solidFill>
                <a:latin typeface="Arial" panose="020B0604020202020204" pitchFamily="34" charset="0"/>
                <a:cs typeface="Arial" panose="020B0604020202020204" pitchFamily="34" charset="0"/>
              </a:rPr>
              <a:t>"Treasures of India: A Trading Expedition" is a board game that combines entertainment and education, allowing players to embark on a journey across India to explore famous cities, learn about their unique goods, and engage in strategic trading activities.</a:t>
            </a:r>
          </a:p>
        </p:txBody>
      </p:sp>
      <p:sp>
        <p:nvSpPr>
          <p:cNvPr id="5" name="Freeform 5"/>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4"/>
            <a:stretch>
              <a:fillRect/>
            </a:stretch>
          </a:blipFill>
        </p:spPr>
      </p:sp>
      <p:sp>
        <p:nvSpPr>
          <p:cNvPr id="6" name="Freeform 6"/>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3">
            <a:extLst>
              <a:ext uri="{FF2B5EF4-FFF2-40B4-BE49-F238E27FC236}">
                <a16:creationId xmlns:a16="http://schemas.microsoft.com/office/drawing/2014/main" id="{06F77C2D-5F4D-A0A9-FCC7-122F3B532264}"/>
              </a:ext>
            </a:extLst>
          </p:cNvPr>
          <p:cNvSpPr/>
          <p:nvPr/>
        </p:nvSpPr>
        <p:spPr>
          <a:xfrm>
            <a:off x="0" y="4701556"/>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2">
            <a:extLst>
              <a:ext uri="{FF2B5EF4-FFF2-40B4-BE49-F238E27FC236}">
                <a16:creationId xmlns:a16="http://schemas.microsoft.com/office/drawing/2014/main" id="{5A0CE31A-A404-ADD6-4257-136BAB9310EC}"/>
              </a:ext>
            </a:extLst>
          </p:cNvPr>
          <p:cNvSpPr txBox="1"/>
          <p:nvPr/>
        </p:nvSpPr>
        <p:spPr>
          <a:xfrm>
            <a:off x="1028700" y="5631391"/>
            <a:ext cx="10299933" cy="729691"/>
          </a:xfrm>
          <a:prstGeom prst="rect">
            <a:avLst/>
          </a:prstGeom>
        </p:spPr>
        <p:txBody>
          <a:bodyPr lIns="0" tIns="0" rIns="0" bIns="0" rtlCol="0" anchor="t">
            <a:spAutoFit/>
          </a:bodyPr>
          <a:lstStyle/>
          <a:p>
            <a:pPr>
              <a:lnSpc>
                <a:spcPts val="5975"/>
              </a:lnSpc>
              <a:spcBef>
                <a:spcPct val="0"/>
              </a:spcBef>
            </a:pPr>
            <a:r>
              <a:rPr lang="en-US" sz="4329" b="1" spc="216" dirty="0">
                <a:solidFill>
                  <a:srgbClr val="F35000"/>
                </a:solidFill>
                <a:latin typeface="Arial" panose="020B0604020202020204" pitchFamily="34" charset="0"/>
                <a:cs typeface="Arial" panose="020B0604020202020204" pitchFamily="34" charset="0"/>
              </a:rPr>
              <a:t>Objective:</a:t>
            </a:r>
          </a:p>
        </p:txBody>
      </p:sp>
      <p:sp>
        <p:nvSpPr>
          <p:cNvPr id="9" name="TextBox 4">
            <a:extLst>
              <a:ext uri="{FF2B5EF4-FFF2-40B4-BE49-F238E27FC236}">
                <a16:creationId xmlns:a16="http://schemas.microsoft.com/office/drawing/2014/main" id="{EA83156D-EEEE-3604-450F-E76533B9C43A}"/>
              </a:ext>
            </a:extLst>
          </p:cNvPr>
          <p:cNvSpPr txBox="1"/>
          <p:nvPr/>
        </p:nvSpPr>
        <p:spPr>
          <a:xfrm>
            <a:off x="1028700" y="6707501"/>
            <a:ext cx="16230600" cy="2245999"/>
          </a:xfrm>
          <a:prstGeom prst="rect">
            <a:avLst/>
          </a:prstGeom>
        </p:spPr>
        <p:txBody>
          <a:bodyPr lIns="0" tIns="0" rIns="0" bIns="0" rtlCol="0" anchor="t">
            <a:spAutoFit/>
          </a:bodyPr>
          <a:lstStyle/>
          <a:p>
            <a:pPr marL="728155" lvl="1" indent="-457200" algn="just">
              <a:lnSpc>
                <a:spcPct val="150000"/>
              </a:lnSpc>
              <a:buFont typeface="Arial" panose="020B0604020202020204" pitchFamily="34" charset="0"/>
              <a:buChar char="•"/>
            </a:pPr>
            <a:r>
              <a:rPr lang="en-US" sz="2510" spc="25" dirty="0">
                <a:solidFill>
                  <a:srgbClr val="231F20"/>
                </a:solidFill>
                <a:latin typeface="Arial" panose="020B0604020202020204" pitchFamily="34" charset="0"/>
                <a:cs typeface="Arial" panose="020B0604020202020204" pitchFamily="34" charset="0"/>
              </a:rPr>
              <a:t>The objective of the game is for players to accumulate the most wealth by making shrewd trading decisions, leveraging market conditions, and capitalizing on the diversity of goods found in Indian cities. </a:t>
            </a:r>
          </a:p>
          <a:p>
            <a:pPr marL="728155" lvl="1" indent="-457200" algn="just">
              <a:lnSpc>
                <a:spcPct val="150000"/>
              </a:lnSpc>
              <a:buFont typeface="Arial" panose="020B0604020202020204" pitchFamily="34" charset="0"/>
              <a:buChar char="•"/>
            </a:pPr>
            <a:r>
              <a:rPr lang="en-US" sz="2510" spc="25" dirty="0">
                <a:solidFill>
                  <a:srgbClr val="231F20"/>
                </a:solidFill>
                <a:latin typeface="Arial" panose="020B0604020202020204" pitchFamily="34" charset="0"/>
                <a:cs typeface="Arial" panose="020B0604020202020204" pitchFamily="34" charset="0"/>
              </a:rPr>
              <a:t>Through gameplay, players will enhance their knowledge of Indian culture, geography, and trading practices while honing their strategic thinking and decision-making skills.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2"/>
            <a:stretch>
              <a:fillRect/>
            </a:stretch>
          </a:blipFill>
        </p:spPr>
      </p:sp>
      <p:sp>
        <p:nvSpPr>
          <p:cNvPr id="3" name="Freeform 3"/>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028700" y="2243251"/>
            <a:ext cx="16230600" cy="1452449"/>
          </a:xfrm>
          <a:prstGeom prst="rect">
            <a:avLst/>
          </a:prstGeom>
        </p:spPr>
        <p:txBody>
          <a:bodyPr wrap="square" lIns="0" tIns="0" rIns="0" bIns="0" rtlCol="0" anchor="t">
            <a:spAutoFit/>
          </a:bodyPr>
          <a:lstStyle/>
          <a:p>
            <a:pPr>
              <a:lnSpc>
                <a:spcPts val="5975"/>
              </a:lnSpc>
              <a:spcBef>
                <a:spcPct val="0"/>
              </a:spcBef>
            </a:pPr>
            <a:r>
              <a:rPr lang="en-US" sz="3200" b="1" spc="216" dirty="0">
                <a:solidFill>
                  <a:srgbClr val="F35000"/>
                </a:solidFill>
                <a:latin typeface="Arial" panose="020B0604020202020204" pitchFamily="34" charset="0"/>
                <a:cs typeface="Arial" panose="020B0604020202020204" pitchFamily="34" charset="0"/>
              </a:rPr>
              <a:t>Potential areas of the industry/market for "Treasures of India: A Trading Expedition“ :</a:t>
            </a:r>
          </a:p>
        </p:txBody>
      </p:sp>
      <p:sp>
        <p:nvSpPr>
          <p:cNvPr id="6" name="TextBox 6"/>
          <p:cNvSpPr txBox="1"/>
          <p:nvPr/>
        </p:nvSpPr>
        <p:spPr>
          <a:xfrm>
            <a:off x="762000" y="4123372"/>
            <a:ext cx="16497300" cy="4372928"/>
          </a:xfrm>
          <a:prstGeom prst="rect">
            <a:avLst/>
          </a:prstGeom>
        </p:spPr>
        <p:txBody>
          <a:bodyPr wrap="square" lIns="0" tIns="0" rIns="0" bIns="0" rtlCol="0" anchor="t">
            <a:spAutoFit/>
          </a:bodyPr>
          <a:lstStyle/>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Educational Institutions:</a:t>
            </a:r>
            <a:r>
              <a:rPr lang="en-US" sz="2400" spc="25" dirty="0">
                <a:solidFill>
                  <a:srgbClr val="231F20"/>
                </a:solidFill>
                <a:latin typeface="Arial" panose="020B0604020202020204" pitchFamily="34" charset="0"/>
                <a:cs typeface="Arial" panose="020B0604020202020204" pitchFamily="34" charset="0"/>
              </a:rPr>
              <a:t> Marketing the game to schools, colleges, and educational institutions as a tool to teach students about Indian culture, geography, economics, and trading principles.</a:t>
            </a:r>
            <a:endParaRPr lang="en-US" sz="2400" b="1" spc="25" dirty="0">
              <a:solidFill>
                <a:srgbClr val="231F20"/>
              </a:solidFill>
              <a:latin typeface="Arial" panose="020B0604020202020204" pitchFamily="34" charset="0"/>
              <a:cs typeface="Arial" panose="020B0604020202020204" pitchFamily="34" charset="0"/>
            </a:endParaRP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Tourism and Travel Industry:</a:t>
            </a:r>
            <a:r>
              <a:rPr lang="en-US" sz="2400" spc="25" dirty="0">
                <a:solidFill>
                  <a:srgbClr val="231F20"/>
                </a:solidFill>
                <a:latin typeface="Arial" panose="020B0604020202020204" pitchFamily="34" charset="0"/>
                <a:cs typeface="Arial" panose="020B0604020202020204" pitchFamily="34" charset="0"/>
              </a:rPr>
              <a:t> Collaborating with travel agencies, tourist attractions, or hotels to promote the game as a cultural and educational experience for tourists visiting India.</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Gift and Souvenir Shops:</a:t>
            </a:r>
            <a:r>
              <a:rPr lang="en-US" sz="2400" spc="25" dirty="0">
                <a:solidFill>
                  <a:srgbClr val="231F20"/>
                </a:solidFill>
                <a:latin typeface="Arial" panose="020B0604020202020204" pitchFamily="34" charset="0"/>
                <a:cs typeface="Arial" panose="020B0604020202020204" pitchFamily="34" charset="0"/>
              </a:rPr>
              <a:t> Partnering with gift and souvenir shops to feature the game as a unique and educational souvenir related to Indian culture and trading heritage.</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Online Retail Platforms: </a:t>
            </a:r>
            <a:r>
              <a:rPr lang="en-US" sz="2400" spc="25" dirty="0">
                <a:solidFill>
                  <a:srgbClr val="231F20"/>
                </a:solidFill>
                <a:latin typeface="Arial" panose="020B0604020202020204" pitchFamily="34" charset="0"/>
                <a:cs typeface="Arial" panose="020B0604020202020204" pitchFamily="34" charset="0"/>
              </a:rPr>
              <a:t>Leveraging e-commerce platforms to reach a wider audience, offering the game as an educational and entertaining product with nationwide or global shipping capabilities.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2"/>
            <a:stretch>
              <a:fillRect/>
            </a:stretch>
          </a:blipFill>
        </p:spPr>
      </p:sp>
      <p:sp>
        <p:nvSpPr>
          <p:cNvPr id="3" name="Freeform 3"/>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028700" y="2095500"/>
            <a:ext cx="16230600" cy="683007"/>
          </a:xfrm>
          <a:prstGeom prst="rect">
            <a:avLst/>
          </a:prstGeom>
        </p:spPr>
        <p:txBody>
          <a:bodyPr wrap="square" lIns="0" tIns="0" rIns="0" bIns="0" rtlCol="0" anchor="t">
            <a:spAutoFit/>
          </a:bodyPr>
          <a:lstStyle/>
          <a:p>
            <a:pPr>
              <a:lnSpc>
                <a:spcPts val="5975"/>
              </a:lnSpc>
              <a:spcBef>
                <a:spcPct val="0"/>
              </a:spcBef>
            </a:pPr>
            <a:r>
              <a:rPr lang="en-US" sz="3200" b="1" spc="216" dirty="0">
                <a:solidFill>
                  <a:srgbClr val="F35000"/>
                </a:solidFill>
                <a:latin typeface="Arial" panose="020B0604020202020204" pitchFamily="34" charset="0"/>
                <a:cs typeface="Arial" panose="020B0604020202020204" pitchFamily="34" charset="0"/>
              </a:rPr>
              <a:t>The Market Potential for "Treasures of India: A Trading Expedition:</a:t>
            </a:r>
          </a:p>
        </p:txBody>
      </p:sp>
      <p:sp>
        <p:nvSpPr>
          <p:cNvPr id="7" name="TextBox 6">
            <a:extLst>
              <a:ext uri="{FF2B5EF4-FFF2-40B4-BE49-F238E27FC236}">
                <a16:creationId xmlns:a16="http://schemas.microsoft.com/office/drawing/2014/main" id="{1F3BEC56-D918-F0F8-0436-C538CEE559D1}"/>
              </a:ext>
            </a:extLst>
          </p:cNvPr>
          <p:cNvSpPr txBox="1"/>
          <p:nvPr/>
        </p:nvSpPr>
        <p:spPr>
          <a:xfrm>
            <a:off x="762000" y="3072772"/>
            <a:ext cx="16497300" cy="6588920"/>
          </a:xfrm>
          <a:prstGeom prst="rect">
            <a:avLst/>
          </a:prstGeom>
        </p:spPr>
        <p:txBody>
          <a:bodyPr wrap="square" lIns="0" tIns="0" rIns="0" bIns="0" rtlCol="0" anchor="t">
            <a:spAutoFit/>
          </a:bodyPr>
          <a:lstStyle/>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Growing Board Game Industry:</a:t>
            </a:r>
            <a:r>
              <a:rPr lang="en-US" sz="2400" spc="25" dirty="0">
                <a:solidFill>
                  <a:srgbClr val="231F20"/>
                </a:solidFill>
                <a:latin typeface="Arial" panose="020B0604020202020204" pitchFamily="34" charset="0"/>
                <a:cs typeface="Arial" panose="020B0604020202020204" pitchFamily="34" charset="0"/>
              </a:rPr>
              <a:t> The board game industry is experiencing steady growth, creating opportunities for unique and engaging games like "Treasures of India.“</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Educational and Cultural Focus:</a:t>
            </a:r>
            <a:r>
              <a:rPr lang="en-US" sz="2400" spc="25" dirty="0">
                <a:solidFill>
                  <a:srgbClr val="231F20"/>
                </a:solidFill>
                <a:latin typeface="Arial" panose="020B0604020202020204" pitchFamily="34" charset="0"/>
                <a:cs typeface="Arial" panose="020B0604020202020204" pitchFamily="34" charset="0"/>
              </a:rPr>
              <a:t> The game's emphasis on Indian culture, geography, and trading practices aligns with the rising interest in educational and culturally immersive experiences.</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Indian Tourism Boom:</a:t>
            </a:r>
            <a:r>
              <a:rPr lang="en-US" sz="2400" spc="25" dirty="0">
                <a:solidFill>
                  <a:srgbClr val="231F20"/>
                </a:solidFill>
                <a:latin typeface="Arial" panose="020B0604020202020204" pitchFamily="34" charset="0"/>
                <a:cs typeface="Arial" panose="020B0604020202020204" pitchFamily="34" charset="0"/>
              </a:rPr>
              <a:t> The surge in Indian tourism provides an opportunity for "Treasures of India" to offer tourists a fun and educational game that explores famous cities and goods, serving as a memento of their travel experience.</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Cross-Cultural Appeal:</a:t>
            </a:r>
            <a:r>
              <a:rPr lang="en-US" sz="2400" spc="25" dirty="0">
                <a:solidFill>
                  <a:srgbClr val="231F20"/>
                </a:solidFill>
                <a:latin typeface="Arial" panose="020B0604020202020204" pitchFamily="34" charset="0"/>
                <a:cs typeface="Arial" panose="020B0604020202020204" pitchFamily="34" charset="0"/>
              </a:rPr>
              <a:t> The game appeals to players globally who are interested in learning about different cultures, fostering cross-cultural exchange, and enjoying strategic gameplay.</a:t>
            </a:r>
          </a:p>
          <a:p>
            <a:pPr marL="541910" lvl="1" indent="-270955" algn="just">
              <a:lnSpc>
                <a:spcPct val="150000"/>
              </a:lnSpc>
              <a:buFont typeface="Arial"/>
              <a:buChar char="•"/>
            </a:pPr>
            <a:r>
              <a:rPr lang="en-US" sz="2400" b="1" spc="25" dirty="0">
                <a:solidFill>
                  <a:srgbClr val="231F20"/>
                </a:solidFill>
                <a:latin typeface="Arial" panose="020B0604020202020204" pitchFamily="34" charset="0"/>
                <a:cs typeface="Arial" panose="020B0604020202020204" pitchFamily="34" charset="0"/>
              </a:rPr>
              <a:t>Collaborative Partnerships:</a:t>
            </a:r>
            <a:r>
              <a:rPr lang="en-US" sz="2400" spc="25" dirty="0">
                <a:solidFill>
                  <a:srgbClr val="231F20"/>
                </a:solidFill>
                <a:latin typeface="Arial" panose="020B0604020202020204" pitchFamily="34" charset="0"/>
                <a:cs typeface="Arial" panose="020B0604020202020204" pitchFamily="34" charset="0"/>
              </a:rPr>
              <a:t> Collaborating with educational institutions, tourism agencies, and cultural organizations can expand the game's market potential, incorporating it into curricula or promoting it at cultural events.</a:t>
            </a:r>
          </a:p>
        </p:txBody>
      </p:sp>
    </p:spTree>
    <p:extLst>
      <p:ext uri="{BB962C8B-B14F-4D97-AF65-F5344CB8AC3E}">
        <p14:creationId xmlns:p14="http://schemas.microsoft.com/office/powerpoint/2010/main" val="3282025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2"/>
            <a:stretch>
              <a:fillRect/>
            </a:stretch>
          </a:blipFill>
        </p:spPr>
      </p:sp>
      <p:sp>
        <p:nvSpPr>
          <p:cNvPr id="4" name="Freeform 4"/>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028700" y="2519064"/>
            <a:ext cx="12467013" cy="729691"/>
          </a:xfrm>
          <a:prstGeom prst="rect">
            <a:avLst/>
          </a:prstGeom>
        </p:spPr>
        <p:txBody>
          <a:bodyPr lIns="0" tIns="0" rIns="0" bIns="0" rtlCol="0" anchor="t">
            <a:spAutoFit/>
          </a:bodyPr>
          <a:lstStyle/>
          <a:p>
            <a:pPr>
              <a:lnSpc>
                <a:spcPts val="5975"/>
              </a:lnSpc>
              <a:spcBef>
                <a:spcPct val="0"/>
              </a:spcBef>
            </a:pPr>
            <a:r>
              <a:rPr lang="en-US" sz="4329" b="1" spc="216" dirty="0">
                <a:solidFill>
                  <a:srgbClr val="F35000"/>
                </a:solidFill>
                <a:latin typeface="Arial" panose="020B0604020202020204" pitchFamily="34" charset="0"/>
                <a:cs typeface="Arial" panose="020B0604020202020204" pitchFamily="34" charset="0"/>
              </a:rPr>
              <a:t>Sample Images:</a:t>
            </a:r>
          </a:p>
        </p:txBody>
      </p:sp>
      <p:pic>
        <p:nvPicPr>
          <p:cNvPr id="8" name="Picture 7">
            <a:extLst>
              <a:ext uri="{FF2B5EF4-FFF2-40B4-BE49-F238E27FC236}">
                <a16:creationId xmlns:a16="http://schemas.microsoft.com/office/drawing/2014/main" id="{5FF95D1F-E9C2-0F1E-DF78-B5BD488379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0800" y="695738"/>
            <a:ext cx="6197272" cy="8895523"/>
          </a:xfrm>
          <a:prstGeom prst="rect">
            <a:avLst/>
          </a:prstGeom>
        </p:spPr>
      </p:pic>
      <p:pic>
        <p:nvPicPr>
          <p:cNvPr id="10" name="Picture 9">
            <a:extLst>
              <a:ext uri="{FF2B5EF4-FFF2-40B4-BE49-F238E27FC236}">
                <a16:creationId xmlns:a16="http://schemas.microsoft.com/office/drawing/2014/main" id="{AE3989D0-2182-F877-D135-16B1A602F57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182600" y="1744633"/>
            <a:ext cx="4419600" cy="62512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676E41-0E68-CC13-F362-077171A9D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28231"/>
            <a:ext cx="11566701" cy="6506269"/>
          </a:xfrm>
          <a:prstGeom prst="rect">
            <a:avLst/>
          </a:prstGeom>
        </p:spPr>
      </p:pic>
      <p:sp>
        <p:nvSpPr>
          <p:cNvPr id="3" name="Freeform 3"/>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3"/>
            <a:stretch>
              <a:fillRect/>
            </a:stretch>
          </a:blipFill>
        </p:spPr>
      </p:sp>
      <p:sp>
        <p:nvSpPr>
          <p:cNvPr id="4" name="Freeform 4"/>
          <p:cNvSpPr/>
          <p:nvPr/>
        </p:nvSpPr>
        <p:spPr>
          <a:xfrm>
            <a:off x="-76200" y="457334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200400" y="2390964"/>
            <a:ext cx="7162799" cy="670505"/>
          </a:xfrm>
          <a:prstGeom prst="rect">
            <a:avLst/>
          </a:prstGeom>
        </p:spPr>
        <p:txBody>
          <a:bodyPr wrap="square" lIns="0" tIns="0" rIns="0" bIns="0" rtlCol="0" anchor="t">
            <a:spAutoFit/>
          </a:bodyPr>
          <a:lstStyle/>
          <a:p>
            <a:pPr algn="ctr">
              <a:lnSpc>
                <a:spcPts val="5975"/>
              </a:lnSpc>
              <a:spcBef>
                <a:spcPct val="0"/>
              </a:spcBef>
            </a:pPr>
            <a:r>
              <a:rPr lang="en-IN" sz="3200" b="1" spc="216" dirty="0">
                <a:solidFill>
                  <a:srgbClr val="F35000"/>
                </a:solidFill>
                <a:latin typeface="Arial" panose="020B0604020202020204" pitchFamily="34" charset="0"/>
                <a:cs typeface="Arial" panose="020B0604020202020204" pitchFamily="34" charset="0"/>
              </a:rPr>
              <a:t>Marketing Strategy:</a:t>
            </a:r>
            <a:endParaRPr lang="en-US" sz="3200" b="1" spc="216" dirty="0">
              <a:solidFill>
                <a:srgbClr val="F35000"/>
              </a:solidFill>
              <a:latin typeface="Arial" panose="020B0604020202020204" pitchFamily="34" charset="0"/>
              <a:cs typeface="Arial" panose="020B0604020202020204" pitchFamily="34" charset="0"/>
            </a:endParaRPr>
          </a:p>
        </p:txBody>
      </p:sp>
      <p:sp>
        <p:nvSpPr>
          <p:cNvPr id="9" name="TextBox 6">
            <a:extLst>
              <a:ext uri="{FF2B5EF4-FFF2-40B4-BE49-F238E27FC236}">
                <a16:creationId xmlns:a16="http://schemas.microsoft.com/office/drawing/2014/main" id="{9C8A9231-CF8E-23CE-B507-F96067E30822}"/>
              </a:ext>
            </a:extLst>
          </p:cNvPr>
          <p:cNvSpPr txBox="1"/>
          <p:nvPr/>
        </p:nvSpPr>
        <p:spPr>
          <a:xfrm>
            <a:off x="10820400" y="2499176"/>
            <a:ext cx="6629400" cy="984885"/>
          </a:xfrm>
          <a:prstGeom prst="rect">
            <a:avLst/>
          </a:prstGeom>
        </p:spPr>
        <p:txBody>
          <a:bodyPr wrap="square" lIns="0" tIns="0" rIns="0" bIns="0" rtlCol="0" anchor="t">
            <a:spAutoFit/>
          </a:bodyPr>
          <a:lstStyle/>
          <a:p>
            <a:pPr>
              <a:spcBef>
                <a:spcPct val="0"/>
              </a:spcBef>
            </a:pPr>
            <a:r>
              <a:rPr lang="en-US" sz="3200" b="1" spc="216" dirty="0">
                <a:solidFill>
                  <a:srgbClr val="F35000"/>
                </a:solidFill>
                <a:latin typeface="Arial" panose="020B0604020202020204" pitchFamily="34" charset="0"/>
                <a:cs typeface="Arial" panose="020B0604020202020204" pitchFamily="34" charset="0"/>
              </a:rPr>
              <a:t>Plan &amp; project time to hit market:</a:t>
            </a:r>
          </a:p>
        </p:txBody>
      </p:sp>
      <p:sp>
        <p:nvSpPr>
          <p:cNvPr id="14" name="TextBox 13">
            <a:extLst>
              <a:ext uri="{FF2B5EF4-FFF2-40B4-BE49-F238E27FC236}">
                <a16:creationId xmlns:a16="http://schemas.microsoft.com/office/drawing/2014/main" id="{573FC544-291F-FC15-82CC-8E3B9E2BC3F6}"/>
              </a:ext>
            </a:extLst>
          </p:cNvPr>
          <p:cNvSpPr txBox="1"/>
          <p:nvPr/>
        </p:nvSpPr>
        <p:spPr>
          <a:xfrm>
            <a:off x="10820400" y="3771900"/>
            <a:ext cx="6629400" cy="4712637"/>
          </a:xfrm>
          <a:prstGeom prst="rect">
            <a:avLst/>
          </a:prstGeom>
        </p:spPr>
        <p:txBody>
          <a:bodyPr wrap="square" lIns="0" tIns="0" rIns="0" bIns="0" rtlCol="0" anchor="t">
            <a:spAutoFit/>
          </a:bodyPr>
          <a:lstStyle/>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Concept Development (1-2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Design and Artwork (2-3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Prototyping and Playtesting (2-3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Production Planning (1-2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Production and Manufacturing (2-4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Graphic Design and Packaging (1-2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Marketing and Promotion (3-4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Distribution and Retail (1-2 months)</a:t>
            </a:r>
          </a:p>
          <a:p>
            <a:pPr marL="541910" lvl="1" indent="-270955">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Launch and Release (1 month)</a:t>
            </a:r>
          </a:p>
        </p:txBody>
      </p:sp>
    </p:spTree>
    <p:extLst>
      <p:ext uri="{BB962C8B-B14F-4D97-AF65-F5344CB8AC3E}">
        <p14:creationId xmlns:p14="http://schemas.microsoft.com/office/powerpoint/2010/main" val="3944681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65263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4"/>
            <a:stretch>
              <a:fillRect/>
            </a:stretch>
          </a:blipFill>
        </p:spPr>
      </p:sp>
      <p:sp>
        <p:nvSpPr>
          <p:cNvPr id="5" name="Freeform 5"/>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aphicFrame>
        <p:nvGraphicFramePr>
          <p:cNvPr id="6" name="Table 5">
            <a:extLst>
              <a:ext uri="{FF2B5EF4-FFF2-40B4-BE49-F238E27FC236}">
                <a16:creationId xmlns:a16="http://schemas.microsoft.com/office/drawing/2014/main" id="{FF5109A3-CD0C-41D0-57B5-6466B14B6407}"/>
              </a:ext>
            </a:extLst>
          </p:cNvPr>
          <p:cNvGraphicFramePr>
            <a:graphicFrameLocks noGrp="1"/>
          </p:cNvGraphicFramePr>
          <p:nvPr>
            <p:extLst>
              <p:ext uri="{D42A27DB-BD31-4B8C-83A1-F6EECF244321}">
                <p14:modId xmlns:p14="http://schemas.microsoft.com/office/powerpoint/2010/main" val="419382411"/>
              </p:ext>
            </p:extLst>
          </p:nvPr>
        </p:nvGraphicFramePr>
        <p:xfrm>
          <a:off x="2042160" y="3606642"/>
          <a:ext cx="14264640" cy="5118258"/>
        </p:xfrm>
        <a:graphic>
          <a:graphicData uri="http://schemas.openxmlformats.org/drawingml/2006/table">
            <a:tbl>
              <a:tblPr/>
              <a:tblGrid>
                <a:gridCol w="4754880">
                  <a:extLst>
                    <a:ext uri="{9D8B030D-6E8A-4147-A177-3AD203B41FA5}">
                      <a16:colId xmlns:a16="http://schemas.microsoft.com/office/drawing/2014/main" val="3352706188"/>
                    </a:ext>
                  </a:extLst>
                </a:gridCol>
                <a:gridCol w="6339840">
                  <a:extLst>
                    <a:ext uri="{9D8B030D-6E8A-4147-A177-3AD203B41FA5}">
                      <a16:colId xmlns:a16="http://schemas.microsoft.com/office/drawing/2014/main" val="1216793929"/>
                    </a:ext>
                  </a:extLst>
                </a:gridCol>
                <a:gridCol w="3169920">
                  <a:extLst>
                    <a:ext uri="{9D8B030D-6E8A-4147-A177-3AD203B41FA5}">
                      <a16:colId xmlns:a16="http://schemas.microsoft.com/office/drawing/2014/main" val="2144955315"/>
                    </a:ext>
                  </a:extLst>
                </a:gridCol>
              </a:tblGrid>
              <a:tr h="322999">
                <a:tc>
                  <a:txBody>
                    <a:bodyPr/>
                    <a:lstStyle/>
                    <a:p>
                      <a:pPr algn="ctr" rtl="0" fontAlgn="b">
                        <a:spcBef>
                          <a:spcPts val="0"/>
                        </a:spcBef>
                        <a:spcAft>
                          <a:spcPts val="0"/>
                        </a:spcAft>
                      </a:pPr>
                      <a:r>
                        <a:rPr lang="en-IN" sz="2400" b="1" i="0" u="none" strike="noStrike">
                          <a:solidFill>
                            <a:srgbClr val="000000"/>
                          </a:solidFill>
                          <a:effectLst/>
                          <a:latin typeface="Arial" panose="020B0604020202020204" pitchFamily="34" charset="0"/>
                          <a:cs typeface="Arial" panose="020B0604020202020204" pitchFamily="34" charset="0"/>
                        </a:rPr>
                        <a:t>Expense Category</a:t>
                      </a:r>
                      <a:endParaRPr lang="en-IN" sz="240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spcBef>
                          <a:spcPts val="0"/>
                        </a:spcBef>
                        <a:spcAft>
                          <a:spcPts val="0"/>
                        </a:spcAft>
                      </a:pPr>
                      <a:r>
                        <a:rPr lang="en-IN" sz="2400" b="1" i="0" u="none" strike="noStrike" dirty="0">
                          <a:solidFill>
                            <a:srgbClr val="000000"/>
                          </a:solidFill>
                          <a:effectLst/>
                          <a:latin typeface="Arial" panose="020B0604020202020204" pitchFamily="34" charset="0"/>
                          <a:cs typeface="Arial" panose="020B0604020202020204" pitchFamily="34" charset="0"/>
                        </a:rPr>
                        <a:t>Considerations</a:t>
                      </a:r>
                      <a:endParaRPr lang="en-IN" sz="2400" dirty="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spcBef>
                          <a:spcPts val="0"/>
                        </a:spcBef>
                        <a:spcAft>
                          <a:spcPts val="0"/>
                        </a:spcAft>
                      </a:pPr>
                      <a:r>
                        <a:rPr lang="en-IN" sz="2400" b="1" i="0" u="none" strike="noStrike">
                          <a:solidFill>
                            <a:srgbClr val="000000"/>
                          </a:solidFill>
                          <a:effectLst/>
                          <a:latin typeface="Arial" panose="020B0604020202020204" pitchFamily="34" charset="0"/>
                          <a:cs typeface="Arial" panose="020B0604020202020204" pitchFamily="34" charset="0"/>
                        </a:rPr>
                        <a:t>Amount</a:t>
                      </a:r>
                      <a:endParaRPr lang="en-IN" sz="240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378352"/>
                  </a:ext>
                </a:extLst>
              </a:tr>
              <a:tr h="317262">
                <a:tc>
                  <a:txBody>
                    <a:bodyPr/>
                    <a:lstStyle/>
                    <a:p>
                      <a:pPr algn="ctr" rtl="0" fontAlgn="ctr">
                        <a:spcBef>
                          <a:spcPts val="0"/>
                        </a:spcBef>
                        <a:spcAft>
                          <a:spcPts val="0"/>
                        </a:spcAft>
                      </a:pPr>
                      <a:r>
                        <a:rPr lang="en-IN" sz="2400" b="0" i="0" u="none" strike="noStrike" dirty="0">
                          <a:solidFill>
                            <a:srgbClr val="000000"/>
                          </a:solidFill>
                          <a:effectLst/>
                          <a:latin typeface="Arial" panose="020B0604020202020204" pitchFamily="34" charset="0"/>
                          <a:cs typeface="Arial" panose="020B0604020202020204" pitchFamily="34" charset="0"/>
                        </a:rPr>
                        <a:t>Game Design and Development</a:t>
                      </a:r>
                      <a:endParaRPr lang="en-IN" sz="24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Hiring designers and developers, software and equipment</a:t>
                      </a:r>
                      <a:endParaRPr lang="en-US" sz="24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180000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5994645"/>
                  </a:ext>
                </a:extLst>
              </a:tr>
              <a:tr h="205502">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Artwork and Illustrations</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Professional artists, licensing fees, revisions</a:t>
                      </a:r>
                      <a:endParaRPr lang="en-US" sz="24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80,000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5272940"/>
                  </a:ext>
                </a:extLst>
              </a:tr>
              <a:tr h="541236">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Manufacturing and Production</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Printing, materials, quality control</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100000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9788691"/>
                  </a:ext>
                </a:extLst>
              </a:tr>
              <a:tr h="0">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Marketing and Promotion</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2400" b="0" i="0" u="none" strike="noStrike">
                          <a:solidFill>
                            <a:srgbClr val="000000"/>
                          </a:solidFill>
                          <a:effectLst/>
                          <a:latin typeface="Arial" panose="020B0604020202020204" pitchFamily="34" charset="0"/>
                          <a:cs typeface="Arial" panose="020B0604020202020204" pitchFamily="34" charset="0"/>
                        </a:rPr>
                        <a:t>Advertising, social media campaigns, PR</a:t>
                      </a:r>
                      <a:endParaRPr lang="en-US"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150000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0167206"/>
                  </a:ext>
                </a:extLst>
              </a:tr>
              <a:tr h="0">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Packaging and Printing</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2400" b="0" i="0" u="none" strike="noStrike">
                          <a:solidFill>
                            <a:srgbClr val="000000"/>
                          </a:solidFill>
                          <a:effectLst/>
                          <a:latin typeface="Arial" panose="020B0604020202020204" pitchFamily="34" charset="0"/>
                          <a:cs typeface="Arial" panose="020B0604020202020204" pitchFamily="34" charset="0"/>
                        </a:rPr>
                        <a:t>Box design, rule book, component printing</a:t>
                      </a:r>
                      <a:endParaRPr lang="en-US"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70,000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137943"/>
                  </a:ext>
                </a:extLst>
              </a:tr>
              <a:tr h="0">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Miscellaneous</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Prototyping, playtesting, legal fees</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58,000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3479826"/>
                  </a:ext>
                </a:extLst>
              </a:tr>
              <a:tr h="0">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Contingency (10% of Total)</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Unexpected expenses or adjustments</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2400">
                          <a:effectLst/>
                          <a:latin typeface="Arial" panose="020B0604020202020204" pitchFamily="34" charset="0"/>
                          <a:cs typeface="Arial" panose="020B0604020202020204" pitchFamily="34" charset="0"/>
                        </a:rPr>
                        <a:t>78,000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0169649"/>
                  </a:ext>
                </a:extLst>
              </a:tr>
              <a:tr h="761942">
                <a:tc>
                  <a:txBody>
                    <a:bodyPr/>
                    <a:lstStyle/>
                    <a:p>
                      <a:pPr algn="ctr" rtl="0" fontAlgn="ctr">
                        <a:spcBef>
                          <a:spcPts val="0"/>
                        </a:spcBef>
                        <a:spcAft>
                          <a:spcPts val="0"/>
                        </a:spcAft>
                      </a:pPr>
                      <a:r>
                        <a:rPr lang="en-IN" sz="2400" b="0" i="0" u="none" strike="noStrike">
                          <a:solidFill>
                            <a:srgbClr val="000000"/>
                          </a:solidFill>
                          <a:effectLst/>
                          <a:latin typeface="Arial" panose="020B0604020202020204" pitchFamily="34" charset="0"/>
                          <a:cs typeface="Arial" panose="020B0604020202020204" pitchFamily="34" charset="0"/>
                        </a:rPr>
                        <a:t>Total</a:t>
                      </a:r>
                      <a:endParaRPr lang="en-IN" sz="240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IN" sz="2400" b="0" i="0" u="none" strike="noStrike" dirty="0">
                          <a:solidFill>
                            <a:srgbClr val="000000"/>
                          </a:solidFill>
                          <a:effectLst/>
                          <a:latin typeface="Arial" panose="020B0604020202020204" pitchFamily="34" charset="0"/>
                          <a:cs typeface="Arial" panose="020B0604020202020204" pitchFamily="34" charset="0"/>
                        </a:rPr>
                        <a:t>-</a:t>
                      </a:r>
                      <a:endParaRPr lang="en-IN" sz="2400" dirty="0">
                        <a:effectLst/>
                        <a:latin typeface="Arial" panose="020B0604020202020204" pitchFamily="34" charset="0"/>
                        <a:cs typeface="Arial" panose="020B0604020202020204" pitchFamily="34" charset="0"/>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en-IN" sz="2400" dirty="0">
                          <a:effectLst/>
                          <a:latin typeface="Arial" panose="020B0604020202020204" pitchFamily="34" charset="0"/>
                          <a:cs typeface="Arial" panose="020B0604020202020204" pitchFamily="34" charset="0"/>
                        </a:rPr>
                        <a:t>716000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824686"/>
                  </a:ext>
                </a:extLst>
              </a:tr>
            </a:tbl>
          </a:graphicData>
        </a:graphic>
      </p:graphicFrame>
      <p:sp>
        <p:nvSpPr>
          <p:cNvPr id="8" name="TextBox 6">
            <a:extLst>
              <a:ext uri="{FF2B5EF4-FFF2-40B4-BE49-F238E27FC236}">
                <a16:creationId xmlns:a16="http://schemas.microsoft.com/office/drawing/2014/main" id="{8F45E72E-C732-06E6-B7EF-F3933B8DEF98}"/>
              </a:ext>
            </a:extLst>
          </p:cNvPr>
          <p:cNvSpPr txBox="1"/>
          <p:nvPr/>
        </p:nvSpPr>
        <p:spPr>
          <a:xfrm>
            <a:off x="2042160" y="2339395"/>
            <a:ext cx="7162799" cy="670505"/>
          </a:xfrm>
          <a:prstGeom prst="rect">
            <a:avLst/>
          </a:prstGeom>
        </p:spPr>
        <p:txBody>
          <a:bodyPr wrap="square" lIns="0" tIns="0" rIns="0" bIns="0" rtlCol="0" anchor="t">
            <a:spAutoFit/>
          </a:bodyPr>
          <a:lstStyle/>
          <a:p>
            <a:pPr>
              <a:lnSpc>
                <a:spcPts val="5975"/>
              </a:lnSpc>
              <a:spcBef>
                <a:spcPct val="0"/>
              </a:spcBef>
            </a:pPr>
            <a:r>
              <a:rPr lang="en-IN" sz="3200" b="1" spc="216" dirty="0">
                <a:solidFill>
                  <a:srgbClr val="F35000"/>
                </a:solidFill>
                <a:latin typeface="Arial" panose="020B0604020202020204" pitchFamily="34" charset="0"/>
                <a:cs typeface="Arial" panose="020B0604020202020204" pitchFamily="34" charset="0"/>
              </a:rPr>
              <a:t>Budget Plan:</a:t>
            </a:r>
            <a:endParaRPr lang="en-US" sz="3200" b="1" spc="216" dirty="0">
              <a:solidFill>
                <a:srgbClr val="F35000"/>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2" name="Freeform 2"/>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latin typeface="Arial" panose="020B0604020202020204" pitchFamily="34" charset="0"/>
              <a:cs typeface="Arial" panose="020B0604020202020204" pitchFamily="34" charset="0"/>
            </a:endParaRPr>
          </a:p>
        </p:txBody>
      </p:sp>
      <p:sp>
        <p:nvSpPr>
          <p:cNvPr id="3" name="Freeform 3"/>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4"/>
            <a:stretch>
              <a:fillRect/>
            </a:stretch>
          </a:blipFill>
        </p:spPr>
      </p:sp>
      <p:sp>
        <p:nvSpPr>
          <p:cNvPr id="4" name="Freeform 4"/>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0" y="1714500"/>
            <a:ext cx="12725400" cy="6400800"/>
            <a:chOff x="-603072" y="-101086"/>
            <a:chExt cx="17543290" cy="8534401"/>
          </a:xfrm>
        </p:grpSpPr>
        <p:grpSp>
          <p:nvGrpSpPr>
            <p:cNvPr id="6" name="Group 6"/>
            <p:cNvGrpSpPr/>
            <p:nvPr/>
          </p:nvGrpSpPr>
          <p:grpSpPr>
            <a:xfrm>
              <a:off x="4800729" y="2274477"/>
              <a:ext cx="4164478" cy="4386258"/>
              <a:chOff x="-426346" y="-103849"/>
              <a:chExt cx="681269" cy="717550"/>
            </a:xfrm>
          </p:grpSpPr>
          <p:sp>
            <p:nvSpPr>
              <p:cNvPr id="7" name="Freeform 7"/>
              <p:cNvSpPr/>
              <p:nvPr/>
            </p:nvSpPr>
            <p:spPr>
              <a:xfrm>
                <a:off x="-426346" y="-67773"/>
                <a:ext cx="681269" cy="678512"/>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37221"/>
              </a:solidFill>
            </p:spPr>
          </p:sp>
          <p:sp>
            <p:nvSpPr>
              <p:cNvPr id="8" name="TextBox 8"/>
              <p:cNvSpPr txBox="1"/>
              <p:nvPr/>
            </p:nvSpPr>
            <p:spPr>
              <a:xfrm>
                <a:off x="-421631" y="-103849"/>
                <a:ext cx="660400" cy="717550"/>
              </a:xfrm>
              <a:prstGeom prst="rect">
                <a:avLst/>
              </a:prstGeom>
            </p:spPr>
            <p:txBody>
              <a:bodyPr lIns="50800" tIns="50800" rIns="50800" bIns="50800" rtlCol="0" anchor="ctr"/>
              <a:lstStyle/>
              <a:p>
                <a:pPr algn="ctr">
                  <a:lnSpc>
                    <a:spcPts val="3912"/>
                  </a:lnSpc>
                </a:pPr>
                <a:r>
                  <a:rPr lang="en-US" sz="2400" spc="27" dirty="0">
                    <a:solidFill>
                      <a:srgbClr val="FFFFFF"/>
                    </a:solidFill>
                    <a:latin typeface="Arial" panose="020B0604020202020204" pitchFamily="34" charset="0"/>
                    <a:cs typeface="Arial" panose="020B0604020202020204" pitchFamily="34" charset="0"/>
                  </a:rPr>
                  <a:t>Applications</a:t>
                </a:r>
              </a:p>
            </p:txBody>
          </p:sp>
        </p:grpSp>
        <p:sp>
          <p:nvSpPr>
            <p:cNvPr id="11" name="TextBox 11"/>
            <p:cNvSpPr txBox="1"/>
            <p:nvPr/>
          </p:nvSpPr>
          <p:spPr>
            <a:xfrm>
              <a:off x="12473918" y="-101086"/>
              <a:ext cx="4466300" cy="1538763"/>
            </a:xfrm>
            <a:prstGeom prst="rect">
              <a:avLst/>
            </a:prstGeom>
          </p:spPr>
          <p:txBody>
            <a:bodyPr lIns="50800" tIns="50800" rIns="50800" bIns="50800" rtlCol="0" anchor="ctr"/>
            <a:lstStyle/>
            <a:p>
              <a:pPr algn="ctr">
                <a:lnSpc>
                  <a:spcPts val="2372"/>
                </a:lnSpc>
              </a:pPr>
              <a:endParaRPr lang="en-US" sz="2000" spc="16" dirty="0">
                <a:latin typeface="Arial" panose="020B0604020202020204" pitchFamily="34" charset="0"/>
                <a:cs typeface="Arial" panose="020B0604020202020204" pitchFamily="34" charset="0"/>
              </a:endParaRPr>
            </a:p>
          </p:txBody>
        </p:sp>
        <p:sp>
          <p:nvSpPr>
            <p:cNvPr id="14" name="TextBox 14"/>
            <p:cNvSpPr txBox="1"/>
            <p:nvPr/>
          </p:nvSpPr>
          <p:spPr>
            <a:xfrm>
              <a:off x="8535522" y="1150098"/>
              <a:ext cx="4164477"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Online Gaming</a:t>
              </a:r>
            </a:p>
            <a:p>
              <a:pPr algn="ctr">
                <a:lnSpc>
                  <a:spcPts val="2372"/>
                </a:lnSpc>
              </a:pPr>
              <a:r>
                <a:rPr lang="en-US" sz="2000" spc="16" dirty="0">
                  <a:latin typeface="Arial" panose="020B0604020202020204" pitchFamily="34" charset="0"/>
                  <a:cs typeface="Arial" panose="020B0604020202020204" pitchFamily="34" charset="0"/>
                </a:rPr>
                <a:t> Platforms</a:t>
              </a:r>
            </a:p>
          </p:txBody>
        </p:sp>
        <p:sp>
          <p:nvSpPr>
            <p:cNvPr id="17" name="TextBox 17"/>
            <p:cNvSpPr txBox="1"/>
            <p:nvPr/>
          </p:nvSpPr>
          <p:spPr>
            <a:xfrm>
              <a:off x="9624252" y="3634350"/>
              <a:ext cx="4164477"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Educational </a:t>
              </a:r>
            </a:p>
            <a:p>
              <a:pPr algn="ctr">
                <a:lnSpc>
                  <a:spcPts val="2372"/>
                </a:lnSpc>
              </a:pPr>
              <a:r>
                <a:rPr lang="en-US" sz="2000" spc="16" dirty="0">
                  <a:latin typeface="Arial" panose="020B0604020202020204" pitchFamily="34" charset="0"/>
                  <a:cs typeface="Arial" panose="020B0604020202020204" pitchFamily="34" charset="0"/>
                </a:rPr>
                <a:t>Institutions</a:t>
              </a:r>
            </a:p>
          </p:txBody>
        </p:sp>
        <p:sp>
          <p:nvSpPr>
            <p:cNvPr id="20" name="TextBox 20"/>
            <p:cNvSpPr txBox="1"/>
            <p:nvPr/>
          </p:nvSpPr>
          <p:spPr>
            <a:xfrm>
              <a:off x="9309190" y="5821326"/>
              <a:ext cx="4241335"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Cultural Events and Festivals</a:t>
              </a:r>
            </a:p>
          </p:txBody>
        </p:sp>
        <p:sp>
          <p:nvSpPr>
            <p:cNvPr id="26" name="Freeform 26"/>
            <p:cNvSpPr/>
            <p:nvPr/>
          </p:nvSpPr>
          <p:spPr>
            <a:xfrm>
              <a:off x="8375310" y="4168276"/>
              <a:ext cx="2089489" cy="571997"/>
            </a:xfrm>
            <a:custGeom>
              <a:avLst/>
              <a:gdLst/>
              <a:ahLst/>
              <a:cxnLst/>
              <a:rect l="l" t="t" r="r" b="b"/>
              <a:pathLst>
                <a:path w="2089489" h="571998">
                  <a:moveTo>
                    <a:pt x="0" y="0"/>
                  </a:moveTo>
                  <a:lnTo>
                    <a:pt x="2089489" y="0"/>
                  </a:lnTo>
                  <a:lnTo>
                    <a:pt x="2089489" y="571997"/>
                  </a:lnTo>
                  <a:lnTo>
                    <a:pt x="0" y="57199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7" name="Freeform 27"/>
            <p:cNvSpPr/>
            <p:nvPr/>
          </p:nvSpPr>
          <p:spPr>
            <a:xfrm rot="20117211">
              <a:off x="7339084" y="2269128"/>
              <a:ext cx="2089489" cy="571997"/>
            </a:xfrm>
            <a:custGeom>
              <a:avLst/>
              <a:gdLst/>
              <a:ahLst/>
              <a:cxnLst/>
              <a:rect l="l" t="t" r="r" b="b"/>
              <a:pathLst>
                <a:path w="2089489" h="571998">
                  <a:moveTo>
                    <a:pt x="0" y="0"/>
                  </a:moveTo>
                  <a:lnTo>
                    <a:pt x="2089490" y="0"/>
                  </a:lnTo>
                  <a:lnTo>
                    <a:pt x="2089490" y="571998"/>
                  </a:lnTo>
                  <a:lnTo>
                    <a:pt x="0" y="5719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8"/>
            <p:cNvSpPr/>
            <p:nvPr/>
          </p:nvSpPr>
          <p:spPr>
            <a:xfrm rot="963931">
              <a:off x="7524165" y="5764865"/>
              <a:ext cx="2089489" cy="571997"/>
            </a:xfrm>
            <a:custGeom>
              <a:avLst/>
              <a:gdLst/>
              <a:ahLst/>
              <a:cxnLst/>
              <a:rect l="l" t="t" r="r" b="b"/>
              <a:pathLst>
                <a:path w="2089489" h="571998">
                  <a:moveTo>
                    <a:pt x="0" y="0"/>
                  </a:moveTo>
                  <a:lnTo>
                    <a:pt x="2089489" y="0"/>
                  </a:lnTo>
                  <a:lnTo>
                    <a:pt x="2089489" y="571998"/>
                  </a:lnTo>
                  <a:lnTo>
                    <a:pt x="0" y="5719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4" name="TextBox 34"/>
            <p:cNvSpPr txBox="1"/>
            <p:nvPr/>
          </p:nvSpPr>
          <p:spPr>
            <a:xfrm>
              <a:off x="-603072" y="2928842"/>
              <a:ext cx="4362272"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 Family and Social Gatherings</a:t>
              </a:r>
            </a:p>
          </p:txBody>
        </p:sp>
        <p:sp>
          <p:nvSpPr>
            <p:cNvPr id="37" name="TextBox 37"/>
            <p:cNvSpPr txBox="1"/>
            <p:nvPr/>
          </p:nvSpPr>
          <p:spPr>
            <a:xfrm>
              <a:off x="46561" y="5281483"/>
              <a:ext cx="4119039"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Gift and </a:t>
              </a:r>
            </a:p>
            <a:p>
              <a:pPr algn="ctr">
                <a:lnSpc>
                  <a:spcPts val="2372"/>
                </a:lnSpc>
              </a:pPr>
              <a:r>
                <a:rPr lang="en-US" sz="2000" spc="16" dirty="0">
                  <a:latin typeface="Arial" panose="020B0604020202020204" pitchFamily="34" charset="0"/>
                  <a:cs typeface="Arial" panose="020B0604020202020204" pitchFamily="34" charset="0"/>
                </a:rPr>
                <a:t>Souvenir Shops</a:t>
              </a:r>
            </a:p>
          </p:txBody>
        </p:sp>
        <p:sp>
          <p:nvSpPr>
            <p:cNvPr id="40" name="TextBox 40"/>
            <p:cNvSpPr txBox="1"/>
            <p:nvPr/>
          </p:nvSpPr>
          <p:spPr>
            <a:xfrm>
              <a:off x="1428928" y="6894552"/>
              <a:ext cx="4362272" cy="1538763"/>
            </a:xfrm>
            <a:prstGeom prst="rect">
              <a:avLst/>
            </a:prstGeom>
          </p:spPr>
          <p:txBody>
            <a:bodyPr lIns="50800" tIns="50800" rIns="50800" bIns="50800" rtlCol="0" anchor="ctr"/>
            <a:lstStyle/>
            <a:p>
              <a:pPr algn="ctr">
                <a:lnSpc>
                  <a:spcPts val="2372"/>
                </a:lnSpc>
              </a:pPr>
              <a:r>
                <a:rPr lang="en-US" sz="2000" spc="16" dirty="0">
                  <a:latin typeface="Arial" panose="020B0604020202020204" pitchFamily="34" charset="0"/>
                  <a:cs typeface="Arial" panose="020B0604020202020204" pitchFamily="34" charset="0"/>
                </a:rPr>
                <a:t>Retail and </a:t>
              </a:r>
            </a:p>
            <a:p>
              <a:pPr algn="ctr">
                <a:lnSpc>
                  <a:spcPts val="2372"/>
                </a:lnSpc>
              </a:pPr>
              <a:r>
                <a:rPr lang="en-US" sz="2000" spc="16" dirty="0">
                  <a:latin typeface="Arial" panose="020B0604020202020204" pitchFamily="34" charset="0"/>
                  <a:cs typeface="Arial" panose="020B0604020202020204" pitchFamily="34" charset="0"/>
                </a:rPr>
                <a:t>E-commerce</a:t>
              </a:r>
            </a:p>
          </p:txBody>
        </p:sp>
        <p:sp>
          <p:nvSpPr>
            <p:cNvPr id="42" name="Freeform 42"/>
            <p:cNvSpPr/>
            <p:nvPr/>
          </p:nvSpPr>
          <p:spPr>
            <a:xfrm rot="20102159" flipH="1">
              <a:off x="4707748" y="6755531"/>
              <a:ext cx="2646907" cy="747751"/>
            </a:xfrm>
            <a:custGeom>
              <a:avLst/>
              <a:gdLst/>
              <a:ahLst/>
              <a:cxnLst/>
              <a:rect l="l" t="t" r="r" b="b"/>
              <a:pathLst>
                <a:path w="2646906" h="747751">
                  <a:moveTo>
                    <a:pt x="2646906" y="0"/>
                  </a:moveTo>
                  <a:lnTo>
                    <a:pt x="0" y="0"/>
                  </a:lnTo>
                  <a:lnTo>
                    <a:pt x="0" y="747751"/>
                  </a:lnTo>
                  <a:lnTo>
                    <a:pt x="2646906" y="747751"/>
                  </a:lnTo>
                  <a:lnTo>
                    <a:pt x="2646906"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3" name="Freeform 43"/>
            <p:cNvSpPr/>
            <p:nvPr/>
          </p:nvSpPr>
          <p:spPr>
            <a:xfrm flipH="1">
              <a:off x="3067081" y="3634350"/>
              <a:ext cx="2089489" cy="571997"/>
            </a:xfrm>
            <a:custGeom>
              <a:avLst/>
              <a:gdLst/>
              <a:ahLst/>
              <a:cxnLst/>
              <a:rect l="l" t="t" r="r" b="b"/>
              <a:pathLst>
                <a:path w="2089489" h="571998">
                  <a:moveTo>
                    <a:pt x="2089489" y="0"/>
                  </a:moveTo>
                  <a:lnTo>
                    <a:pt x="0" y="0"/>
                  </a:lnTo>
                  <a:lnTo>
                    <a:pt x="0" y="571998"/>
                  </a:lnTo>
                  <a:lnTo>
                    <a:pt x="2089489" y="571998"/>
                  </a:lnTo>
                  <a:lnTo>
                    <a:pt x="2089489"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4" name="Freeform 44"/>
            <p:cNvSpPr/>
            <p:nvPr/>
          </p:nvSpPr>
          <p:spPr>
            <a:xfrm rot="20708868" flipH="1" flipV="1">
              <a:off x="3551309" y="5765903"/>
              <a:ext cx="2089489" cy="571997"/>
            </a:xfrm>
            <a:custGeom>
              <a:avLst/>
              <a:gdLst/>
              <a:ahLst/>
              <a:cxnLst/>
              <a:rect l="l" t="t" r="r" b="b"/>
              <a:pathLst>
                <a:path w="2089489" h="571998">
                  <a:moveTo>
                    <a:pt x="2089489" y="571998"/>
                  </a:moveTo>
                  <a:lnTo>
                    <a:pt x="0" y="571998"/>
                  </a:lnTo>
                  <a:lnTo>
                    <a:pt x="0" y="0"/>
                  </a:lnTo>
                  <a:lnTo>
                    <a:pt x="2089489" y="0"/>
                  </a:lnTo>
                  <a:lnTo>
                    <a:pt x="2089489" y="571998"/>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9" name="TextBox 5">
            <a:extLst>
              <a:ext uri="{FF2B5EF4-FFF2-40B4-BE49-F238E27FC236}">
                <a16:creationId xmlns:a16="http://schemas.microsoft.com/office/drawing/2014/main" id="{7909BE70-6FD4-86C2-06D6-0EBEAA97D291}"/>
              </a:ext>
            </a:extLst>
          </p:cNvPr>
          <p:cNvSpPr txBox="1"/>
          <p:nvPr/>
        </p:nvSpPr>
        <p:spPr>
          <a:xfrm>
            <a:off x="10363200" y="2705100"/>
            <a:ext cx="7219863" cy="6579493"/>
          </a:xfrm>
          <a:prstGeom prst="rect">
            <a:avLst/>
          </a:prstGeom>
        </p:spPr>
        <p:txBody>
          <a:bodyPr wrap="square" lIns="0" tIns="0" rIns="0" bIns="0" rtlCol="0" anchor="t">
            <a:spAutoFit/>
          </a:bodyPr>
          <a:lstStyle/>
          <a:p>
            <a:pPr marL="585088" lvl="1" indent="-292544">
              <a:lnSpc>
                <a:spcPct val="150000"/>
              </a:lnSpc>
              <a:buFont typeface="Arial"/>
              <a:buChar char="•"/>
            </a:pPr>
            <a:r>
              <a:rPr lang="en-US" sz="2400" b="1" spc="27" dirty="0">
                <a:solidFill>
                  <a:srgbClr val="231F20"/>
                </a:solidFill>
                <a:latin typeface="Arial" panose="020B0604020202020204" pitchFamily="34" charset="0"/>
                <a:cs typeface="Arial" panose="020B0604020202020204" pitchFamily="34" charset="0"/>
              </a:rPr>
              <a:t>Demographics: </a:t>
            </a:r>
            <a:r>
              <a:rPr lang="en-US" sz="2400" spc="27" dirty="0">
                <a:solidFill>
                  <a:srgbClr val="231F20"/>
                </a:solidFill>
                <a:latin typeface="Arial" panose="020B0604020202020204" pitchFamily="34" charset="0"/>
                <a:cs typeface="Arial" panose="020B0604020202020204" pitchFamily="34" charset="0"/>
              </a:rPr>
              <a:t>Age category of above 10, both genders</a:t>
            </a:r>
          </a:p>
          <a:p>
            <a:pPr marL="585088" lvl="1" indent="-292544">
              <a:lnSpc>
                <a:spcPct val="150000"/>
              </a:lnSpc>
              <a:buFont typeface="Arial"/>
              <a:buChar char="•"/>
            </a:pPr>
            <a:r>
              <a:rPr lang="en-US" sz="2400" b="1" spc="27" dirty="0">
                <a:solidFill>
                  <a:srgbClr val="231F20"/>
                </a:solidFill>
                <a:latin typeface="Arial" panose="020B0604020202020204" pitchFamily="34" charset="0"/>
                <a:cs typeface="Arial" panose="020B0604020202020204" pitchFamily="34" charset="0"/>
              </a:rPr>
              <a:t>Psychographics: </a:t>
            </a:r>
            <a:r>
              <a:rPr lang="en-US" sz="2400" spc="27" dirty="0">
                <a:solidFill>
                  <a:srgbClr val="231F20"/>
                </a:solidFill>
                <a:latin typeface="Arial" panose="020B0604020202020204" pitchFamily="34" charset="0"/>
                <a:cs typeface="Arial" panose="020B0604020202020204" pitchFamily="34" charset="0"/>
              </a:rPr>
              <a:t>Curious learners, interested in geography and culture, seek educational experiences through gaming,  Families seeking interactive and educational activities, enjoy gaming as a bonding experience,  Value strategic thinking, enjoy complex decision-making, seek engaging gameplay experiences</a:t>
            </a:r>
          </a:p>
          <a:p>
            <a:pPr marL="585088" lvl="1" indent="-292544">
              <a:lnSpc>
                <a:spcPct val="150000"/>
              </a:lnSpc>
              <a:buFont typeface="Arial"/>
              <a:buChar char="•"/>
            </a:pPr>
            <a:r>
              <a:rPr lang="en-US" sz="2400" b="1" spc="27" dirty="0" err="1">
                <a:solidFill>
                  <a:srgbClr val="231F20"/>
                </a:solidFill>
                <a:latin typeface="Arial" panose="020B0604020202020204" pitchFamily="34" charset="0"/>
                <a:cs typeface="Arial" panose="020B0604020202020204" pitchFamily="34" charset="0"/>
              </a:rPr>
              <a:t>Behaviour</a:t>
            </a:r>
            <a:r>
              <a:rPr lang="en-US" sz="2400" b="1" spc="27" dirty="0">
                <a:solidFill>
                  <a:srgbClr val="231F20"/>
                </a:solidFill>
                <a:latin typeface="Arial" panose="020B0604020202020204" pitchFamily="34" charset="0"/>
                <a:cs typeface="Arial" panose="020B0604020202020204" pitchFamily="34" charset="0"/>
              </a:rPr>
              <a:t>:</a:t>
            </a:r>
            <a:r>
              <a:rPr lang="en-US" sz="2400" spc="27" dirty="0">
                <a:solidFill>
                  <a:srgbClr val="231F20"/>
                </a:solidFill>
                <a:latin typeface="Arial" panose="020B0604020202020204" pitchFamily="34" charset="0"/>
                <a:cs typeface="Arial" panose="020B0604020202020204" pitchFamily="34" charset="0"/>
              </a:rPr>
              <a:t> Likely to buy online, engaged in educational or cultural communities or platforms</a:t>
            </a:r>
          </a:p>
        </p:txBody>
      </p:sp>
      <p:sp>
        <p:nvSpPr>
          <p:cNvPr id="10" name="TextBox 6">
            <a:extLst>
              <a:ext uri="{FF2B5EF4-FFF2-40B4-BE49-F238E27FC236}">
                <a16:creationId xmlns:a16="http://schemas.microsoft.com/office/drawing/2014/main" id="{133D03E1-EE35-DA14-C13A-ED9A2C0A97B2}"/>
              </a:ext>
            </a:extLst>
          </p:cNvPr>
          <p:cNvSpPr txBox="1"/>
          <p:nvPr/>
        </p:nvSpPr>
        <p:spPr>
          <a:xfrm>
            <a:off x="10707326" y="1714500"/>
            <a:ext cx="4976203" cy="676660"/>
          </a:xfrm>
          <a:prstGeom prst="rect">
            <a:avLst/>
          </a:prstGeom>
        </p:spPr>
        <p:txBody>
          <a:bodyPr wrap="square" lIns="0" tIns="0" rIns="0" bIns="0" rtlCol="0" anchor="t">
            <a:spAutoFit/>
          </a:bodyPr>
          <a:lstStyle/>
          <a:p>
            <a:pPr>
              <a:lnSpc>
                <a:spcPts val="5699"/>
              </a:lnSpc>
              <a:spcBef>
                <a:spcPct val="0"/>
              </a:spcBef>
            </a:pPr>
            <a:r>
              <a:rPr lang="en-US" sz="3600" b="1" spc="206" dirty="0">
                <a:solidFill>
                  <a:srgbClr val="F35000"/>
                </a:solidFill>
                <a:latin typeface="Arial" panose="020B0604020202020204" pitchFamily="34" charset="0"/>
                <a:cs typeface="Arial" panose="020B0604020202020204" pitchFamily="34" charset="0"/>
              </a:rPr>
              <a:t>Target Audience:</a:t>
            </a:r>
            <a:endParaRPr lang="en-US" sz="4400" b="1" spc="206" dirty="0">
              <a:solidFill>
                <a:srgbClr val="F35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092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2" name="Freeform 2"/>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latin typeface="Arial" panose="020B0604020202020204" pitchFamily="34" charset="0"/>
              <a:cs typeface="Arial" panose="020B0604020202020204" pitchFamily="34" charset="0"/>
            </a:endParaRPr>
          </a:p>
        </p:txBody>
      </p:sp>
      <p:sp>
        <p:nvSpPr>
          <p:cNvPr id="3" name="Freeform 3"/>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4"/>
            <a:stretch>
              <a:fillRect/>
            </a:stretch>
          </a:blipFill>
        </p:spPr>
      </p:sp>
      <p:sp>
        <p:nvSpPr>
          <p:cNvPr id="4" name="Freeform 4"/>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6">
            <a:extLst>
              <a:ext uri="{FF2B5EF4-FFF2-40B4-BE49-F238E27FC236}">
                <a16:creationId xmlns:a16="http://schemas.microsoft.com/office/drawing/2014/main" id="{133D03E1-EE35-DA14-C13A-ED9A2C0A97B2}"/>
              </a:ext>
            </a:extLst>
          </p:cNvPr>
          <p:cNvSpPr txBox="1"/>
          <p:nvPr/>
        </p:nvSpPr>
        <p:spPr>
          <a:xfrm>
            <a:off x="818083" y="2067580"/>
            <a:ext cx="6725717" cy="653320"/>
          </a:xfrm>
          <a:prstGeom prst="rect">
            <a:avLst/>
          </a:prstGeom>
        </p:spPr>
        <p:txBody>
          <a:bodyPr wrap="square" lIns="0" tIns="0" rIns="0" bIns="0" rtlCol="0" anchor="t">
            <a:spAutoFit/>
          </a:bodyPr>
          <a:lstStyle/>
          <a:p>
            <a:pPr>
              <a:lnSpc>
                <a:spcPts val="5699"/>
              </a:lnSpc>
              <a:spcBef>
                <a:spcPct val="0"/>
              </a:spcBef>
            </a:pPr>
            <a:r>
              <a:rPr lang="en-US" sz="3600" b="1" spc="206" dirty="0">
                <a:solidFill>
                  <a:srgbClr val="F35000"/>
                </a:solidFill>
                <a:latin typeface="Arial" panose="020B0604020202020204" pitchFamily="34" charset="0"/>
                <a:cs typeface="Arial" panose="020B0604020202020204" pitchFamily="34" charset="0"/>
              </a:rPr>
              <a:t>Competitive Analysis:</a:t>
            </a:r>
            <a:endParaRPr lang="en-US" sz="4400" b="1" spc="206" dirty="0">
              <a:solidFill>
                <a:srgbClr val="F35000"/>
              </a:solidFill>
              <a:latin typeface="Arial" panose="020B0604020202020204" pitchFamily="34" charset="0"/>
              <a:cs typeface="Arial" panose="020B0604020202020204" pitchFamily="34" charset="0"/>
            </a:endParaRPr>
          </a:p>
        </p:txBody>
      </p:sp>
      <p:graphicFrame>
        <p:nvGraphicFramePr>
          <p:cNvPr id="12" name="Table 11">
            <a:extLst>
              <a:ext uri="{FF2B5EF4-FFF2-40B4-BE49-F238E27FC236}">
                <a16:creationId xmlns:a16="http://schemas.microsoft.com/office/drawing/2014/main" id="{7A0DFCA3-F359-9C83-1EDF-EE5AEC64F2BF}"/>
              </a:ext>
            </a:extLst>
          </p:cNvPr>
          <p:cNvGraphicFramePr>
            <a:graphicFrameLocks noGrp="1"/>
          </p:cNvGraphicFramePr>
          <p:nvPr>
            <p:extLst>
              <p:ext uri="{D42A27DB-BD31-4B8C-83A1-F6EECF244321}">
                <p14:modId xmlns:p14="http://schemas.microsoft.com/office/powerpoint/2010/main" val="2637272531"/>
              </p:ext>
            </p:extLst>
          </p:nvPr>
        </p:nvGraphicFramePr>
        <p:xfrm>
          <a:off x="818083" y="3024160"/>
          <a:ext cx="16707916" cy="6190313"/>
        </p:xfrm>
        <a:graphic>
          <a:graphicData uri="http://schemas.openxmlformats.org/drawingml/2006/table">
            <a:tbl>
              <a:tblPr>
                <a:tableStyleId>{2D5ABB26-0587-4C30-8999-92F81FD0307C}</a:tableStyleId>
              </a:tblPr>
              <a:tblGrid>
                <a:gridCol w="3068117">
                  <a:extLst>
                    <a:ext uri="{9D8B030D-6E8A-4147-A177-3AD203B41FA5}">
                      <a16:colId xmlns:a16="http://schemas.microsoft.com/office/drawing/2014/main" val="3390443257"/>
                    </a:ext>
                  </a:extLst>
                </a:gridCol>
                <a:gridCol w="6400800">
                  <a:extLst>
                    <a:ext uri="{9D8B030D-6E8A-4147-A177-3AD203B41FA5}">
                      <a16:colId xmlns:a16="http://schemas.microsoft.com/office/drawing/2014/main" val="3013430190"/>
                    </a:ext>
                  </a:extLst>
                </a:gridCol>
                <a:gridCol w="3352800">
                  <a:extLst>
                    <a:ext uri="{9D8B030D-6E8A-4147-A177-3AD203B41FA5}">
                      <a16:colId xmlns:a16="http://schemas.microsoft.com/office/drawing/2014/main" val="1251199268"/>
                    </a:ext>
                  </a:extLst>
                </a:gridCol>
                <a:gridCol w="3886199">
                  <a:extLst>
                    <a:ext uri="{9D8B030D-6E8A-4147-A177-3AD203B41FA5}">
                      <a16:colId xmlns:a16="http://schemas.microsoft.com/office/drawing/2014/main" val="2035282398"/>
                    </a:ext>
                  </a:extLst>
                </a:gridCol>
              </a:tblGrid>
              <a:tr h="976340">
                <a:tc>
                  <a:txBody>
                    <a:bodyPr/>
                    <a:lstStyle/>
                    <a:p>
                      <a:pPr algn="ctr" rtl="0" fontAlgn="b"/>
                      <a:r>
                        <a:rPr lang="en-IN" sz="2300" b="1" dirty="0">
                          <a:effectLst/>
                          <a:latin typeface="Arial" panose="020B0604020202020204" pitchFamily="34" charset="0"/>
                          <a:cs typeface="Arial" panose="020B0604020202020204" pitchFamily="34" charset="0"/>
                        </a:rPr>
                        <a:t>Competitor</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2300" b="1">
                          <a:effectLst/>
                          <a:latin typeface="Arial" panose="020B0604020202020204" pitchFamily="34" charset="0"/>
                          <a:cs typeface="Arial" panose="020B0604020202020204" pitchFamily="34" charset="0"/>
                        </a:rPr>
                        <a:t>Innovation and Uniqueness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2300" b="1">
                          <a:effectLst/>
                          <a:latin typeface="Arial" panose="020B0604020202020204" pitchFamily="34" charset="0"/>
                          <a:cs typeface="Arial" panose="020B0604020202020204" pitchFamily="34" charset="0"/>
                        </a:rPr>
                        <a:t>Strengths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2300" b="1" dirty="0">
                          <a:effectLst/>
                          <a:latin typeface="Arial" panose="020B0604020202020204" pitchFamily="34" charset="0"/>
                          <a:cs typeface="Arial" panose="020B0604020202020204" pitchFamily="34" charset="0"/>
                        </a:rPr>
                        <a:t>Weaknesses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713659"/>
                  </a:ext>
                </a:extLst>
              </a:tr>
              <a:tr h="1828800">
                <a:tc>
                  <a:txBody>
                    <a:bodyPr/>
                    <a:lstStyle/>
                    <a:p>
                      <a:pPr algn="ctr" rtl="0" fontAlgn="b"/>
                      <a:r>
                        <a:rPr lang="en-US" sz="2300" b="0" dirty="0">
                          <a:effectLst/>
                          <a:latin typeface="Arial" panose="020B0604020202020204" pitchFamily="34" charset="0"/>
                          <a:cs typeface="Arial" panose="020B0604020202020204" pitchFamily="34" charset="0"/>
                        </a:rPr>
                        <a:t>Indian Traders: Journey Across the Subcontinent</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Offers a unique trading experience in Indian cities.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2300" b="0" dirty="0">
                          <a:effectLst/>
                          <a:latin typeface="Arial" panose="020B0604020202020204" pitchFamily="34" charset="0"/>
                          <a:cs typeface="Arial" panose="020B0604020202020204" pitchFamily="34" charset="0"/>
                        </a:rPr>
                        <a:t>Cultural authenticity and immersion.</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2300" b="0" dirty="0">
                          <a:effectLst/>
                          <a:latin typeface="Arial" panose="020B0604020202020204" pitchFamily="34" charset="0"/>
                          <a:cs typeface="Arial" panose="020B0604020202020204" pitchFamily="34" charset="0"/>
                        </a:rPr>
                        <a:t>Lack of brand recognition.</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526780"/>
                  </a:ext>
                </a:extLst>
              </a:tr>
              <a:tr h="1128391">
                <a:tc>
                  <a:txBody>
                    <a:bodyPr/>
                    <a:lstStyle/>
                    <a:p>
                      <a:pPr algn="ctr" rtl="0" fontAlgn="b"/>
                      <a:r>
                        <a:rPr lang="en-IN" sz="2300" b="0">
                          <a:effectLst/>
                          <a:latin typeface="Arial" panose="020B0604020202020204" pitchFamily="34" charset="0"/>
                          <a:cs typeface="Arial" panose="020B0604020202020204" pitchFamily="34" charset="0"/>
                        </a:rPr>
                        <a:t>Theboardgameco</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Known for innovative game mechanics and unique themes.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Established brand in the board game market.</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Limited focus on Indian culture and themes.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90405"/>
                  </a:ext>
                </a:extLst>
              </a:tr>
              <a:tr h="1128391">
                <a:tc>
                  <a:txBody>
                    <a:bodyPr/>
                    <a:lstStyle/>
                    <a:p>
                      <a:pPr algn="ctr" rtl="0" fontAlgn="b"/>
                      <a:r>
                        <a:rPr lang="en-IN" sz="2300" b="0">
                          <a:effectLst/>
                          <a:latin typeface="Arial" panose="020B0604020202020204" pitchFamily="34" charset="0"/>
                          <a:cs typeface="Arial" panose="020B0604020202020204" pitchFamily="34" charset="0"/>
                        </a:rPr>
                        <a:t>Ratna's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Emphasizes educational and family-friendly gameplay.</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Strong reputation for educational games.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 May not have a specific focus on trading mechanics.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825188"/>
                  </a:ext>
                </a:extLst>
              </a:tr>
              <a:tr h="1128391">
                <a:tc>
                  <a:txBody>
                    <a:bodyPr/>
                    <a:lstStyle/>
                    <a:p>
                      <a:pPr algn="ctr" rtl="0" fontAlgn="b"/>
                      <a:r>
                        <a:rPr lang="en-IN" sz="2300" b="0">
                          <a:effectLst/>
                          <a:latin typeface="Arial" panose="020B0604020202020204" pitchFamily="34" charset="0"/>
                          <a:cs typeface="Arial" panose="020B0604020202020204" pitchFamily="34" charset="0"/>
                        </a:rPr>
                        <a:t>Sillyme</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Offers humorous and light-hearted gameplay experiences.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Appeals to a wide range of players.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2300" b="0" dirty="0">
                          <a:effectLst/>
                          <a:latin typeface="Arial" panose="020B0604020202020204" pitchFamily="34" charset="0"/>
                          <a:cs typeface="Arial" panose="020B0604020202020204" pitchFamily="34" charset="0"/>
                        </a:rPr>
                        <a:t>Limited thematic depth for trading mechanics.</a:t>
                      </a:r>
                    </a:p>
                  </a:txBody>
                  <a:tcPr marL="9300" marR="9300" marT="6200" marB="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2020605"/>
                  </a:ext>
                </a:extLst>
              </a:tr>
            </a:tbl>
          </a:graphicData>
        </a:graphic>
      </p:graphicFrame>
    </p:spTree>
    <p:extLst>
      <p:ext uri="{BB962C8B-B14F-4D97-AF65-F5344CB8AC3E}">
        <p14:creationId xmlns:p14="http://schemas.microsoft.com/office/powerpoint/2010/main" val="257418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717263"/>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6"/>
            <a:stretch>
              <a:fillRect/>
            </a:stretch>
          </a:blipFill>
        </p:spPr>
      </p:sp>
      <p:sp>
        <p:nvSpPr>
          <p:cNvPr id="5" name="TextBox 5"/>
          <p:cNvSpPr txBox="1"/>
          <p:nvPr/>
        </p:nvSpPr>
        <p:spPr>
          <a:xfrm>
            <a:off x="1447800" y="3561226"/>
            <a:ext cx="5357203" cy="3809504"/>
          </a:xfrm>
          <a:prstGeom prst="rect">
            <a:avLst/>
          </a:prstGeom>
        </p:spPr>
        <p:txBody>
          <a:bodyPr wrap="square" lIns="0" tIns="0" rIns="0" bIns="0" rtlCol="0" anchor="t">
            <a:spAutoFit/>
          </a:bodyPr>
          <a:lstStyle/>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Educational Value</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Engaging Gameplay</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Cultural Immersion</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Replayability and Variety</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Social Interaction</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Authentic Trading Experience</a:t>
            </a:r>
          </a:p>
          <a:p>
            <a:pPr marL="585088" lvl="1" indent="-292544">
              <a:lnSpc>
                <a:spcPct val="150000"/>
              </a:lnSpc>
              <a:buFont typeface="Arial"/>
              <a:buChar char="•"/>
            </a:pPr>
            <a:r>
              <a:rPr lang="en-US" sz="2400" spc="27" dirty="0">
                <a:solidFill>
                  <a:srgbClr val="231F20"/>
                </a:solidFill>
                <a:latin typeface="Arial" panose="020B0604020202020204" pitchFamily="34" charset="0"/>
                <a:cs typeface="Arial" panose="020B0604020202020204" pitchFamily="34" charset="0"/>
              </a:rPr>
              <a:t>Customizability</a:t>
            </a:r>
          </a:p>
        </p:txBody>
      </p:sp>
      <p:sp>
        <p:nvSpPr>
          <p:cNvPr id="6" name="TextBox 6"/>
          <p:cNvSpPr txBox="1"/>
          <p:nvPr/>
        </p:nvSpPr>
        <p:spPr>
          <a:xfrm>
            <a:off x="1447800" y="2503357"/>
            <a:ext cx="4976203" cy="730969"/>
          </a:xfrm>
          <a:prstGeom prst="rect">
            <a:avLst/>
          </a:prstGeom>
        </p:spPr>
        <p:txBody>
          <a:bodyPr wrap="square" lIns="0" tIns="0" rIns="0" bIns="0" rtlCol="0" anchor="t">
            <a:spAutoFit/>
          </a:bodyPr>
          <a:lstStyle/>
          <a:p>
            <a:pPr>
              <a:lnSpc>
                <a:spcPts val="5699"/>
              </a:lnSpc>
              <a:spcBef>
                <a:spcPct val="0"/>
              </a:spcBef>
            </a:pPr>
            <a:r>
              <a:rPr lang="en-US" sz="4400" b="1" spc="206" dirty="0">
                <a:solidFill>
                  <a:srgbClr val="F35000"/>
                </a:solidFill>
                <a:latin typeface="Arial" panose="020B0604020202020204" pitchFamily="34" charset="0"/>
                <a:cs typeface="Arial" panose="020B0604020202020204" pitchFamily="34" charset="0"/>
              </a:rPr>
              <a:t>Advantages</a:t>
            </a:r>
            <a:r>
              <a:rPr lang="en-US" sz="5030" b="1" spc="206" dirty="0">
                <a:solidFill>
                  <a:srgbClr val="F35000"/>
                </a:solidFill>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2186C78E-3462-2132-AF76-20BA2EAF85F2}"/>
              </a:ext>
            </a:extLst>
          </p:cNvPr>
          <p:cNvSpPr txBox="1"/>
          <p:nvPr/>
        </p:nvSpPr>
        <p:spPr>
          <a:xfrm>
            <a:off x="6934200" y="3257720"/>
            <a:ext cx="10263797" cy="6305380"/>
          </a:xfrm>
          <a:prstGeom prst="rect">
            <a:avLst/>
          </a:prstGeom>
        </p:spPr>
        <p:txBody>
          <a:bodyPr wrap="square" lIns="0" tIns="0" rIns="0" bIns="0" rtlCol="0" anchor="t">
            <a:spAutoFit/>
          </a:bodyPr>
          <a:lstStyle/>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Expansion Packs: Introduce additional cities, goods, and challenges.</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International Edition: Adapt the game to showcase goods and trading history of other countries.</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Digital Version: Develop a mobile or online version for wider accessibility.</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Collaborations: Partner with tourism boards, cultural organizations, or educational institutions.</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Educational Integration: Incorporate the game into curricula and educational programs.</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Localization: Translate the game into different languages for international markets.</a:t>
            </a:r>
          </a:p>
          <a:p>
            <a:pPr marL="541910" lvl="1" indent="-270955" algn="just">
              <a:lnSpc>
                <a:spcPct val="150000"/>
              </a:lnSpc>
              <a:buFont typeface="Arial"/>
              <a:buChar char="•"/>
            </a:pPr>
            <a:r>
              <a:rPr lang="en-US" sz="2300" spc="25" dirty="0">
                <a:solidFill>
                  <a:srgbClr val="231F20"/>
                </a:solidFill>
                <a:latin typeface="Arial" panose="020B0604020202020204" pitchFamily="34" charset="0"/>
                <a:cs typeface="Arial" panose="020B0604020202020204" pitchFamily="34" charset="0"/>
              </a:rPr>
              <a:t>Community Engagement: Build an active community for feedback and support.</a:t>
            </a:r>
          </a:p>
        </p:txBody>
      </p:sp>
      <p:sp>
        <p:nvSpPr>
          <p:cNvPr id="8" name="TextBox 7">
            <a:extLst>
              <a:ext uri="{FF2B5EF4-FFF2-40B4-BE49-F238E27FC236}">
                <a16:creationId xmlns:a16="http://schemas.microsoft.com/office/drawing/2014/main" id="{BF03FBCB-1F1B-CC3D-6722-DA56D52F528A}"/>
              </a:ext>
            </a:extLst>
          </p:cNvPr>
          <p:cNvSpPr txBox="1"/>
          <p:nvPr/>
        </p:nvSpPr>
        <p:spPr>
          <a:xfrm>
            <a:off x="6987197" y="2123583"/>
            <a:ext cx="7901703" cy="809324"/>
          </a:xfrm>
          <a:prstGeom prst="rect">
            <a:avLst/>
          </a:prstGeom>
        </p:spPr>
        <p:txBody>
          <a:bodyPr lIns="0" tIns="0" rIns="0" bIns="0" rtlCol="0" anchor="t">
            <a:spAutoFit/>
          </a:bodyPr>
          <a:lstStyle/>
          <a:p>
            <a:pPr>
              <a:lnSpc>
                <a:spcPts val="6941"/>
              </a:lnSpc>
              <a:spcBef>
                <a:spcPct val="0"/>
              </a:spcBef>
            </a:pPr>
            <a:r>
              <a:rPr lang="en-US" sz="4400" b="1" spc="251" dirty="0">
                <a:solidFill>
                  <a:srgbClr val="F35000"/>
                </a:solidFill>
                <a:latin typeface="Arial" panose="020B0604020202020204" pitchFamily="34" charset="0"/>
                <a:cs typeface="Arial" panose="020B0604020202020204" pitchFamily="34" charset="0"/>
              </a:rPr>
              <a:t>Future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234880"/>
            <a:ext cx="6132760" cy="6132760"/>
          </a:xfrm>
          <a:custGeom>
            <a:avLst/>
            <a:gdLst/>
            <a:ahLst/>
            <a:cxnLst/>
            <a:rect l="l" t="t" r="r" b="b"/>
            <a:pathLst>
              <a:path w="6132760" h="6132760">
                <a:moveTo>
                  <a:pt x="0" y="0"/>
                </a:moveTo>
                <a:lnTo>
                  <a:pt x="6132760" y="0"/>
                </a:lnTo>
                <a:lnTo>
                  <a:pt x="6132760" y="6132760"/>
                </a:lnTo>
                <a:lnTo>
                  <a:pt x="0" y="61327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27072" y="-871408"/>
            <a:ext cx="3471959" cy="1900108"/>
          </a:xfrm>
          <a:custGeom>
            <a:avLst/>
            <a:gdLst/>
            <a:ahLst/>
            <a:cxnLst/>
            <a:rect l="l" t="t" r="r" b="b"/>
            <a:pathLst>
              <a:path w="3471959" h="1900108">
                <a:moveTo>
                  <a:pt x="0" y="0"/>
                </a:moveTo>
                <a:lnTo>
                  <a:pt x="3471959" y="0"/>
                </a:lnTo>
                <a:lnTo>
                  <a:pt x="3471959" y="1900108"/>
                </a:lnTo>
                <a:lnTo>
                  <a:pt x="0" y="1900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685800" y="3390900"/>
            <a:ext cx="16687800" cy="5480924"/>
          </a:xfrm>
          <a:prstGeom prst="rect">
            <a:avLst/>
          </a:prstGeom>
        </p:spPr>
        <p:txBody>
          <a:bodyPr wrap="square" lIns="0" tIns="0" rIns="0" bIns="0" rtlCol="0" anchor="t">
            <a:spAutoFit/>
          </a:bodyPr>
          <a:lstStyle/>
          <a:p>
            <a:pPr marL="541910" lvl="1" indent="-270955" algn="just">
              <a:lnSpc>
                <a:spcPct val="150000"/>
              </a:lnSpc>
              <a:buFont typeface="Arial"/>
              <a:buChar char="•"/>
            </a:pPr>
            <a:r>
              <a:rPr lang="en-US" sz="2400" spc="25" dirty="0">
                <a:solidFill>
                  <a:srgbClr val="231F20"/>
                </a:solidFill>
                <a:latin typeface="Arial" panose="020B0604020202020204" pitchFamily="34" charset="0"/>
                <a:cs typeface="Arial" panose="020B0604020202020204" pitchFamily="34" charset="0"/>
              </a:rPr>
              <a:t>"Treasures of India: A Trading Expedition" is an innovative and educational board game that offers a unique blend of entertainment, cultural immersion, and strategic trading gameplay. </a:t>
            </a:r>
          </a:p>
          <a:p>
            <a:pPr marL="541910" lvl="1" indent="-270955" algn="just">
              <a:lnSpc>
                <a:spcPct val="150000"/>
              </a:lnSpc>
              <a:buFont typeface="Arial"/>
              <a:buChar char="•"/>
            </a:pPr>
            <a:r>
              <a:rPr lang="en-US" sz="2400" spc="25" dirty="0">
                <a:solidFill>
                  <a:srgbClr val="231F20"/>
                </a:solidFill>
                <a:latin typeface="Arial" panose="020B0604020202020204" pitchFamily="34" charset="0"/>
                <a:cs typeface="Arial" panose="020B0604020202020204" pitchFamily="34" charset="0"/>
              </a:rPr>
              <a:t>With its focus on Indian culture, diverse goods, and realistic trading mechanics, the game provides an engaging and immersive experience for players. </a:t>
            </a:r>
          </a:p>
          <a:p>
            <a:pPr marL="541910" lvl="1" indent="-270955" algn="just">
              <a:lnSpc>
                <a:spcPct val="150000"/>
              </a:lnSpc>
              <a:buFont typeface="Arial"/>
              <a:buChar char="•"/>
            </a:pPr>
            <a:r>
              <a:rPr lang="en-US" sz="2400" spc="25" dirty="0">
                <a:solidFill>
                  <a:srgbClr val="231F20"/>
                </a:solidFill>
                <a:latin typeface="Arial" panose="020B0604020202020204" pitchFamily="34" charset="0"/>
                <a:cs typeface="Arial" panose="020B0604020202020204" pitchFamily="34" charset="0"/>
              </a:rPr>
              <a:t>It stands out in the market by offering educational value, </a:t>
            </a:r>
            <a:r>
              <a:rPr lang="en-US" sz="2400" spc="25" dirty="0" err="1">
                <a:solidFill>
                  <a:srgbClr val="231F20"/>
                </a:solidFill>
                <a:latin typeface="Arial" panose="020B0604020202020204" pitchFamily="34" charset="0"/>
                <a:cs typeface="Arial" panose="020B0604020202020204" pitchFamily="34" charset="0"/>
              </a:rPr>
              <a:t>replayability</a:t>
            </a:r>
            <a:r>
              <a:rPr lang="en-US" sz="2400" spc="25" dirty="0">
                <a:solidFill>
                  <a:srgbClr val="231F20"/>
                </a:solidFill>
                <a:latin typeface="Arial" panose="020B0604020202020204" pitchFamily="34" charset="0"/>
                <a:cs typeface="Arial" panose="020B0604020202020204" pitchFamily="34" charset="0"/>
              </a:rPr>
              <a:t>, skill development, and the opportunity for cross-cultural exchange. </a:t>
            </a:r>
          </a:p>
          <a:p>
            <a:pPr marL="541910" lvl="1" indent="-270955" algn="just">
              <a:lnSpc>
                <a:spcPct val="150000"/>
              </a:lnSpc>
              <a:buFont typeface="Arial"/>
              <a:buChar char="•"/>
            </a:pPr>
            <a:r>
              <a:rPr lang="en-US" sz="2400" spc="25" dirty="0">
                <a:solidFill>
                  <a:srgbClr val="231F20"/>
                </a:solidFill>
                <a:latin typeface="Arial" panose="020B0604020202020204" pitchFamily="34" charset="0"/>
                <a:cs typeface="Arial" panose="020B0604020202020204" pitchFamily="34" charset="0"/>
              </a:rPr>
              <a:t>With its potential to target board game enthusiasts, educational institutions, tourists, online platforms, and cultural events, the game has significant market potential.</a:t>
            </a:r>
          </a:p>
          <a:p>
            <a:pPr marL="541910" lvl="1" indent="-270955" algn="just">
              <a:lnSpc>
                <a:spcPct val="150000"/>
              </a:lnSpc>
              <a:buFont typeface="Arial"/>
              <a:buChar char="•"/>
            </a:pPr>
            <a:r>
              <a:rPr lang="en-US" sz="2400" spc="25" dirty="0">
                <a:solidFill>
                  <a:srgbClr val="231F20"/>
                </a:solidFill>
                <a:latin typeface="Arial" panose="020B0604020202020204" pitchFamily="34" charset="0"/>
                <a:cs typeface="Arial" panose="020B0604020202020204" pitchFamily="34" charset="0"/>
              </a:rPr>
              <a:t> "Treasures of India" is poised to captivate players, foster learning, and leave a lasting impression as a standout game in the board game industry.</a:t>
            </a:r>
          </a:p>
        </p:txBody>
      </p:sp>
      <p:sp>
        <p:nvSpPr>
          <p:cNvPr id="5" name="TextBox 5"/>
          <p:cNvSpPr txBox="1"/>
          <p:nvPr/>
        </p:nvSpPr>
        <p:spPr>
          <a:xfrm>
            <a:off x="1028700" y="2332722"/>
            <a:ext cx="7901703" cy="856565"/>
          </a:xfrm>
          <a:prstGeom prst="rect">
            <a:avLst/>
          </a:prstGeom>
        </p:spPr>
        <p:txBody>
          <a:bodyPr lIns="0" tIns="0" rIns="0" bIns="0" rtlCol="0" anchor="t">
            <a:spAutoFit/>
          </a:bodyPr>
          <a:lstStyle/>
          <a:p>
            <a:pPr>
              <a:lnSpc>
                <a:spcPts val="6941"/>
              </a:lnSpc>
              <a:spcBef>
                <a:spcPct val="0"/>
              </a:spcBef>
            </a:pPr>
            <a:r>
              <a:rPr lang="en-US" sz="5029" b="1" spc="251" dirty="0">
                <a:solidFill>
                  <a:srgbClr val="F35000"/>
                </a:solidFill>
                <a:latin typeface="Arial" panose="020B0604020202020204" pitchFamily="34" charset="0"/>
                <a:cs typeface="Arial" panose="020B0604020202020204" pitchFamily="34" charset="0"/>
              </a:rPr>
              <a:t>Conclusion</a:t>
            </a:r>
            <a:r>
              <a:rPr lang="en-US" sz="5029" b="1" spc="251" dirty="0">
                <a:solidFill>
                  <a:srgbClr val="F35000"/>
                </a:solidFill>
                <a:latin typeface="Canva Sans 1 Bold"/>
              </a:rPr>
              <a:t>:</a:t>
            </a:r>
          </a:p>
        </p:txBody>
      </p:sp>
      <p:sp>
        <p:nvSpPr>
          <p:cNvPr id="8" name="Freeform 8"/>
          <p:cNvSpPr/>
          <p:nvPr/>
        </p:nvSpPr>
        <p:spPr>
          <a:xfrm>
            <a:off x="1028700" y="650907"/>
            <a:ext cx="4554971" cy="1093726"/>
          </a:xfrm>
          <a:custGeom>
            <a:avLst/>
            <a:gdLst/>
            <a:ahLst/>
            <a:cxnLst/>
            <a:rect l="l" t="t" r="r" b="b"/>
            <a:pathLst>
              <a:path w="4554971" h="1093726">
                <a:moveTo>
                  <a:pt x="0" y="0"/>
                </a:moveTo>
                <a:lnTo>
                  <a:pt x="4554971" y="0"/>
                </a:lnTo>
                <a:lnTo>
                  <a:pt x="4554971" y="1093727"/>
                </a:lnTo>
                <a:lnTo>
                  <a:pt x="0" y="1093727"/>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589</TotalTime>
  <Words>1249</Words>
  <Application>Microsoft Office PowerPoint</Application>
  <PresentationFormat>Custom</PresentationFormat>
  <Paragraphs>136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Arial</vt:lpstr>
      <vt:lpstr>Canva Sans 1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Cloud-Based  AI-Powered Job Recruitment for Organizations</dc:title>
  <dc:creator>saurav lucifer</dc:creator>
  <cp:lastModifiedBy>saurav lucifer</cp:lastModifiedBy>
  <cp:revision>5</cp:revision>
  <dcterms:created xsi:type="dcterms:W3CDTF">2006-08-16T00:00:00Z</dcterms:created>
  <dcterms:modified xsi:type="dcterms:W3CDTF">2023-07-10T14:50:18Z</dcterms:modified>
  <dc:identifier>DAFoIqe14IQ</dc:identifier>
</cp:coreProperties>
</file>